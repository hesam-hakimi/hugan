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34dff35cf348bf" /><Relationship Type="http://schemas.openxmlformats.org/officeDocument/2006/relationships/extended-properties" Target="/docProps/app.xml" Id="R3c092753e426410d" /><Relationship Type="http://schemas.openxmlformats.org/officeDocument/2006/relationships/officeDocument" Target="/ppt/presentation.xml" Id="Rc95999eae53e4c9a" /></Relationships>
</file>

<file path=ppt/presentation.xml><?xml version="1.0" encoding="utf-8"?>
<p:presentation xmlns:p="http://schemas.openxmlformats.org/presentationml/2006/main">
  <p:sldMasterIdLst>
    <p:sldMasterId xmlns:r="http://schemas.openxmlformats.org/officeDocument/2006/relationships" id="2147483648" r:id="R59d4a6b4115b4f95"/>
  </p:sldMasterIdLst>
  <p:notesMasterIdLst>
    <p:notesMasterId xmlns:r="http://schemas.openxmlformats.org/officeDocument/2006/relationships" r:id="R6ca560daf42f4a14"/>
  </p:notesMasterIdLst>
  <p:sldIdLst>
    <p:sldId xmlns:r="http://schemas.openxmlformats.org/officeDocument/2006/relationships" id="256" r:id="R046c0570793f4d84"/>
    <p:sldId xmlns:r="http://schemas.openxmlformats.org/officeDocument/2006/relationships" id="257" r:id="R0c808e9f26414c5b"/>
    <p:sldId xmlns:r="http://schemas.openxmlformats.org/officeDocument/2006/relationships" id="258" r:id="Rcd7f66d0cbda4dbc"/>
    <p:sldId xmlns:r="http://schemas.openxmlformats.org/officeDocument/2006/relationships" id="259" r:id="R2af12275fe4c40ab"/>
    <p:sldId xmlns:r="http://schemas.openxmlformats.org/officeDocument/2006/relationships" id="260" r:id="Rfb4cbb58c2df464e"/>
    <p:sldId xmlns:r="http://schemas.openxmlformats.org/officeDocument/2006/relationships" id="261" r:id="Rf0786e0582184b51"/>
    <p:sldId xmlns:r="http://schemas.openxmlformats.org/officeDocument/2006/relationships" id="262" r:id="R04fad991c3fc45b3"/>
    <p:sldId xmlns:r="http://schemas.openxmlformats.org/officeDocument/2006/relationships" id="263" r:id="R0f1adeacf5f046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82d26766ab47c9" /><Relationship Type="http://schemas.openxmlformats.org/officeDocument/2006/relationships/slideMaster" Target="/ppt/slideMasters/slideMaster1.xml" Id="R59d4a6b4115b4f95" /><Relationship Type="http://schemas.openxmlformats.org/officeDocument/2006/relationships/notesMaster" Target="/ppt/notesMasters/notesMaster1.xml" Id="R6ca560daf42f4a14" /><Relationship Type="http://schemas.openxmlformats.org/officeDocument/2006/relationships/presProps" Target="/ppt/presProps.xml" Id="R1b270d27bbe94f05" /><Relationship Type="http://schemas.openxmlformats.org/officeDocument/2006/relationships/tableStyles" Target="/ppt/tableStyles.xml" Id="R2365efcd76424b1a" /><Relationship Type="http://schemas.openxmlformats.org/officeDocument/2006/relationships/slide" Target="/ppt/slides/slide1.xml" Id="R046c0570793f4d84" /><Relationship Type="http://schemas.openxmlformats.org/officeDocument/2006/relationships/slide" Target="/ppt/slides/slide2.xml" Id="R0c808e9f26414c5b" /><Relationship Type="http://schemas.openxmlformats.org/officeDocument/2006/relationships/slide" Target="/ppt/slides/slide3.xml" Id="Rcd7f66d0cbda4dbc" /><Relationship Type="http://schemas.openxmlformats.org/officeDocument/2006/relationships/slide" Target="/ppt/slides/slide4.xml" Id="R2af12275fe4c40ab" /><Relationship Type="http://schemas.openxmlformats.org/officeDocument/2006/relationships/slide" Target="/ppt/slides/slide5.xml" Id="Rfb4cbb58c2df464e" /><Relationship Type="http://schemas.openxmlformats.org/officeDocument/2006/relationships/slide" Target="/ppt/slides/slide6.xml" Id="Rf0786e0582184b51" /><Relationship Type="http://schemas.openxmlformats.org/officeDocument/2006/relationships/slide" Target="/ppt/slides/slide7.xml" Id="R04fad991c3fc45b3" /><Relationship Type="http://schemas.openxmlformats.org/officeDocument/2006/relationships/slide" Target="/ppt/slides/slide8.xml" Id="R0f1adeacf5f046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40e03b4d5e4e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b6c8ce77824fa9" /><Relationship Type="http://schemas.openxmlformats.org/officeDocument/2006/relationships/notesMaster" Target="/ppt/notesMasters/notesMaster1.xml" Id="R2b7a3ecb7db74d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359682095b4ef7" /><Relationship Type="http://schemas.openxmlformats.org/officeDocument/2006/relationships/notesMaster" Target="/ppt/notesMasters/notesMaster1.xml" Id="R714e15c7f22344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957e72801143d7" /><Relationship Type="http://schemas.openxmlformats.org/officeDocument/2006/relationships/notesMaster" Target="/ppt/notesMasters/notesMaster1.xml" Id="Rc0fbce3e650240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12632ecd0f44c7" /><Relationship Type="http://schemas.openxmlformats.org/officeDocument/2006/relationships/notesMaster" Target="/ppt/notesMasters/notesMaster1.xml" Id="R7d06add2a52648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d4b03d13254614" /><Relationship Type="http://schemas.openxmlformats.org/officeDocument/2006/relationships/notesMaster" Target="/ppt/notesMasters/notesMaster1.xml" Id="R08af10a7b63b4c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435d156ae64bd6" /><Relationship Type="http://schemas.openxmlformats.org/officeDocument/2006/relationships/notesMaster" Target="/ppt/notesMasters/notesMaster1.xml" Id="R653d37df43584a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fe2dea66c84a72" /><Relationship Type="http://schemas.openxmlformats.org/officeDocument/2006/relationships/notesMaster" Target="/ppt/notesMasters/notesMaster1.xml" Id="R77e6869a377542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12b99158554050" /><Relationship Type="http://schemas.openxmlformats.org/officeDocument/2006/relationships/notesMaster" Target="/ppt/notesMasters/notesMaster1.xml" Id="R73fc38064f3e47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TALK TRACK</a:t>
            </a:r>
          </a:p>
          <a:p xmlns:a="http://schemas.openxmlformats.org/drawingml/2006/main">
            <a:r>
              <a:t/>
            </a:r>
          </a:p>
          <a:p xmlns:a="http://schemas.openxmlformats.org/drawingml/2006/main">
            <a:r>
              <a:t>Thank you for joining. The purpose of this session is to validate the architecture between AskAlpha and Unity Catalog before we lock the MVP deployment design.</a:t>
            </a:r>
          </a:p>
          <a:p xmlns:a="http://schemas.openxmlformats.org/drawingml/2006/main">
            <a:r>
              <a:t/>
            </a:r>
          </a:p>
          <a:p xmlns:a="http://schemas.openxmlformats.org/drawingml/2006/main">
            <a:r>
              <a:t>AskAlpha is an employee-facing conversational analytics solution. A user asks a business question, the application plans and validates a read-only query, and the governed data platform returns only the data that user is allowed to see.</a:t>
            </a:r>
          </a:p>
          <a:p xmlns:a="http://schemas.openxmlformats.org/drawingml/2006/main">
            <a:r>
              <a:t/>
            </a:r>
          </a:p>
          <a:p xmlns:a="http://schemas.openxmlformats.org/drawingml/2006/main">
            <a:r>
              <a:t>Today we need clarity in three connected areas. First, whether the existing curated Delta data can be queried in place without creating another full copy. Second, which Databricks compute endpoint is appropriate for an interactive application where users expect a response in seconds rather than waiting for a batch cluster to start. Third, how the original employee authorization context reaches Unity Catalog when the application itself connects using a service identity.</a:t>
            </a:r>
          </a:p>
          <a:p xmlns:a="http://schemas.openxmlformats.org/drawingml/2006/main">
            <a:r>
              <a:t/>
            </a:r>
          </a:p>
          <a:p xmlns:a="http://schemas.openxmlformats.org/drawingml/2006/main">
            <a:r>
              <a:t>We are not asking the team to approve a design shown as final. We want to confirm our understanding, identify the established TD pattern, and leave with owners and concrete next steps.</a:t>
            </a:r>
          </a:p>
          <a:p xmlns:a="http://schemas.openxmlformats.org/drawingml/2006/main">
            <a:r>
              <a:t/>
            </a:r>
          </a:p>
          <a:p xmlns:a="http://schemas.openxmlformats.org/drawingml/2006/main">
            <a:r>
              <a:t>[Sources]</a:t>
            </a:r>
          </a:p>
          <a:p xmlns:a="http://schemas.openxmlformats.org/drawingml/2006/main">
            <a:r>
              <a:t>- Architect 2 meeting transcript supplied by Hesam, 13 August 2026.</a:t>
            </a:r>
          </a:p>
          <a:p xmlns:a="http://schemas.openxmlformats.org/drawingml/2006/main">
            <a:r>
              <a:t>- AskAlpha working context supplied by Hesam.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TALK TRACK</a:t>
            </a:r>
          </a:p>
          <a:p xmlns:a="http://schemas.openxmlformats.org/drawingml/2006/main">
            <a:r>
              <a:t/>
            </a:r>
          </a:p>
          <a:p xmlns:a="http://schemas.openxmlformats.org/drawingml/2006/main">
            <a:r>
              <a:t>Let me first separate what is already proven from what we are asking you to help design.</a:t>
            </a:r>
          </a:p>
          <a:p xmlns:a="http://schemas.openxmlformats.org/drawingml/2006/main">
            <a:r>
              <a:t/>
            </a:r>
          </a:p>
          <a:p xmlns:a="http://schemas.openxmlformats.org/drawingml/2006/main">
            <a:r>
              <a:t>In the current POC, the employee signs in through Entra ID. AskAlpha receives the user token and application-group claims. We use those claims inside the application to determine which entities or tables the user can request. The POC then generates a bounded, read-only query and uses the current Azure SQL or Synapse-backed path. This proves the functional answer loop, but it does not prove the target Rahona integration.</a:t>
            </a:r>
          </a:p>
          <a:p xmlns:a="http://schemas.openxmlformats.org/drawingml/2006/main">
            <a:r>
              <a:t/>
            </a:r>
          </a:p>
          <a:p xmlns:a="http://schemas.openxmlformats.org/drawingml/2006/main">
            <a:r>
              <a:t>The target flow we want to validate is AskAlpha calling a supported Databricks SQL endpoint, with Unity Catalog enforcing governance over curated Delta data in ADLS. The diagram intentionally labels the Databricks SQL endpoint as “to confirm” because we do not yet know whether the approved serving endpoint is a SQL warehouse, a job cluster, an all-purpose compute resource, or another platform service.</a:t>
            </a:r>
          </a:p>
          <a:p xmlns:a="http://schemas.openxmlformats.org/drawingml/2006/main">
            <a:r>
              <a:t/>
            </a:r>
          </a:p>
          <a:p xmlns:a="http://schemas.openxmlformats.org/drawingml/2006/main">
            <a:r>
              <a:t>We also need to know which identity submits the SQL, what network and firewall approvals are needed, and what latency and concurrency service level the platform can support.</a:t>
            </a:r>
          </a:p>
          <a:p xmlns:a="http://schemas.openxmlformats.org/drawingml/2006/main">
            <a:r>
              <a:t/>
            </a:r>
          </a:p>
          <a:p xmlns:a="http://schemas.openxmlformats.org/drawingml/2006/main">
            <a:r>
              <a:t>[Sources]</a:t>
            </a:r>
          </a:p>
          <a:p xmlns:a="http://schemas.openxmlformats.org/drawingml/2006/main">
            <a:r>
              <a:t>- Architect 2 meeting transcript supplied by Hesam, 13 August 2026.</a:t>
            </a:r>
          </a:p>
          <a:p xmlns:a="http://schemas.openxmlformats.org/drawingml/2006/main">
            <a:r>
              <a:t>- AskAlpha POC working context supplied by Hesam.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TALK TRACK</a:t>
            </a:r>
          </a:p>
          <a:p xmlns:a="http://schemas.openxmlformats.org/drawingml/2006/main">
            <a:r>
              <a:t/>
            </a:r>
          </a:p>
          <a:p xmlns:a="http://schemas.openxmlformats.org/drawingml/2006/main">
            <a:r>
              <a:t>This is the most important distinction we want to confirm with you.</a:t>
            </a:r>
          </a:p>
          <a:p xmlns:a="http://schemas.openxmlformats.org/drawingml/2006/main">
            <a:r>
              <a:t/>
            </a:r>
          </a:p>
          <a:p xmlns:a="http://schemas.openxmlformats.org/drawingml/2006/main">
            <a:r>
              <a:t>Our understanding is that Unity Catalog can use a storage credential backed by a service principal or managed identity to reach the ADLS location where the Delta files live. That identity is part of the storage plane. Its purpose is to authorize access to the cloud-storage path behind an external location or external table.</a:t>
            </a:r>
          </a:p>
          <a:p xmlns:a="http://schemas.openxmlformats.org/drawingml/2006/main">
            <a:r>
              <a:t/>
            </a:r>
          </a:p>
          <a:p xmlns:a="http://schemas.openxmlformats.org/drawingml/2006/main">
            <a:r>
              <a:t>The query plane is different. User A and User B sign in to AskAlpha with different business permissions. If AskAlpha submits both SQL requests using one shared application principal, Unity Catalog will see the same query principal unless there is an approved mechanism to preserve the original employee context.</a:t>
            </a:r>
          </a:p>
          <a:p xmlns:a="http://schemas.openxmlformats.org/drawingml/2006/main">
            <a:r>
              <a:t/>
            </a:r>
          </a:p>
          <a:p xmlns:a="http://schemas.openxmlformats.org/drawingml/2006/main">
            <a:r>
              <a:t>So our question is not whether the service principal can read ADLS. We understand that it can, subject to the storage credential and external-location configuration. Our question is: whose identity is evaluated for SELECT privileges, row filters, column masks and secure views when AskAlpha submits the query?</a:t>
            </a:r>
          </a:p>
          <a:p xmlns:a="http://schemas.openxmlformats.org/drawingml/2006/main">
            <a:r>
              <a:t/>
            </a:r>
          </a:p>
          <a:p xmlns:a="http://schemas.openxmlformats.org/drawingml/2006/main">
            <a:r>
              <a:t>We need the TD-approved contract for passing or mapping the employee’s effective scope. We cannot rely only on application-side entity checks, because those can drift from the actual Unity Catalog policies.</a:t>
            </a:r>
          </a:p>
          <a:p xmlns:a="http://schemas.openxmlformats.org/drawingml/2006/main">
            <a:r>
              <a:t/>
            </a:r>
          </a:p>
          <a:p xmlns:a="http://schemas.openxmlformats.org/drawingml/2006/main">
            <a:r>
              <a:t>[Sources]</a:t>
            </a:r>
          </a:p>
          <a:p xmlns:a="http://schemas.openxmlformats.org/drawingml/2006/main">
            <a:r>
              <a:t>- Microsoft Learn — Credentials: https://learn.microsoft.com/en-us/azure/databricks/sql/language-manual/sql-ref-storage-credentials</a:t>
            </a:r>
          </a:p>
          <a:p xmlns:a="http://schemas.openxmlformats.org/drawingml/2006/main">
            <a:r>
              <a:t>- Microsoft Learn — Row filters and column masks: https://learn.microsoft.com/en-us/azure/databricks/data-governance/unity-catalog/filters-and-masks/</a:t>
            </a:r>
          </a:p>
          <a:p xmlns:a="http://schemas.openxmlformats.org/drawingml/2006/main">
            <a:r>
              <a:t>- Architect 2 meeting transcript supplied by Hesam, 13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TALK TRACK</a:t>
            </a:r>
          </a:p>
          <a:p xmlns:a="http://schemas.openxmlformats.org/drawingml/2006/main">
            <a:r>
              <a:t/>
            </a:r>
          </a:p>
          <a:p xmlns:a="http://schemas.openxmlformats.org/drawingml/2006/main">
            <a:r>
              <a:t>The second major concern is compute readiness and response time.</a:t>
            </a:r>
          </a:p>
          <a:p xmlns:a="http://schemas.openxmlformats.org/drawingml/2006/main">
            <a:r>
              <a:t/>
            </a:r>
          </a:p>
          <a:p xmlns:a="http://schemas.openxmlformats.org/drawingml/2006/main">
            <a:r>
              <a:t>Our current understanding is that the available Unity Catalog compute may be a job cluster or an ad-hoc all-purpose cluster. We need you to confirm that. If the query path depends on job compute, the compute lifecycle starts with the task. For a synchronous conversational request, that startup delay becomes part of the user response time. That may be acceptable for batch processing, but it is a risk for an employee who expects an answer in seconds.</a:t>
            </a:r>
          </a:p>
          <a:p xmlns:a="http://schemas.openxmlformats.org/drawingml/2006/main">
            <a:r>
              <a:t/>
            </a:r>
          </a:p>
          <a:p xmlns:a="http://schemas.openxmlformats.org/drawingml/2006/main">
            <a:r>
              <a:t>All-purpose compute is appropriate for interactive exploration and development, but it introduces another set of questions: whether it remains warm, whether users compete for the same resources, and how idle cost is managed.</a:t>
            </a:r>
          </a:p>
          <a:p xmlns:a="http://schemas.openxmlformats.org/drawingml/2006/main">
            <a:r>
              <a:t/>
            </a:r>
          </a:p>
          <a:p xmlns:a="http://schemas.openxmlformats.org/drawingml/2006/main">
            <a:r>
              <a:t>Official Azure Databricks guidance describes SQL warehouses as the compute optimized for SQL queries, analytics and business intelligence. It states that serverless SQL warehouses typically start in two to six seconds, while Pro and Classic warehouses typically take approximately four minutes to start from stopped state. This does not mean serverless is automatically available or approved in TD. Region, Premium-tier, network, firewall and enterprise controls must be confirmed.</a:t>
            </a:r>
          </a:p>
          <a:p xmlns:a="http://schemas.openxmlformats.org/drawingml/2006/main">
            <a:r>
              <a:t/>
            </a:r>
          </a:p>
          <a:p xmlns:a="http://schemas.openxmlformats.org/drawingml/2006/main">
            <a:r>
              <a:t>Our proposed question is therefore specific: should AskAlpha use a dedicated Serverless SQL Warehouse for the interactive query path? If not, what is the supported alternative, and how should we meet the response-time SLA after auto-stop? We also need recommended sizing, auto-stop, concurrency, queueing and cost controls.</a:t>
            </a:r>
          </a:p>
          <a:p xmlns:a="http://schemas.openxmlformats.org/drawingml/2006/main">
            <a:r>
              <a:t/>
            </a:r>
          </a:p>
          <a:p xmlns:a="http://schemas.openxmlformats.org/drawingml/2006/main">
            <a:r>
              <a:t>[Sources]</a:t>
            </a:r>
          </a:p>
          <a:p xmlns:a="http://schemas.openxmlformats.org/drawingml/2006/main">
            <a:r>
              <a:t>- Microsoft Learn — SQL warehouse types: https://learn.microsoft.com/en-us/azure/databricks/compute/sql-warehouse/warehouse-types</a:t>
            </a:r>
          </a:p>
          <a:p xmlns:a="http://schemas.openxmlformats.org/drawingml/2006/main">
            <a:r>
              <a:t>- Microsoft Learn — Configure compute for jobs: https://learn.microsoft.com/en-us/azure/databricks/jobs/compute</a:t>
            </a:r>
          </a:p>
          <a:p xmlns:a="http://schemas.openxmlformats.org/drawingml/2006/main">
            <a:r>
              <a:t>- Microsoft Learn — Standard compute overview: https://learn.microsoft.com/en-us/azure/databricks/compute/standard-overview</a:t>
            </a:r>
          </a:p>
          <a:p xmlns:a="http://schemas.openxmlformats.org/drawingml/2006/main">
            <a:r>
              <a:t>- Microsoft Learn — Create a SQL warehouse: https://learn.microsoft.com/en-us/azure/databricks/compute/sql-warehouse/create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TALK TRACK</a:t>
            </a:r>
          </a:p>
          <a:p xmlns:a="http://schemas.openxmlformats.org/drawingml/2006/main">
            <a:r>
              <a:t/>
            </a:r>
          </a:p>
          <a:p xmlns:a="http://schemas.openxmlformats.org/drawingml/2006/main">
            <a:r>
              <a:t>Today, a common workaround is to copy the entire dataset into the Azure or analytics environment where the application team is developing. That can make the data local to the chosen compute, but it is not a free solution. It creates a second physical data product with its own transfer cost, storage cost, refresh schedule, freshness lag, masking rules, retention rules, support ownership and failure modes.</a:t>
            </a:r>
          </a:p>
          <a:p xmlns:a="http://schemas.openxmlformats.org/drawingml/2006/main">
            <a:r>
              <a:t/>
            </a:r>
          </a:p>
          <a:p xmlns:a="http://schemas.openxmlformats.org/drawingml/2006/main">
            <a:r>
              <a:t>The alternative we want to validate is not a vague “zero-copy” promise. Official Unity Catalog documentation says an external table can keep its data files in cloud object storage while Unity Catalog manages the table metadata and governance for Databricks queries. In other words, existing Delta files can potentially be registered through an external location and queried in place without first making another full copy solely for Databricks access.</a:t>
            </a:r>
          </a:p>
          <a:p xmlns:a="http://schemas.openxmlformats.org/drawingml/2006/main">
            <a:r>
              <a:t/>
            </a:r>
          </a:p>
          <a:p xmlns:a="http://schemas.openxmlformats.org/drawingml/2006/main">
            <a:r>
              <a:t>However, that option has conditions. We need to confirm whether Rahona permits the external-location pattern for this data product, whether the ADLS network path is reachable from the approved compute, how metadata changes are synchronized, whether other systems can modify those files, and how direct path access is prevented so Unity governance is not bypassed.</a:t>
            </a:r>
          </a:p>
          <a:p xmlns:a="http://schemas.openxmlformats.org/drawingml/2006/main">
            <a:r>
              <a:t/>
            </a:r>
          </a:p>
          <a:p xmlns:a="http://schemas.openxmlformats.org/drawingml/2006/main">
            <a:r>
              <a:t>We would like the Unity team to tell us when an in-place external table is the approved pattern and when a physical copy is mandatory. If a copy is mandatory, we need the reason, the owning team, refresh SLA, masking contract, reconciliation approach and cost model.</a:t>
            </a:r>
          </a:p>
          <a:p xmlns:a="http://schemas.openxmlformats.org/drawingml/2006/main">
            <a:r>
              <a:t/>
            </a:r>
          </a:p>
          <a:p xmlns:a="http://schemas.openxmlformats.org/drawingml/2006/main">
            <a:r>
              <a:t>[Sources]</a:t>
            </a:r>
          </a:p>
          <a:p xmlns:a="http://schemas.openxmlformats.org/drawingml/2006/main">
            <a:r>
              <a:t>- Microsoft Learn — Work with external tables: https://learn.microsoft.com/en-us/azure/databricks/tables/external</a:t>
            </a:r>
          </a:p>
          <a:p xmlns:a="http://schemas.openxmlformats.org/drawingml/2006/main">
            <a:r>
              <a:t>- Microsoft Learn — Access Databricks data using external systems: https://learn.microsoft.com/en-us/azure/databricks/external-access/</a:t>
            </a:r>
          </a:p>
          <a:p xmlns:a="http://schemas.openxmlformats.org/drawingml/2006/main">
            <a:r>
              <a:t>- User-provided description of the current copy pattern, 13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TALK TRACK</a:t>
            </a:r>
          </a:p>
          <a:p xmlns:a="http://schemas.openxmlformats.org/drawingml/2006/main">
            <a:r>
              <a:t/>
            </a:r>
          </a:p>
          <a:p xmlns:a="http://schemas.openxmlformats.org/drawingml/2006/main">
            <a:r>
              <a:t>This example makes the authorization gap concrete.</a:t>
            </a:r>
          </a:p>
          <a:p xmlns:a="http://schemas.openxmlformats.org/drawingml/2006/main">
            <a:r>
              <a:t/>
            </a:r>
          </a:p>
          <a:p xmlns:a="http://schemas.openxmlformats.org/drawingml/2006/main">
            <a:r>
              <a:t>User A is allowed to see only Ontario lending data. User B is allowed to see all Canadian lending data. AskAlpha can distinguish them because it receives their Entra tokens and application-group claims. But if both requests are sent to Databricks using the same AskAlpha application identity, Unity Catalog receives the same query principal for both.</a:t>
            </a:r>
          </a:p>
          <a:p xmlns:a="http://schemas.openxmlformats.org/drawingml/2006/main">
            <a:r>
              <a:t/>
            </a:r>
          </a:p>
          <a:p xmlns:a="http://schemas.openxmlformats.org/drawingml/2006/main">
            <a:r>
              <a:t>At that point, Unity Catalog cannot infer that one request came from User A and another came from User B unless we use an approved propagation or mapping mechanism. Application-side checks are useful as an early guard, but they are not sufficient as the only target control. The application’s mapping could become stale when Unity privileges, masks or row filters change.</a:t>
            </a:r>
          </a:p>
          <a:p xmlns:a="http://schemas.openxmlformats.org/drawingml/2006/main">
            <a:r>
              <a:t/>
            </a:r>
          </a:p>
          <a:p xmlns:a="http://schemas.openxmlformats.org/drawingml/2006/main">
            <a:r>
              <a:t>We need the Unity and IAM teams to identify the approved option. It might be an end-user or on-behalf-of identity, a trusted non-forgeable session context, separate application identities by authorization cohort, dynamic views, row filters, column masks, ABAC policies, or another enterprise pattern. We are not selecting one in advance.</a:t>
            </a:r>
          </a:p>
          <a:p xmlns:a="http://schemas.openxmlformats.org/drawingml/2006/main">
            <a:r>
              <a:t/>
            </a:r>
          </a:p>
          <a:p xmlns:a="http://schemas.openxmlformats.org/drawingml/2006/main">
            <a:r>
              <a:t>Whatever pattern is chosen must fail closed when context is missing, prevent generated SQL from bypassing the policy, and produce audit records that identify both the employee and the calling application.</a:t>
            </a:r>
          </a:p>
          <a:p xmlns:a="http://schemas.openxmlformats.org/drawingml/2006/main">
            <a:r>
              <a:t/>
            </a:r>
          </a:p>
          <a:p xmlns:a="http://schemas.openxmlformats.org/drawingml/2006/main">
            <a:r>
              <a:t>[Sources]</a:t>
            </a:r>
          </a:p>
          <a:p xmlns:a="http://schemas.openxmlformats.org/drawingml/2006/main">
            <a:r>
              <a:t>- Microsoft Learn — Row filters and column masks: https://learn.microsoft.com/en-us/azure/databricks/data-governance/unity-catalog/filters-and-masks/</a:t>
            </a:r>
          </a:p>
          <a:p xmlns:a="http://schemas.openxmlformats.org/drawingml/2006/main">
            <a:r>
              <a:t>- Architect 2 meeting transcript supplied by Hesam, 13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TALK TRACK</a:t>
            </a:r>
          </a:p>
          <a:p xmlns:a="http://schemas.openxmlformats.org/drawingml/2006/main">
            <a:r>
              <a:t/>
            </a:r>
          </a:p>
          <a:p xmlns:a="http://schemas.openxmlformats.org/drawingml/2006/main">
            <a:r>
              <a:t>To keep the meeting productive, these are the five decisions we want to capture.</a:t>
            </a:r>
          </a:p>
          <a:p xmlns:a="http://schemas.openxmlformats.org/drawingml/2006/main">
            <a:r>
              <a:t/>
            </a:r>
          </a:p>
          <a:p xmlns:a="http://schemas.openxmlformats.org/drawingml/2006/main">
            <a:r>
              <a:t>First, the serving endpoint: which compute should receive synchronous SQL from AskAlpha, and what startup time, concurrency, queueing and availability can it support?</a:t>
            </a:r>
          </a:p>
          <a:p xmlns:a="http://schemas.openxmlformats.org/drawingml/2006/main">
            <a:r>
              <a:t/>
            </a:r>
          </a:p>
          <a:p xmlns:a="http://schemas.openxmlformats.org/drawingml/2006/main">
            <a:r>
              <a:t>Second, data locality: can we register the existing Rahona Delta tables and query them in place, or does the platform require a physical copy into another environment? If a copy is required, under which conditions and who owns it?</a:t>
            </a:r>
          </a:p>
          <a:p xmlns:a="http://schemas.openxmlformats.org/drawingml/2006/main">
            <a:r>
              <a:t/>
            </a:r>
          </a:p>
          <a:p xmlns:a="http://schemas.openxmlformats.org/drawingml/2006/main">
            <a:r>
              <a:t>Third, query identity: how do we preserve the employee’s effective authorization when the application uses a service identity? We need a concrete token, session, group-mapping or policy contract.</a:t>
            </a:r>
          </a:p>
          <a:p xmlns:a="http://schemas.openxmlformats.org/drawingml/2006/main">
            <a:r>
              <a:t/>
            </a:r>
          </a:p>
          <a:p xmlns:a="http://schemas.openxmlformats.org/drawingml/2006/main">
            <a:r>
              <a:t>Fourth, the governance contract: which layer is authoritative for privileges, secure views, row filters, masks and ABAC policies, and how does AskAlpha discover changes without maintaining an unsynchronized duplicate?</a:t>
            </a:r>
          </a:p>
          <a:p xmlns:a="http://schemas.openxmlformats.org/drawingml/2006/main">
            <a:r>
              <a:t/>
            </a:r>
          </a:p>
          <a:p xmlns:a="http://schemas.openxmlformats.org/drawingml/2006/main">
            <a:r>
              <a:t>Fifth, integration controls: which endpoint and authentication method should we use, what network and firewall path must be approved, where do audit events go, how is cost attributed, and how should metadata refresh be triggered?</a:t>
            </a:r>
          </a:p>
          <a:p xmlns:a="http://schemas.openxmlformats.org/drawingml/2006/main">
            <a:r>
              <a:t/>
            </a:r>
          </a:p>
          <a:p xmlns:a="http://schemas.openxmlformats.org/drawingml/2006/main">
            <a:r>
              <a:t>For each answer, we would appreciate the existing TD reference architecture, required prerequisites, a named owner and an interim approach if the final platform capability is not yet production-ready.</a:t>
            </a:r>
          </a:p>
          <a:p xmlns:a="http://schemas.openxmlformats.org/drawingml/2006/main">
            <a:r>
              <a:t/>
            </a:r>
          </a:p>
          <a:p xmlns:a="http://schemas.openxmlformats.org/drawingml/2006/main">
            <a:r>
              <a:t>[Sources]</a:t>
            </a:r>
          </a:p>
          <a:p xmlns:a="http://schemas.openxmlformats.org/drawingml/2006/main">
            <a:r>
              <a:t>- Architect 2 meeting transcript supplied by Hesam, 13 August 2026.</a:t>
            </a:r>
          </a:p>
          <a:p xmlns:a="http://schemas.openxmlformats.org/drawingml/2006/main">
            <a:r>
              <a:t>- Official Microsoft Learn references listed in prior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TALK TRACK</a:t>
            </a:r>
          </a:p>
          <a:p xmlns:a="http://schemas.openxmlformats.org/drawingml/2006/main">
            <a:r>
              <a:t/>
            </a:r>
          </a:p>
          <a:p xmlns:a="http://schemas.openxmlformats.org/drawingml/2006/main">
            <a:r>
              <a:t>I would like to close by defining what success looks like.</a:t>
            </a:r>
          </a:p>
          <a:p xmlns:a="http://schemas.openxmlformats.org/drawingml/2006/main">
            <a:r>
              <a:t/>
            </a:r>
          </a:p>
          <a:p xmlns:a="http://schemas.openxmlformats.org/drawingml/2006/main">
            <a:r>
              <a:t>We should leave with an approved end-to-end sequence diagram that clearly separates employee authentication, application authentication, Unity authorization and storage access. We need the supported compute endpoint and its service-level assumptions. We need the user-context enforcement contract. We need explicit criteria for querying data in place versus creating a copy. And we need the network, audit, metadata-refresh and cost dependencies with named owners.</a:t>
            </a:r>
          </a:p>
          <a:p xmlns:a="http://schemas.openxmlformats.org/drawingml/2006/main">
            <a:r>
              <a:t/>
            </a:r>
          </a:p>
          <a:p xmlns:a="http://schemas.openxmlformats.org/drawingml/2006/main">
            <a:r>
              <a:t>I propose a short technical validation after this architecture discussion. First, confirm the actual Rahona configuration rather than relying on our current assumptions. Second, select the supported compute candidates—ideally the recommended SQL warehouse and the approved fallback. Third, measure both warm and cold startup and end-to-end query latency. Fourth, execute the User A and User B scenario and prove that Unity returns different governed results through the AskAlpha integration. Fifth, measure concurrency behavior, cost signals and audit evidence.</a:t>
            </a:r>
          </a:p>
          <a:p xmlns:a="http://schemas.openxmlformats.org/drawingml/2006/main">
            <a:r>
              <a:t/>
            </a:r>
          </a:p>
          <a:p xmlns:a="http://schemas.openxmlformats.org/drawingml/2006/main">
            <a:r>
              <a:t>If the team agrees, the final action from this meeting should be to schedule that validation with the Unity Catalog, IAM, network and AskAlpha owners, and to record the result in the architecture decision record.</a:t>
            </a:r>
          </a:p>
          <a:p xmlns:a="http://schemas.openxmlformats.org/drawingml/2006/main">
            <a:r>
              <a:t/>
            </a:r>
          </a:p>
          <a:p xmlns:a="http://schemas.openxmlformats.org/drawingml/2006/main">
            <a:r>
              <a:t>[Sources]</a:t>
            </a:r>
          </a:p>
          <a:p xmlns:a="http://schemas.openxmlformats.org/drawingml/2006/main">
            <a:r>
              <a:t>- Architect 2 meeting transcript supplied by Hesam, 13 August 2026.</a:t>
            </a:r>
          </a:p>
          <a:p xmlns:a="http://schemas.openxmlformats.org/drawingml/2006/main">
            <a:r>
              <a:t>- AskAlpha working context supplied by Hesam.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0763765ec54a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e0431d7d1a429c" /><Relationship Type="http://schemas.openxmlformats.org/officeDocument/2006/relationships/slideLayout" Target="/ppt/slideLayouts/slideLayout1.xml" Id="R11ae5c181a0344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ae5c181a0344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62ef861afdb43d5" /><Relationship Type="http://schemas.openxmlformats.org/officeDocument/2006/relationships/notesSlide" Target="/ppt/notesSlides/notesSlide1.xml" Id="R5ed3349da0154f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49441de3aef48ba" /><Relationship Type="http://schemas.openxmlformats.org/officeDocument/2006/relationships/notesSlide" Target="/ppt/notesSlides/notesSlide2.xml" Id="R8ab2ae9935a14c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d84e075cdb946a4" /><Relationship Type="http://schemas.openxmlformats.org/officeDocument/2006/relationships/notesSlide" Target="/ppt/notesSlides/notesSlide3.xml" Id="Rba6c1832f09145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332b785b1a4071" /><Relationship Type="http://schemas.openxmlformats.org/officeDocument/2006/relationships/notesSlide" Target="/ppt/notesSlides/notesSlide4.xml" Id="R3f54228bdb0940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bc81bef2794663" /><Relationship Type="http://schemas.openxmlformats.org/officeDocument/2006/relationships/notesSlide" Target="/ppt/notesSlides/notesSlide5.xml" Id="Rf13f65907a2b48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e176fe4dacf49da" /><Relationship Type="http://schemas.openxmlformats.org/officeDocument/2006/relationships/notesSlide" Target="/ppt/notesSlides/notesSlide6.xml" Id="R49c4ea3e752d45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d53cbf843a34d97" /><Relationship Type="http://schemas.openxmlformats.org/officeDocument/2006/relationships/notesSlide" Target="/ppt/notesSlides/notesSlide7.xml" Id="Rd686bfb81f384f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9f0e277f8b0419c" /><Relationship Type="http://schemas.openxmlformats.org/officeDocument/2006/relationships/notesSlide" Target="/ppt/notesSlides/notesSlide8.xml" Id="Rbdd03d8c9c1a45d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A19C82A-F8CD-4700-81D3-FA51EACB8518}"/>
              </a:ext>
            </a:extLst>
          </p:cNvPr>
          <p:cNvSpPr>
            <a:spLocks xmlns:a="http://schemas.openxmlformats.org/drawingml/2006/main" noGrp="1"/>
          </p:cNvSpPr>
          <p:nvPr/>
        </p:nvSpPr>
        <p:spPr>
          <a:xfrm xmlns:a="http://schemas.openxmlformats.org/drawingml/2006/main">
            <a:off x="552450" y="590550"/>
            <a:ext cx="4572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200" b="1">
                <a:solidFill>
                  <a:srgbClr val="123A5A"/>
                </a:solidFill>
                <a:latin typeface="Arial"/>
                <a:ea typeface="Arial"/>
                <a:cs typeface="Arial"/>
              </a:defRPr>
            </a:pPr>
            <a:r>
              <a:rPr sz="4200" b="1">
                <a:solidFill>
                  <a:srgbClr val="123A5A"/>
                </a:solidFill>
                <a:latin typeface="Arial"/>
                <a:ea typeface="Arial"/>
                <a:cs typeface="Arial"/>
              </a:rPr>
              <a:t>AskAlpha</a:t>
            </a:r>
          </a:p>
        </p:txBody>
      </p:sp>
      <p:sp>
        <p:nvSpPr>
          <p:cNvPr id="2" name="">
            <a:extLst xmlns:a="http://schemas.openxmlformats.org/drawingml/2006/main">
              <a:ext uri="{FF2B5EF4-FFF2-40B4-BE49-F238E27FC236}">
                <a16:creationId xmlns:a16="http://schemas.microsoft.com/office/drawing/2014/main" id="{83C94C9C-1523-4BFF-A617-8AF79D81F3AD}"/>
              </a:ext>
            </a:extLst>
          </p:cNvPr>
          <p:cNvSpPr>
            <a:spLocks xmlns:a="http://schemas.openxmlformats.org/drawingml/2006/main" noGrp="1"/>
          </p:cNvSpPr>
          <p:nvPr/>
        </p:nvSpPr>
        <p:spPr>
          <a:xfrm xmlns:a="http://schemas.openxmlformats.org/drawingml/2006/main">
            <a:off x="552450" y="1409700"/>
            <a:ext cx="990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01828"/>
                </a:solidFill>
                <a:latin typeface="Arial"/>
                <a:ea typeface="Arial"/>
                <a:cs typeface="Arial"/>
              </a:defRPr>
            </a:pPr>
            <a:r>
              <a:rPr sz="2850" b="1">
                <a:solidFill>
                  <a:srgbClr val="101828"/>
                </a:solidFill>
                <a:latin typeface="Arial"/>
                <a:ea typeface="Arial"/>
                <a:cs typeface="Arial"/>
              </a:rPr>
              <a:t>Unity Catalog Integration &amp; Authorization Architecture Review</a:t>
            </a:r>
          </a:p>
        </p:txBody>
      </p:sp>
      <p:sp>
        <p:nvSpPr>
          <p:cNvPr id="3" name="">
            <a:extLst xmlns:a="http://schemas.openxmlformats.org/drawingml/2006/main">
              <a:ext uri="{FF2B5EF4-FFF2-40B4-BE49-F238E27FC236}">
                <a16:creationId xmlns:a16="http://schemas.microsoft.com/office/drawing/2014/main" id="{EF4B5F0C-3492-4C09-8DFD-3E65F95CC75C}"/>
              </a:ext>
            </a:extLst>
          </p:cNvPr>
          <p:cNvSpPr>
            <a:spLocks xmlns:a="http://schemas.openxmlformats.org/drawingml/2006/main" noGrp="1"/>
          </p:cNvSpPr>
          <p:nvPr/>
        </p:nvSpPr>
        <p:spPr>
          <a:xfrm xmlns:a="http://schemas.openxmlformats.org/drawingml/2006/main">
            <a:off x="571500" y="245745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a:solidFill>
                  <a:srgbClr val="667085"/>
                </a:solidFill>
                <a:latin typeface="Arial"/>
                <a:ea typeface="Arial"/>
                <a:cs typeface="Arial"/>
              </a:defRPr>
            </a:pPr>
            <a:r>
              <a:rPr sz="1800" b="0">
                <a:solidFill>
                  <a:srgbClr val="667085"/>
                </a:solidFill>
                <a:latin typeface="Arial"/>
                <a:ea typeface="Arial"/>
                <a:cs typeface="Arial"/>
              </a:rPr>
              <a:t>Confirm the governed query path, interactive compute model and end-user authorization contract.</a:t>
            </a:r>
          </a:p>
        </p:txBody>
      </p:sp>
      <p:sp>
        <p:nvSpPr>
          <p:cNvPr id="4" name="">
            <a:extLst xmlns:a="http://schemas.openxmlformats.org/drawingml/2006/main">
              <a:ext uri="{FF2B5EF4-FFF2-40B4-BE49-F238E27FC236}">
                <a16:creationId xmlns:a16="http://schemas.microsoft.com/office/drawing/2014/main" id="{A1009E93-0856-436D-BB48-7E30C73648D6}"/>
              </a:ext>
            </a:extLst>
          </p:cNvPr>
          <p:cNvSpPr>
            <a:spLocks xmlns:a="http://schemas.openxmlformats.org/drawingml/2006/main" noGrp="1"/>
          </p:cNvSpPr>
          <p:nvPr/>
        </p:nvSpPr>
        <p:spPr>
          <a:xfrm xmlns:a="http://schemas.openxmlformats.org/drawingml/2006/main">
            <a:off x="571500" y="3333750"/>
            <a:ext cx="1104900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5" name="">
            <a:extLst xmlns:a="http://schemas.openxmlformats.org/drawingml/2006/main">
              <a:ext uri="{FF2B5EF4-FFF2-40B4-BE49-F238E27FC236}">
                <a16:creationId xmlns:a16="http://schemas.microsoft.com/office/drawing/2014/main" id="{4C633729-2122-482F-8614-F03908D3ADFF}"/>
              </a:ext>
            </a:extLst>
          </p:cNvPr>
          <p:cNvSpPr>
            <a:spLocks xmlns:a="http://schemas.openxmlformats.org/drawingml/2006/main" noGrp="1"/>
          </p:cNvSpPr>
          <p:nvPr/>
        </p:nvSpPr>
        <p:spPr>
          <a:xfrm xmlns:a="http://schemas.openxmlformats.org/drawingml/2006/main">
            <a:off x="590550" y="3733800"/>
            <a:ext cx="457200" cy="457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6" name="">
            <a:extLst xmlns:a="http://schemas.openxmlformats.org/drawingml/2006/main">
              <a:ext uri="{FF2B5EF4-FFF2-40B4-BE49-F238E27FC236}">
                <a16:creationId xmlns:a16="http://schemas.microsoft.com/office/drawing/2014/main" id="{D5D2DEF2-71E6-48BD-9155-EF410B8DC38A}"/>
              </a:ext>
            </a:extLst>
          </p:cNvPr>
          <p:cNvSpPr>
            <a:spLocks xmlns:a="http://schemas.openxmlformats.org/drawingml/2006/main" noGrp="1"/>
          </p:cNvSpPr>
          <p:nvPr/>
        </p:nvSpPr>
        <p:spPr>
          <a:xfrm xmlns:a="http://schemas.openxmlformats.org/drawingml/2006/main">
            <a:off x="590550" y="3733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A2F9E78C-8F67-4CB9-913E-CD5012F7FE3A}"/>
              </a:ext>
            </a:extLst>
          </p:cNvPr>
          <p:cNvSpPr>
            <a:spLocks xmlns:a="http://schemas.openxmlformats.org/drawingml/2006/main" noGrp="1"/>
          </p:cNvSpPr>
          <p:nvPr/>
        </p:nvSpPr>
        <p:spPr>
          <a:xfrm xmlns:a="http://schemas.openxmlformats.org/drawingml/2006/main">
            <a:off x="1200150" y="36671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Data access</a:t>
            </a:r>
          </a:p>
        </p:txBody>
      </p:sp>
      <p:sp>
        <p:nvSpPr>
          <p:cNvPr id="8" name="">
            <a:extLst xmlns:a="http://schemas.openxmlformats.org/drawingml/2006/main">
              <a:ext uri="{FF2B5EF4-FFF2-40B4-BE49-F238E27FC236}">
                <a16:creationId xmlns:a16="http://schemas.microsoft.com/office/drawing/2014/main" id="{41DB383E-49F2-4F09-9B59-B95D352AA660}"/>
              </a:ext>
            </a:extLst>
          </p:cNvPr>
          <p:cNvSpPr>
            <a:spLocks xmlns:a="http://schemas.openxmlformats.org/drawingml/2006/main" noGrp="1"/>
          </p:cNvSpPr>
          <p:nvPr/>
        </p:nvSpPr>
        <p:spPr>
          <a:xfrm xmlns:a="http://schemas.openxmlformats.org/drawingml/2006/main">
            <a:off x="1200150" y="4057650"/>
            <a:ext cx="2714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Can we query governed Delta in place?</a:t>
            </a:r>
          </a:p>
        </p:txBody>
      </p:sp>
      <p:sp>
        <p:nvSpPr>
          <p:cNvPr id="9" name="">
            <a:extLst xmlns:a="http://schemas.openxmlformats.org/drawingml/2006/main">
              <a:ext uri="{FF2B5EF4-FFF2-40B4-BE49-F238E27FC236}">
                <a16:creationId xmlns:a16="http://schemas.microsoft.com/office/drawing/2014/main" id="{B9239908-6B72-45FE-B545-B5640DA4A97D}"/>
              </a:ext>
            </a:extLst>
          </p:cNvPr>
          <p:cNvSpPr>
            <a:spLocks xmlns:a="http://schemas.openxmlformats.org/drawingml/2006/main" noGrp="1"/>
          </p:cNvSpPr>
          <p:nvPr/>
        </p:nvSpPr>
        <p:spPr>
          <a:xfrm xmlns:a="http://schemas.openxmlformats.org/drawingml/2006/main">
            <a:off x="4305300" y="3733800"/>
            <a:ext cx="457200" cy="457200"/>
          </a:xfrm>
          <a:prstGeom xmlns:a="http://schemas.openxmlformats.org/drawingml/2006/main" prst="ellipse">
            <a:avLst/>
          </a:prstGeom>
          <a:solidFill xmlns:a="http://schemas.openxmlformats.org/drawingml/2006/main">
            <a:srgbClr val="D18B00"/>
          </a:solidFill>
          <a:ln xmlns:a="http://schemas.openxmlformats.org/drawingml/2006/main" w="0">
            <a:solidFill>
              <a:srgbClr val="D18B00"/>
            </a:solidFill>
            <a:prstDash val="solid"/>
          </a:ln>
        </p:spPr>
      </p:sp>
      <p:sp>
        <p:nvSpPr>
          <p:cNvPr id="10" name="">
            <a:extLst xmlns:a="http://schemas.openxmlformats.org/drawingml/2006/main">
              <a:ext uri="{FF2B5EF4-FFF2-40B4-BE49-F238E27FC236}">
                <a16:creationId xmlns:a16="http://schemas.microsoft.com/office/drawing/2014/main" id="{8945B961-690A-44CB-B1E5-37B65CE2C297}"/>
              </a:ext>
            </a:extLst>
          </p:cNvPr>
          <p:cNvSpPr>
            <a:spLocks xmlns:a="http://schemas.openxmlformats.org/drawingml/2006/main" noGrp="1"/>
          </p:cNvSpPr>
          <p:nvPr/>
        </p:nvSpPr>
        <p:spPr>
          <a:xfrm xmlns:a="http://schemas.openxmlformats.org/drawingml/2006/main">
            <a:off x="4305300" y="3733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7278141A-19F0-4CF5-9E8F-7A92DB83738A}"/>
              </a:ext>
            </a:extLst>
          </p:cNvPr>
          <p:cNvSpPr>
            <a:spLocks xmlns:a="http://schemas.openxmlformats.org/drawingml/2006/main" noGrp="1"/>
          </p:cNvSpPr>
          <p:nvPr/>
        </p:nvSpPr>
        <p:spPr>
          <a:xfrm xmlns:a="http://schemas.openxmlformats.org/drawingml/2006/main">
            <a:off x="4914900" y="36671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Compute</a:t>
            </a:r>
          </a:p>
        </p:txBody>
      </p:sp>
      <p:sp>
        <p:nvSpPr>
          <p:cNvPr id="12" name="">
            <a:extLst xmlns:a="http://schemas.openxmlformats.org/drawingml/2006/main">
              <a:ext uri="{FF2B5EF4-FFF2-40B4-BE49-F238E27FC236}">
                <a16:creationId xmlns:a16="http://schemas.microsoft.com/office/drawing/2014/main" id="{83440B0E-A6BD-46B7-AEB5-16DE03CAAB21}"/>
              </a:ext>
            </a:extLst>
          </p:cNvPr>
          <p:cNvSpPr>
            <a:spLocks xmlns:a="http://schemas.openxmlformats.org/drawingml/2006/main" noGrp="1"/>
          </p:cNvSpPr>
          <p:nvPr/>
        </p:nvSpPr>
        <p:spPr>
          <a:xfrm xmlns:a="http://schemas.openxmlformats.org/drawingml/2006/main">
            <a:off x="4914900" y="4057650"/>
            <a:ext cx="2714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What serves interactive requests predictably?</a:t>
            </a:r>
          </a:p>
        </p:txBody>
      </p:sp>
      <p:sp>
        <p:nvSpPr>
          <p:cNvPr id="13" name="">
            <a:extLst xmlns:a="http://schemas.openxmlformats.org/drawingml/2006/main">
              <a:ext uri="{FF2B5EF4-FFF2-40B4-BE49-F238E27FC236}">
                <a16:creationId xmlns:a16="http://schemas.microsoft.com/office/drawing/2014/main" id="{170A633C-E941-4CA7-B91F-D990747932F9}"/>
              </a:ext>
            </a:extLst>
          </p:cNvPr>
          <p:cNvSpPr>
            <a:spLocks xmlns:a="http://schemas.openxmlformats.org/drawingml/2006/main" noGrp="1"/>
          </p:cNvSpPr>
          <p:nvPr/>
        </p:nvSpPr>
        <p:spPr>
          <a:xfrm xmlns:a="http://schemas.openxmlformats.org/drawingml/2006/main">
            <a:off x="8020050" y="3733800"/>
            <a:ext cx="457200" cy="457200"/>
          </a:xfrm>
          <a:prstGeom xmlns:a="http://schemas.openxmlformats.org/drawingml/2006/main" prst="ellipse">
            <a:avLst/>
          </a:prstGeom>
          <a:solidFill xmlns:a="http://schemas.openxmlformats.org/drawingml/2006/main">
            <a:srgbClr val="157A6E"/>
          </a:solidFill>
          <a:ln xmlns:a="http://schemas.openxmlformats.org/drawingml/2006/main" w="0">
            <a:solidFill>
              <a:srgbClr val="157A6E"/>
            </a:solidFill>
            <a:prstDash val="solid"/>
          </a:ln>
        </p:spPr>
      </p:sp>
      <p:sp>
        <p:nvSpPr>
          <p:cNvPr id="14" name="">
            <a:extLst xmlns:a="http://schemas.openxmlformats.org/drawingml/2006/main">
              <a:ext uri="{FF2B5EF4-FFF2-40B4-BE49-F238E27FC236}">
                <a16:creationId xmlns:a16="http://schemas.microsoft.com/office/drawing/2014/main" id="{EF6C5F51-53BC-4EFC-A20C-B95ADB4F8825}"/>
              </a:ext>
            </a:extLst>
          </p:cNvPr>
          <p:cNvSpPr>
            <a:spLocks xmlns:a="http://schemas.openxmlformats.org/drawingml/2006/main" noGrp="1"/>
          </p:cNvSpPr>
          <p:nvPr/>
        </p:nvSpPr>
        <p:spPr>
          <a:xfrm xmlns:a="http://schemas.openxmlformats.org/drawingml/2006/main">
            <a:off x="8020050" y="3733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3931CE96-7F17-4CFF-8D98-91DC1076A456}"/>
              </a:ext>
            </a:extLst>
          </p:cNvPr>
          <p:cNvSpPr>
            <a:spLocks xmlns:a="http://schemas.openxmlformats.org/drawingml/2006/main" noGrp="1"/>
          </p:cNvSpPr>
          <p:nvPr/>
        </p:nvSpPr>
        <p:spPr>
          <a:xfrm xmlns:a="http://schemas.openxmlformats.org/drawingml/2006/main">
            <a:off x="8629650" y="36671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Authorization</a:t>
            </a:r>
          </a:p>
        </p:txBody>
      </p:sp>
      <p:sp>
        <p:nvSpPr>
          <p:cNvPr id="16" name="">
            <a:extLst xmlns:a="http://schemas.openxmlformats.org/drawingml/2006/main">
              <a:ext uri="{FF2B5EF4-FFF2-40B4-BE49-F238E27FC236}">
                <a16:creationId xmlns:a16="http://schemas.microsoft.com/office/drawing/2014/main" id="{45813D1D-1AC3-46D3-AE6F-10D49B2697B9}"/>
              </a:ext>
            </a:extLst>
          </p:cNvPr>
          <p:cNvSpPr>
            <a:spLocks xmlns:a="http://schemas.openxmlformats.org/drawingml/2006/main" noGrp="1"/>
          </p:cNvSpPr>
          <p:nvPr/>
        </p:nvSpPr>
        <p:spPr>
          <a:xfrm xmlns:a="http://schemas.openxmlformats.org/drawingml/2006/main">
            <a:off x="8629650" y="4057650"/>
            <a:ext cx="2714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How is the employee context enforced?</a:t>
            </a:r>
          </a:p>
        </p:txBody>
      </p:sp>
      <p:sp>
        <p:nvSpPr>
          <p:cNvPr id="17" name="">
            <a:extLst xmlns:a="http://schemas.openxmlformats.org/drawingml/2006/main">
              <a:ext uri="{FF2B5EF4-FFF2-40B4-BE49-F238E27FC236}">
                <a16:creationId xmlns:a16="http://schemas.microsoft.com/office/drawing/2014/main" id="{277B8375-DB7E-4A6F-81DD-4028A94AE546}"/>
              </a:ext>
            </a:extLst>
          </p:cNvPr>
          <p:cNvSpPr>
            <a:spLocks xmlns:a="http://schemas.openxmlformats.org/drawingml/2006/main" noGrp="1"/>
          </p:cNvSpPr>
          <p:nvPr/>
        </p:nvSpPr>
        <p:spPr>
          <a:xfrm xmlns:a="http://schemas.openxmlformats.org/drawingml/2006/main">
            <a:off x="571500" y="5105400"/>
            <a:ext cx="11049000" cy="781050"/>
          </a:xfrm>
          <a:prstGeom xmlns:a="http://schemas.openxmlformats.org/drawingml/2006/main" prst="roundRect">
            <a:avLst>
              <a:gd name="adj" fmla="val 17073"/>
            </a:avLst>
          </a:prstGeom>
          <a:solidFill xmlns:a="http://schemas.openxmlformats.org/drawingml/2006/main">
            <a:srgbClr val="EAF5FB"/>
          </a:solidFill>
          <a:ln xmlns:a="http://schemas.openxmlformats.org/drawingml/2006/main" w="9525">
            <a:solidFill>
              <a:srgbClr val="6DCBF4"/>
            </a:solidFill>
            <a:prstDash val="solid"/>
          </a:ln>
        </p:spPr>
      </p:sp>
      <p:sp>
        <p:nvSpPr>
          <p:cNvPr id="18" name="">
            <a:extLst xmlns:a="http://schemas.openxmlformats.org/drawingml/2006/main">
              <a:ext uri="{FF2B5EF4-FFF2-40B4-BE49-F238E27FC236}">
                <a16:creationId xmlns:a16="http://schemas.microsoft.com/office/drawing/2014/main" id="{DAEB8B37-3465-414E-892E-4AB56E3CAA90}"/>
              </a:ext>
            </a:extLst>
          </p:cNvPr>
          <p:cNvSpPr>
            <a:spLocks xmlns:a="http://schemas.openxmlformats.org/drawingml/2006/main" noGrp="1"/>
          </p:cNvSpPr>
          <p:nvPr/>
        </p:nvSpPr>
        <p:spPr>
          <a:xfrm xmlns:a="http://schemas.openxmlformats.org/drawingml/2006/main">
            <a:off x="800100" y="522922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Outcome requested</a:t>
            </a:r>
          </a:p>
        </p:txBody>
      </p:sp>
      <p:sp>
        <p:nvSpPr>
          <p:cNvPr id="19" name="">
            <a:extLst xmlns:a="http://schemas.openxmlformats.org/drawingml/2006/main">
              <a:ext uri="{FF2B5EF4-FFF2-40B4-BE49-F238E27FC236}">
                <a16:creationId xmlns:a16="http://schemas.microsoft.com/office/drawing/2014/main" id="{F3E091FC-CCBE-4B6C-8550-401C3AFC8544}"/>
              </a:ext>
            </a:extLst>
          </p:cNvPr>
          <p:cNvSpPr>
            <a:spLocks xmlns:a="http://schemas.openxmlformats.org/drawingml/2006/main" noGrp="1"/>
          </p:cNvSpPr>
          <p:nvPr/>
        </p:nvSpPr>
        <p:spPr>
          <a:xfrm xmlns:a="http://schemas.openxmlformats.org/drawingml/2006/main">
            <a:off x="800100" y="55054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01828"/>
                </a:solidFill>
                <a:latin typeface="Arial"/>
                <a:ea typeface="Arial"/>
                <a:cs typeface="Arial"/>
              </a:defRPr>
            </a:pPr>
            <a:r>
              <a:rPr sz="1650" b="1">
                <a:solidFill>
                  <a:srgbClr val="101828"/>
                </a:solidFill>
                <a:latin typeface="Arial"/>
                <a:ea typeface="Arial"/>
                <a:cs typeface="Arial"/>
              </a:rPr>
              <a:t>An approved sequence, supported compute endpoint, security contract and named follow-up owners.</a:t>
            </a:r>
          </a:p>
        </p:txBody>
      </p:sp>
      <p:sp>
        <p:nvSpPr>
          <p:cNvPr id="20" name="">
            <a:extLst xmlns:a="http://schemas.openxmlformats.org/drawingml/2006/main">
              <a:ext uri="{FF2B5EF4-FFF2-40B4-BE49-F238E27FC236}">
                <a16:creationId xmlns:a16="http://schemas.microsoft.com/office/drawing/2014/main" id="{B2B28492-7F53-41D5-B804-E77FBA9E1824}"/>
              </a:ext>
            </a:extLst>
          </p:cNvPr>
          <p:cNvSpPr>
            <a:spLocks xmlns:a="http://schemas.openxmlformats.org/drawingml/2006/main" noGrp="1"/>
          </p:cNvSpPr>
          <p:nvPr/>
        </p:nvSpPr>
        <p:spPr>
          <a:xfrm xmlns:a="http://schemas.openxmlformats.org/drawingml/2006/main">
            <a:off x="514350" y="649605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900" b="0">
                <a:solidFill>
                  <a:srgbClr val="667085"/>
                </a:solidFill>
                <a:latin typeface="Arial"/>
                <a:ea typeface="Arial"/>
                <a:cs typeface="Arial"/>
              </a:defRPr>
            </a:pPr>
            <a:r>
              <a:rPr sz="900" b="0">
                <a:solidFill>
                  <a:srgbClr val="667085"/>
                </a:solidFill>
                <a:latin typeface="Arial"/>
                <a:ea typeface="Arial"/>
                <a:cs typeface="Arial"/>
              </a:rPr>
              <a:t>AskAlpha  |  Unity Catalog architecture review  |  Discussion draft</a:t>
            </a:r>
          </a:p>
        </p:txBody>
      </p:sp>
      <p:sp>
        <p:nvSpPr>
          <p:cNvPr id="21" name="">
            <a:extLst xmlns:a="http://schemas.openxmlformats.org/drawingml/2006/main">
              <a:ext uri="{FF2B5EF4-FFF2-40B4-BE49-F238E27FC236}">
                <a16:creationId xmlns:a16="http://schemas.microsoft.com/office/drawing/2014/main" id="{B00499BF-BCB8-48E8-B03A-2D5599085449}"/>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1</a:t>
            </a:r>
          </a:p>
        </p:txBody>
      </p:sp>
    </p:spTree>
    <p:extLst>
      <p:ext uri="{BB962C8B-B14F-4D97-AF65-F5344CB8AC3E}">
        <p14:creationId xmlns:p14="http://schemas.microsoft.com/office/powerpoint/2010/main" val="15664022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E59FDFC8-A038-4A25-BCDE-AD223C1F74D9}"/>
              </a:ext>
            </a:extLst>
          </p:cNvPr>
          <p:cNvSpPr>
            <a:spLocks xmlns:a="http://schemas.openxmlformats.org/drawingml/2006/main" noGrp="1"/>
          </p:cNvSpPr>
          <p:nvPr/>
        </p:nvSpPr>
        <p:spPr>
          <a:xfrm xmlns:a="http://schemas.openxmlformats.org/drawingml/2006/main">
            <a:off x="514350" y="285750"/>
            <a:ext cx="1114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101828"/>
                </a:solidFill>
                <a:latin typeface="Arial"/>
                <a:ea typeface="Arial"/>
                <a:cs typeface="Arial"/>
              </a:defRPr>
            </a:pPr>
            <a:r>
              <a:rPr sz="2700" b="1">
                <a:solidFill>
                  <a:srgbClr val="101828"/>
                </a:solidFill>
                <a:latin typeface="Arial"/>
                <a:ea typeface="Arial"/>
                <a:cs typeface="Arial"/>
              </a:rPr>
              <a:t>AskAlpha needs a governed, interactive query path</a:t>
            </a:r>
          </a:p>
        </p:txBody>
      </p:sp>
      <p:sp>
        <p:nvSpPr>
          <p:cNvPr id="2" name="">
            <a:extLst xmlns:a="http://schemas.openxmlformats.org/drawingml/2006/main">
              <a:ext uri="{FF2B5EF4-FFF2-40B4-BE49-F238E27FC236}">
                <a16:creationId xmlns:a16="http://schemas.microsoft.com/office/drawing/2014/main" id="{B80AEC99-43A4-49AF-83B0-08380CF5744C}"/>
              </a:ext>
            </a:extLst>
          </p:cNvPr>
          <p:cNvSpPr>
            <a:spLocks xmlns:a="http://schemas.openxmlformats.org/drawingml/2006/main" noGrp="1"/>
          </p:cNvSpPr>
          <p:nvPr/>
        </p:nvSpPr>
        <p:spPr>
          <a:xfrm xmlns:a="http://schemas.openxmlformats.org/drawingml/2006/main">
            <a:off x="533400" y="838200"/>
            <a:ext cx="1104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Current POC proves the answer loop; the Rahona serving architecture is the decision under review.</a:t>
            </a:r>
          </a:p>
        </p:txBody>
      </p:sp>
      <p:sp>
        <p:nvSpPr>
          <p:cNvPr id="3" name="">
            <a:extLst xmlns:a="http://schemas.openxmlformats.org/drawingml/2006/main">
              <a:ext uri="{FF2B5EF4-FFF2-40B4-BE49-F238E27FC236}">
                <a16:creationId xmlns:a16="http://schemas.microsoft.com/office/drawing/2014/main" id="{038EC8BE-108B-4E82-8079-C99D27C9369B}"/>
              </a:ext>
            </a:extLst>
          </p:cNvPr>
          <p:cNvSpPr>
            <a:spLocks xmlns:a="http://schemas.openxmlformats.org/drawingml/2006/main" noGrp="1"/>
          </p:cNvSpPr>
          <p:nvPr/>
        </p:nvSpPr>
        <p:spPr>
          <a:xfrm xmlns:a="http://schemas.openxmlformats.org/drawingml/2006/main">
            <a:off x="514350" y="1428750"/>
            <a:ext cx="4762500" cy="4210050"/>
          </a:xfrm>
          <a:prstGeom xmlns:a="http://schemas.openxmlformats.org/drawingml/2006/main" prst="roundRect">
            <a:avLst>
              <a:gd name="adj" fmla="val 4072"/>
            </a:avLst>
          </a:prstGeom>
          <a:solidFill xmlns:a="http://schemas.openxmlformats.org/drawingml/2006/main">
            <a:srgbClr val="F2F4F7"/>
          </a:solidFill>
          <a:ln xmlns:a="http://schemas.openxmlformats.org/drawingml/2006/main" w="0">
            <a:solidFill>
              <a:srgbClr val="F2F4F7"/>
            </a:solidFill>
            <a:prstDash val="solid"/>
          </a:ln>
        </p:spPr>
      </p:sp>
      <p:sp>
        <p:nvSpPr>
          <p:cNvPr id="4" name="">
            <a:extLst xmlns:a="http://schemas.openxmlformats.org/drawingml/2006/main">
              <a:ext uri="{FF2B5EF4-FFF2-40B4-BE49-F238E27FC236}">
                <a16:creationId xmlns:a16="http://schemas.microsoft.com/office/drawing/2014/main" id="{B65BD157-0587-4985-B7B8-4C2516B14A11}"/>
              </a:ext>
            </a:extLst>
          </p:cNvPr>
          <p:cNvSpPr>
            <a:spLocks xmlns:a="http://schemas.openxmlformats.org/drawingml/2006/main" noGrp="1"/>
          </p:cNvSpPr>
          <p:nvPr/>
        </p:nvSpPr>
        <p:spPr>
          <a:xfrm xmlns:a="http://schemas.openxmlformats.org/drawingml/2006/main">
            <a:off x="762000" y="16573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CONFIRMED CURRENT POC</a:t>
            </a:r>
          </a:p>
        </p:txBody>
      </p:sp>
      <p:sp>
        <p:nvSpPr>
          <p:cNvPr id="5" name="">
            <a:extLst xmlns:a="http://schemas.openxmlformats.org/drawingml/2006/main">
              <a:ext uri="{FF2B5EF4-FFF2-40B4-BE49-F238E27FC236}">
                <a16:creationId xmlns:a16="http://schemas.microsoft.com/office/drawing/2014/main" id="{2A2FCC5D-CC41-454D-8DD8-3C5A06E1B0F8}"/>
              </a:ext>
            </a:extLst>
          </p:cNvPr>
          <p:cNvSpPr>
            <a:spLocks xmlns:a="http://schemas.openxmlformats.org/drawingml/2006/main" noGrp="1"/>
          </p:cNvSpPr>
          <p:nvPr/>
        </p:nvSpPr>
        <p:spPr>
          <a:xfrm xmlns:a="http://schemas.openxmlformats.org/drawingml/2006/main">
            <a:off x="762000" y="21336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6" name="">
            <a:extLst xmlns:a="http://schemas.openxmlformats.org/drawingml/2006/main">
              <a:ext uri="{FF2B5EF4-FFF2-40B4-BE49-F238E27FC236}">
                <a16:creationId xmlns:a16="http://schemas.microsoft.com/office/drawing/2014/main" id="{6C37FECC-8639-45CF-9F7C-9E57AFE41EB2}"/>
              </a:ext>
            </a:extLst>
          </p:cNvPr>
          <p:cNvSpPr>
            <a:spLocks xmlns:a="http://schemas.openxmlformats.org/drawingml/2006/main" noGrp="1"/>
          </p:cNvSpPr>
          <p:nvPr/>
        </p:nvSpPr>
        <p:spPr>
          <a:xfrm xmlns:a="http://schemas.openxmlformats.org/drawingml/2006/main">
            <a:off x="971550" y="2057400"/>
            <a:ext cx="3886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01828"/>
                </a:solidFill>
                <a:latin typeface="Arial"/>
                <a:ea typeface="Arial"/>
                <a:cs typeface="Arial"/>
              </a:defRPr>
            </a:pPr>
            <a:r>
              <a:rPr sz="1350" b="0">
                <a:solidFill>
                  <a:srgbClr val="101828"/>
                </a:solidFill>
                <a:latin typeface="Arial"/>
                <a:ea typeface="Arial"/>
                <a:cs typeface="Arial"/>
              </a:rPr>
              <a:t>Employee signs in with Microsoft Entra ID</a:t>
            </a:r>
          </a:p>
        </p:txBody>
      </p:sp>
      <p:sp>
        <p:nvSpPr>
          <p:cNvPr id="7" name="">
            <a:extLst xmlns:a="http://schemas.openxmlformats.org/drawingml/2006/main">
              <a:ext uri="{FF2B5EF4-FFF2-40B4-BE49-F238E27FC236}">
                <a16:creationId xmlns:a16="http://schemas.microsoft.com/office/drawing/2014/main" id="{BBE8DFA4-8727-48B2-9752-63C48FA7E69D}"/>
              </a:ext>
            </a:extLst>
          </p:cNvPr>
          <p:cNvSpPr>
            <a:spLocks xmlns:a="http://schemas.openxmlformats.org/drawingml/2006/main" noGrp="1"/>
          </p:cNvSpPr>
          <p:nvPr/>
        </p:nvSpPr>
        <p:spPr>
          <a:xfrm xmlns:a="http://schemas.openxmlformats.org/drawingml/2006/main">
            <a:off x="762000" y="268605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BB238334-C337-4846-9A09-6DC0A937EE71}"/>
              </a:ext>
            </a:extLst>
          </p:cNvPr>
          <p:cNvSpPr>
            <a:spLocks xmlns:a="http://schemas.openxmlformats.org/drawingml/2006/main" noGrp="1"/>
          </p:cNvSpPr>
          <p:nvPr/>
        </p:nvSpPr>
        <p:spPr>
          <a:xfrm xmlns:a="http://schemas.openxmlformats.org/drawingml/2006/main">
            <a:off x="971550" y="2609850"/>
            <a:ext cx="3886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01828"/>
                </a:solidFill>
                <a:latin typeface="Arial"/>
                <a:ea typeface="Arial"/>
                <a:cs typeface="Arial"/>
              </a:defRPr>
            </a:pPr>
            <a:r>
              <a:rPr sz="1350" b="0">
                <a:solidFill>
                  <a:srgbClr val="101828"/>
                </a:solidFill>
                <a:latin typeface="Arial"/>
                <a:ea typeface="Arial"/>
                <a:cs typeface="Arial"/>
              </a:rPr>
              <a:t>AskAlpha receives application-group claims</a:t>
            </a:r>
          </a:p>
        </p:txBody>
      </p:sp>
      <p:sp>
        <p:nvSpPr>
          <p:cNvPr id="9" name="">
            <a:extLst xmlns:a="http://schemas.openxmlformats.org/drawingml/2006/main">
              <a:ext uri="{FF2B5EF4-FFF2-40B4-BE49-F238E27FC236}">
                <a16:creationId xmlns:a16="http://schemas.microsoft.com/office/drawing/2014/main" id="{CA4624F0-D53B-4171-BF27-167853CAC61D}"/>
              </a:ext>
            </a:extLst>
          </p:cNvPr>
          <p:cNvSpPr>
            <a:spLocks xmlns:a="http://schemas.openxmlformats.org/drawingml/2006/main" noGrp="1"/>
          </p:cNvSpPr>
          <p:nvPr/>
        </p:nvSpPr>
        <p:spPr>
          <a:xfrm xmlns:a="http://schemas.openxmlformats.org/drawingml/2006/main">
            <a:off x="762000" y="32385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0B33AB2F-B83A-409A-9676-DBF703267BE7}"/>
              </a:ext>
            </a:extLst>
          </p:cNvPr>
          <p:cNvSpPr>
            <a:spLocks xmlns:a="http://schemas.openxmlformats.org/drawingml/2006/main" noGrp="1"/>
          </p:cNvSpPr>
          <p:nvPr/>
        </p:nvSpPr>
        <p:spPr>
          <a:xfrm xmlns:a="http://schemas.openxmlformats.org/drawingml/2006/main">
            <a:off x="971550" y="3162300"/>
            <a:ext cx="3886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01828"/>
                </a:solidFill>
                <a:latin typeface="Arial"/>
                <a:ea typeface="Arial"/>
                <a:cs typeface="Arial"/>
              </a:defRPr>
            </a:pPr>
            <a:r>
              <a:rPr sz="1350" b="0">
                <a:solidFill>
                  <a:srgbClr val="101828"/>
                </a:solidFill>
                <a:latin typeface="Arial"/>
                <a:ea typeface="Arial"/>
                <a:cs typeface="Arial"/>
              </a:rPr>
              <a:t>Application checks permitted entities and tables</a:t>
            </a:r>
          </a:p>
        </p:txBody>
      </p:sp>
      <p:sp>
        <p:nvSpPr>
          <p:cNvPr id="11" name="">
            <a:extLst xmlns:a="http://schemas.openxmlformats.org/drawingml/2006/main">
              <a:ext uri="{FF2B5EF4-FFF2-40B4-BE49-F238E27FC236}">
                <a16:creationId xmlns:a16="http://schemas.microsoft.com/office/drawing/2014/main" id="{9DBFC5F7-9F07-4A72-B11C-C217954963E3}"/>
              </a:ext>
            </a:extLst>
          </p:cNvPr>
          <p:cNvSpPr>
            <a:spLocks xmlns:a="http://schemas.openxmlformats.org/drawingml/2006/main" noGrp="1"/>
          </p:cNvSpPr>
          <p:nvPr/>
        </p:nvSpPr>
        <p:spPr>
          <a:xfrm xmlns:a="http://schemas.openxmlformats.org/drawingml/2006/main">
            <a:off x="762000" y="379095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5D286002-DF85-43C8-ADA8-32CF12152C91}"/>
              </a:ext>
            </a:extLst>
          </p:cNvPr>
          <p:cNvSpPr>
            <a:spLocks xmlns:a="http://schemas.openxmlformats.org/drawingml/2006/main" noGrp="1"/>
          </p:cNvSpPr>
          <p:nvPr/>
        </p:nvSpPr>
        <p:spPr>
          <a:xfrm xmlns:a="http://schemas.openxmlformats.org/drawingml/2006/main">
            <a:off x="971550" y="3714750"/>
            <a:ext cx="3886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01828"/>
                </a:solidFill>
                <a:latin typeface="Arial"/>
                <a:ea typeface="Arial"/>
                <a:cs typeface="Arial"/>
              </a:defRPr>
            </a:pPr>
            <a:r>
              <a:rPr sz="1350" b="0">
                <a:solidFill>
                  <a:srgbClr val="101828"/>
                </a:solidFill>
                <a:latin typeface="Arial"/>
                <a:ea typeface="Arial"/>
                <a:cs typeface="Arial"/>
              </a:rPr>
              <a:t>Read-only query path currently uses Azure SQL / Synapse</a:t>
            </a:r>
          </a:p>
        </p:txBody>
      </p:sp>
      <p:sp>
        <p:nvSpPr>
          <p:cNvPr id="13" name="">
            <a:extLst xmlns:a="http://schemas.openxmlformats.org/drawingml/2006/main">
              <a:ext uri="{FF2B5EF4-FFF2-40B4-BE49-F238E27FC236}">
                <a16:creationId xmlns:a16="http://schemas.microsoft.com/office/drawing/2014/main" id="{2B145084-15F8-4728-B70F-8A7407C487E9}"/>
              </a:ext>
            </a:extLst>
          </p:cNvPr>
          <p:cNvSpPr>
            <a:spLocks xmlns:a="http://schemas.openxmlformats.org/drawingml/2006/main" noGrp="1"/>
          </p:cNvSpPr>
          <p:nvPr/>
        </p:nvSpPr>
        <p:spPr>
          <a:xfrm xmlns:a="http://schemas.openxmlformats.org/drawingml/2006/main">
            <a:off x="762000" y="43434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4" name="">
            <a:extLst xmlns:a="http://schemas.openxmlformats.org/drawingml/2006/main">
              <a:ext uri="{FF2B5EF4-FFF2-40B4-BE49-F238E27FC236}">
                <a16:creationId xmlns:a16="http://schemas.microsoft.com/office/drawing/2014/main" id="{47E39C79-221D-46EE-A2E1-FCF19A450A22}"/>
              </a:ext>
            </a:extLst>
          </p:cNvPr>
          <p:cNvSpPr>
            <a:spLocks xmlns:a="http://schemas.openxmlformats.org/drawingml/2006/main" noGrp="1"/>
          </p:cNvSpPr>
          <p:nvPr/>
        </p:nvSpPr>
        <p:spPr>
          <a:xfrm xmlns:a="http://schemas.openxmlformats.org/drawingml/2006/main">
            <a:off x="971550" y="4267200"/>
            <a:ext cx="3886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01828"/>
                </a:solidFill>
                <a:latin typeface="Arial"/>
                <a:ea typeface="Arial"/>
                <a:cs typeface="Arial"/>
              </a:defRPr>
            </a:pPr>
            <a:r>
              <a:rPr sz="1350" b="0">
                <a:solidFill>
                  <a:srgbClr val="101828"/>
                </a:solidFill>
                <a:latin typeface="Arial"/>
                <a:ea typeface="Arial"/>
                <a:cs typeface="Arial"/>
              </a:rPr>
              <a:t>Unity Catalog is not yet the POC enforcement point</a:t>
            </a:r>
          </a:p>
        </p:txBody>
      </p:sp>
      <p:sp>
        <p:nvSpPr>
          <p:cNvPr id="15" name="">
            <a:extLst xmlns:a="http://schemas.openxmlformats.org/drawingml/2006/main">
              <a:ext uri="{FF2B5EF4-FFF2-40B4-BE49-F238E27FC236}">
                <a16:creationId xmlns:a16="http://schemas.microsoft.com/office/drawing/2014/main" id="{69D8563E-9410-4145-80CA-D2522631A916}"/>
              </a:ext>
            </a:extLst>
          </p:cNvPr>
          <p:cNvSpPr>
            <a:spLocks xmlns:a="http://schemas.openxmlformats.org/drawingml/2006/main" noGrp="1"/>
          </p:cNvSpPr>
          <p:nvPr/>
        </p:nvSpPr>
        <p:spPr>
          <a:xfrm xmlns:a="http://schemas.openxmlformats.org/drawingml/2006/main">
            <a:off x="5676900" y="1428750"/>
            <a:ext cx="5962650" cy="4210050"/>
          </a:xfrm>
          <a:prstGeom xmlns:a="http://schemas.openxmlformats.org/drawingml/2006/main" prst="roundRect">
            <a:avLst>
              <a:gd name="adj" fmla="val 4072"/>
            </a:avLst>
          </a:prstGeom>
          <a:solidFill xmlns:a="http://schemas.openxmlformats.org/drawingml/2006/main">
            <a:srgbClr val="F3F9FD"/>
          </a:solidFill>
          <a:ln xmlns:a="http://schemas.openxmlformats.org/drawingml/2006/main" w="11430">
            <a:solidFill>
              <a:srgbClr val="3D8DFF"/>
            </a:solidFill>
            <a:prstDash val="solid"/>
          </a:ln>
        </p:spPr>
      </p:sp>
      <p:sp>
        <p:nvSpPr>
          <p:cNvPr id="16" name="">
            <a:extLst xmlns:a="http://schemas.openxmlformats.org/drawingml/2006/main">
              <a:ext uri="{FF2B5EF4-FFF2-40B4-BE49-F238E27FC236}">
                <a16:creationId xmlns:a16="http://schemas.microsoft.com/office/drawing/2014/main" id="{C67626E8-8E09-4E89-8374-839AEED1FAA9}"/>
              </a:ext>
            </a:extLst>
          </p:cNvPr>
          <p:cNvSpPr>
            <a:spLocks xmlns:a="http://schemas.openxmlformats.org/drawingml/2006/main" noGrp="1"/>
          </p:cNvSpPr>
          <p:nvPr/>
        </p:nvSpPr>
        <p:spPr>
          <a:xfrm xmlns:a="http://schemas.openxmlformats.org/drawingml/2006/main">
            <a:off x="5924550" y="16573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TARGET FLOW TO VALIDATE</a:t>
            </a:r>
          </a:p>
        </p:txBody>
      </p:sp>
      <p:sp>
        <p:nvSpPr>
          <p:cNvPr id="17" name="">
            <a:extLst xmlns:a="http://schemas.openxmlformats.org/drawingml/2006/main">
              <a:ext uri="{FF2B5EF4-FFF2-40B4-BE49-F238E27FC236}">
                <a16:creationId xmlns:a16="http://schemas.microsoft.com/office/drawing/2014/main" id="{6ADA0DDA-7705-4841-BF3F-99E12D1F1BD0}"/>
              </a:ext>
            </a:extLst>
          </p:cNvPr>
          <p:cNvSpPr>
            <a:spLocks xmlns:a="http://schemas.openxmlformats.org/drawingml/2006/main" noGrp="1"/>
          </p:cNvSpPr>
          <p:nvPr/>
        </p:nvSpPr>
        <p:spPr>
          <a:xfrm xmlns:a="http://schemas.openxmlformats.org/drawingml/2006/main">
            <a:off x="6934200" y="2800350"/>
            <a:ext cx="514350" cy="247650"/>
          </a:xfrm>
          <a:prstGeom xmlns:a="http://schemas.openxmlformats.org/drawingml/2006/main" prst="rightArrow">
            <a:avLst/>
          </a:prstGeom>
          <a:solidFill xmlns:a="http://schemas.openxmlformats.org/drawingml/2006/main">
            <a:srgbClr val="3D8DFF"/>
          </a:solidFill>
          <a:ln xmlns:a="http://schemas.openxmlformats.org/drawingml/2006/main" w="4763">
            <a:solidFill>
              <a:srgbClr val="3D8DFF"/>
            </a:solidFill>
            <a:prstDash val="solid"/>
          </a:ln>
        </p:spPr>
      </p:sp>
      <p:sp>
        <p:nvSpPr>
          <p:cNvPr id="18" name="">
            <a:extLst xmlns:a="http://schemas.openxmlformats.org/drawingml/2006/main">
              <a:ext uri="{FF2B5EF4-FFF2-40B4-BE49-F238E27FC236}">
                <a16:creationId xmlns:a16="http://schemas.microsoft.com/office/drawing/2014/main" id="{0F3E4A2F-5143-4580-8D94-7187D893EEDC}"/>
              </a:ext>
            </a:extLst>
          </p:cNvPr>
          <p:cNvSpPr>
            <a:spLocks xmlns:a="http://schemas.openxmlformats.org/drawingml/2006/main" noGrp="1"/>
          </p:cNvSpPr>
          <p:nvPr/>
        </p:nvSpPr>
        <p:spPr>
          <a:xfrm xmlns:a="http://schemas.openxmlformats.org/drawingml/2006/main">
            <a:off x="8896350" y="2800350"/>
            <a:ext cx="514350" cy="247650"/>
          </a:xfrm>
          <a:prstGeom xmlns:a="http://schemas.openxmlformats.org/drawingml/2006/main" prst="rightArrow">
            <a:avLst/>
          </a:prstGeom>
          <a:solidFill xmlns:a="http://schemas.openxmlformats.org/drawingml/2006/main">
            <a:srgbClr val="3D8DFF"/>
          </a:solidFill>
          <a:ln xmlns:a="http://schemas.openxmlformats.org/drawingml/2006/main" w="4763">
            <a:solidFill>
              <a:srgbClr val="3D8DFF"/>
            </a:solidFill>
            <a:prstDash val="solid"/>
          </a:ln>
        </p:spPr>
      </p:sp>
      <p:sp>
        <p:nvSpPr>
          <p:cNvPr id="19" name="">
            <a:extLst xmlns:a="http://schemas.openxmlformats.org/drawingml/2006/main">
              <a:ext uri="{FF2B5EF4-FFF2-40B4-BE49-F238E27FC236}">
                <a16:creationId xmlns:a16="http://schemas.microsoft.com/office/drawing/2014/main" id="{00593865-C893-4AF3-8C26-274DBBAEA125}"/>
              </a:ext>
            </a:extLst>
          </p:cNvPr>
          <p:cNvSpPr>
            <a:spLocks xmlns:a="http://schemas.openxmlformats.org/drawingml/2006/main" noGrp="1"/>
          </p:cNvSpPr>
          <p:nvPr/>
        </p:nvSpPr>
        <p:spPr>
          <a:xfrm xmlns:a="http://schemas.openxmlformats.org/drawingml/2006/main">
            <a:off x="5924550" y="2324100"/>
            <a:ext cx="1028700" cy="1181100"/>
          </a:xfrm>
          <a:prstGeom xmlns:a="http://schemas.openxmlformats.org/drawingml/2006/main" prst="roundRect">
            <a:avLst>
              <a:gd name="adj" fmla="val 12963"/>
            </a:avLst>
          </a:prstGeom>
          <a:solidFill xmlns:a="http://schemas.openxmlformats.org/drawingml/2006/main">
            <a:srgbClr val="FFFFFF"/>
          </a:solidFill>
          <a:ln xmlns:a="http://schemas.openxmlformats.org/drawingml/2006/main" w="11430">
            <a:solidFill>
              <a:srgbClr val="3D8D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16C0B664-3160-4B10-843C-DF6CA6493436}"/>
              </a:ext>
            </a:extLst>
          </p:cNvPr>
          <p:cNvSpPr>
            <a:spLocks xmlns:a="http://schemas.openxmlformats.org/drawingml/2006/main" noGrp="1"/>
          </p:cNvSpPr>
          <p:nvPr/>
        </p:nvSpPr>
        <p:spPr>
          <a:xfrm xmlns:a="http://schemas.openxmlformats.org/drawingml/2006/main">
            <a:off x="6038850" y="2419350"/>
            <a:ext cx="80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560"/>
          </a:bodyPr>
          <a:lstStyle xmlns:a="http://schemas.openxmlformats.org/drawingml/2006/main"/>
          <a:p xmlns:a="http://schemas.openxmlformats.org/drawingml/2006/main">
            <a:pPr algn="ctr">
              <a:defRPr sz="1425" b="1">
                <a:solidFill>
                  <a:srgbClr val="101828"/>
                </a:solidFill>
                <a:latin typeface="Arial"/>
                <a:ea typeface="Arial"/>
                <a:cs typeface="Arial"/>
              </a:defRPr>
            </a:pPr>
            <a:r>
              <a:rPr sz="1425" b="1">
                <a:solidFill>
                  <a:srgbClr val="101828"/>
                </a:solidFill>
                <a:latin typeface="Arial"/>
                <a:ea typeface="Arial"/>
                <a:cs typeface="Arial"/>
              </a:rPr>
              <a:t>AskAlpha</a:t>
            </a:r>
          </a:p>
        </p:txBody>
      </p:sp>
      <p:sp>
        <p:nvSpPr>
          <p:cNvPr id="21" name="">
            <a:extLst xmlns:a="http://schemas.openxmlformats.org/drawingml/2006/main">
              <a:ext uri="{FF2B5EF4-FFF2-40B4-BE49-F238E27FC236}">
                <a16:creationId xmlns:a16="http://schemas.microsoft.com/office/drawing/2014/main" id="{937EE7D2-12DD-40EC-98E3-B3C38C9C4A2F}"/>
              </a:ext>
            </a:extLst>
          </p:cNvPr>
          <p:cNvSpPr>
            <a:spLocks xmlns:a="http://schemas.openxmlformats.org/drawingml/2006/main" noGrp="1"/>
          </p:cNvSpPr>
          <p:nvPr/>
        </p:nvSpPr>
        <p:spPr>
          <a:xfrm xmlns:a="http://schemas.openxmlformats.org/drawingml/2006/main">
            <a:off x="6038850" y="2733675"/>
            <a:ext cx="800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Read-only</a:t>
            </a:r>
          </a:p>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query request</a:t>
            </a:r>
          </a:p>
        </p:txBody>
      </p:sp>
      <p:sp>
        <p:nvSpPr>
          <p:cNvPr id="22" name="">
            <a:extLst xmlns:a="http://schemas.openxmlformats.org/drawingml/2006/main">
              <a:ext uri="{FF2B5EF4-FFF2-40B4-BE49-F238E27FC236}">
                <a16:creationId xmlns:a16="http://schemas.microsoft.com/office/drawing/2014/main" id="{E21EDE19-71CE-4C62-BD7C-447DEEEBFD11}"/>
              </a:ext>
            </a:extLst>
          </p:cNvPr>
          <p:cNvSpPr>
            <a:spLocks xmlns:a="http://schemas.openxmlformats.org/drawingml/2006/main" noGrp="1"/>
          </p:cNvSpPr>
          <p:nvPr/>
        </p:nvSpPr>
        <p:spPr>
          <a:xfrm xmlns:a="http://schemas.openxmlformats.org/drawingml/2006/main">
            <a:off x="7467600" y="2171700"/>
            <a:ext cx="1409700" cy="1485900"/>
          </a:xfrm>
          <a:prstGeom xmlns:a="http://schemas.openxmlformats.org/drawingml/2006/main" prst="roundRect">
            <a:avLst>
              <a:gd name="adj" fmla="val 9459"/>
            </a:avLst>
          </a:prstGeom>
          <a:solidFill xmlns:a="http://schemas.openxmlformats.org/drawingml/2006/main">
            <a:srgbClr val="FFFFFF"/>
          </a:solidFill>
          <a:ln xmlns:a="http://schemas.openxmlformats.org/drawingml/2006/main" w="11430">
            <a:solidFill>
              <a:srgbClr val="D18B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686DCA9C-BD1E-44E3-A793-5BCBEBD6BDB9}"/>
              </a:ext>
            </a:extLst>
          </p:cNvPr>
          <p:cNvSpPr>
            <a:spLocks xmlns:a="http://schemas.openxmlformats.org/drawingml/2006/main" noGrp="1"/>
          </p:cNvSpPr>
          <p:nvPr/>
        </p:nvSpPr>
        <p:spPr>
          <a:xfrm xmlns:a="http://schemas.openxmlformats.org/drawingml/2006/main">
            <a:off x="7581900" y="226695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2447"/>
          </a:bodyPr>
          <a:lstStyle xmlns:a="http://schemas.openxmlformats.org/drawingml/2006/main"/>
          <a:p xmlns:a="http://schemas.openxmlformats.org/drawingml/2006/main">
            <a:pPr algn="ctr">
              <a:defRPr sz="1350" b="1">
                <a:solidFill>
                  <a:srgbClr val="101828"/>
                </a:solidFill>
                <a:latin typeface="Arial"/>
                <a:ea typeface="Arial"/>
                <a:cs typeface="Arial"/>
              </a:defRPr>
            </a:pPr>
            <a:r>
              <a:rPr sz="1350" b="1">
                <a:solidFill>
                  <a:srgbClr val="101828"/>
                </a:solidFill>
                <a:latin typeface="Arial"/>
                <a:ea typeface="Arial"/>
                <a:cs typeface="Arial"/>
              </a:rPr>
              <a:t>Databricks SQL</a:t>
            </a:r>
          </a:p>
        </p:txBody>
      </p:sp>
      <p:sp>
        <p:nvSpPr>
          <p:cNvPr id="24" name="">
            <a:extLst xmlns:a="http://schemas.openxmlformats.org/drawingml/2006/main">
              <a:ext uri="{FF2B5EF4-FFF2-40B4-BE49-F238E27FC236}">
                <a16:creationId xmlns:a16="http://schemas.microsoft.com/office/drawing/2014/main" id="{08E92924-5619-43AB-96A9-EAF1617A0C31}"/>
              </a:ext>
            </a:extLst>
          </p:cNvPr>
          <p:cNvSpPr>
            <a:spLocks xmlns:a="http://schemas.openxmlformats.org/drawingml/2006/main" noGrp="1"/>
          </p:cNvSpPr>
          <p:nvPr/>
        </p:nvSpPr>
        <p:spPr>
          <a:xfrm xmlns:a="http://schemas.openxmlformats.org/drawingml/2006/main">
            <a:off x="7581900" y="2581275"/>
            <a:ext cx="11811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Interactive compute endpoint</a:t>
            </a:r>
          </a:p>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 to confirm</a:t>
            </a:r>
          </a:p>
        </p:txBody>
      </p:sp>
      <p:sp>
        <p:nvSpPr>
          <p:cNvPr id="25" name="">
            <a:extLst xmlns:a="http://schemas.openxmlformats.org/drawingml/2006/main">
              <a:ext uri="{FF2B5EF4-FFF2-40B4-BE49-F238E27FC236}">
                <a16:creationId xmlns:a16="http://schemas.microsoft.com/office/drawing/2014/main" id="{7B95A636-F2B7-47DB-BA1C-1CDDE93C715B}"/>
              </a:ext>
            </a:extLst>
          </p:cNvPr>
          <p:cNvSpPr>
            <a:spLocks xmlns:a="http://schemas.openxmlformats.org/drawingml/2006/main" noGrp="1"/>
          </p:cNvSpPr>
          <p:nvPr/>
        </p:nvSpPr>
        <p:spPr>
          <a:xfrm xmlns:a="http://schemas.openxmlformats.org/drawingml/2006/main">
            <a:off x="9429750" y="2171700"/>
            <a:ext cx="1962150" cy="1485900"/>
          </a:xfrm>
          <a:prstGeom xmlns:a="http://schemas.openxmlformats.org/drawingml/2006/main" prst="roundRect">
            <a:avLst>
              <a:gd name="adj" fmla="val 8974"/>
            </a:avLst>
          </a:prstGeom>
          <a:solidFill xmlns:a="http://schemas.openxmlformats.org/drawingml/2006/main">
            <a:srgbClr val="FFFFFF"/>
          </a:solidFill>
          <a:ln xmlns:a="http://schemas.openxmlformats.org/drawingml/2006/main" w="11430">
            <a:solidFill>
              <a:srgbClr val="157A6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5883D336-F258-4D36-B68B-39AB75DE7DE1}"/>
              </a:ext>
            </a:extLst>
          </p:cNvPr>
          <p:cNvSpPr>
            <a:spLocks xmlns:a="http://schemas.openxmlformats.org/drawingml/2006/main" noGrp="1"/>
          </p:cNvSpPr>
          <p:nvPr/>
        </p:nvSpPr>
        <p:spPr>
          <a:xfrm xmlns:a="http://schemas.openxmlformats.org/drawingml/2006/main">
            <a:off x="9544050" y="226695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01828"/>
                </a:solidFill>
                <a:latin typeface="Arial"/>
                <a:ea typeface="Arial"/>
                <a:cs typeface="Arial"/>
              </a:defRPr>
            </a:pPr>
            <a:r>
              <a:rPr sz="1425" b="1">
                <a:solidFill>
                  <a:srgbClr val="101828"/>
                </a:solidFill>
                <a:latin typeface="Arial"/>
                <a:ea typeface="Arial"/>
                <a:cs typeface="Arial"/>
              </a:rPr>
              <a:t>Unity Catalog</a:t>
            </a:r>
          </a:p>
        </p:txBody>
      </p:sp>
      <p:sp>
        <p:nvSpPr>
          <p:cNvPr id="27" name="">
            <a:extLst xmlns:a="http://schemas.openxmlformats.org/drawingml/2006/main">
              <a:ext uri="{FF2B5EF4-FFF2-40B4-BE49-F238E27FC236}">
                <a16:creationId xmlns:a16="http://schemas.microsoft.com/office/drawing/2014/main" id="{041D8685-AF78-4522-AD78-BD215126C26C}"/>
              </a:ext>
            </a:extLst>
          </p:cNvPr>
          <p:cNvSpPr>
            <a:spLocks xmlns:a="http://schemas.openxmlformats.org/drawingml/2006/main" noGrp="1"/>
          </p:cNvSpPr>
          <p:nvPr/>
        </p:nvSpPr>
        <p:spPr>
          <a:xfrm xmlns:a="http://schemas.openxmlformats.org/drawingml/2006/main">
            <a:off x="9544050" y="2581275"/>
            <a:ext cx="17335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Governed views</a:t>
            </a:r>
          </a:p>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row / column controls</a:t>
            </a:r>
          </a:p>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masking</a:t>
            </a:r>
          </a:p>
        </p:txBody>
      </p:sp>
      <p:sp>
        <p:nvSpPr>
          <p:cNvPr id="28" name="">
            <a:extLst xmlns:a="http://schemas.openxmlformats.org/drawingml/2006/main">
              <a:ext uri="{FF2B5EF4-FFF2-40B4-BE49-F238E27FC236}">
                <a16:creationId xmlns:a16="http://schemas.microsoft.com/office/drawing/2014/main" id="{1836283E-5CD2-4BF5-AED5-A3EB13B648EA}"/>
              </a:ext>
            </a:extLst>
          </p:cNvPr>
          <p:cNvSpPr>
            <a:spLocks xmlns:a="http://schemas.openxmlformats.org/drawingml/2006/main" noGrp="1"/>
          </p:cNvSpPr>
          <p:nvPr/>
        </p:nvSpPr>
        <p:spPr>
          <a:xfrm xmlns:a="http://schemas.openxmlformats.org/drawingml/2006/main">
            <a:off x="10144125" y="3695700"/>
            <a:ext cx="247650" cy="590550"/>
          </a:xfrm>
          <a:prstGeom xmlns:a="http://schemas.openxmlformats.org/drawingml/2006/main" prst="downArrow">
            <a:avLst/>
          </a:prstGeom>
          <a:solidFill xmlns:a="http://schemas.openxmlformats.org/drawingml/2006/main">
            <a:srgbClr val="D0D5DD"/>
          </a:solidFill>
          <a:ln xmlns:a="http://schemas.openxmlformats.org/drawingml/2006/main" w="4763">
            <a:solidFill>
              <a:srgbClr val="D0D5DD"/>
            </a:solidFill>
            <a:prstDash val="solid"/>
          </a:ln>
        </p:spPr>
      </p:sp>
      <p:sp>
        <p:nvSpPr>
          <p:cNvPr id="29" name="">
            <a:extLst xmlns:a="http://schemas.openxmlformats.org/drawingml/2006/main">
              <a:ext uri="{FF2B5EF4-FFF2-40B4-BE49-F238E27FC236}">
                <a16:creationId xmlns:a16="http://schemas.microsoft.com/office/drawing/2014/main" id="{A356E22B-8A37-4EBD-9CC3-5A0FEDF24DE3}"/>
              </a:ext>
            </a:extLst>
          </p:cNvPr>
          <p:cNvSpPr>
            <a:spLocks xmlns:a="http://schemas.openxmlformats.org/drawingml/2006/main" noGrp="1"/>
          </p:cNvSpPr>
          <p:nvPr/>
        </p:nvSpPr>
        <p:spPr>
          <a:xfrm xmlns:a="http://schemas.openxmlformats.org/drawingml/2006/main">
            <a:off x="9029700" y="4305300"/>
            <a:ext cx="2362200" cy="838200"/>
          </a:xfrm>
          <a:prstGeom xmlns:a="http://schemas.openxmlformats.org/drawingml/2006/main" prst="roundRect">
            <a:avLst>
              <a:gd name="adj" fmla="val 15909"/>
            </a:avLst>
          </a:prstGeom>
          <a:solidFill xmlns:a="http://schemas.openxmlformats.org/drawingml/2006/main">
            <a:srgbClr val="FFFFFF"/>
          </a:solidFill>
          <a:ln xmlns:a="http://schemas.openxmlformats.org/drawingml/2006/main" w="11430">
            <a:solidFill>
              <a:srgbClr val="D0D5D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F2D293AA-267F-4568-BC55-66B2AD05A2AB}"/>
              </a:ext>
            </a:extLst>
          </p:cNvPr>
          <p:cNvSpPr>
            <a:spLocks xmlns:a="http://schemas.openxmlformats.org/drawingml/2006/main" noGrp="1"/>
          </p:cNvSpPr>
          <p:nvPr/>
        </p:nvSpPr>
        <p:spPr>
          <a:xfrm xmlns:a="http://schemas.openxmlformats.org/drawingml/2006/main">
            <a:off x="9144000" y="44005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01828"/>
                </a:solidFill>
                <a:latin typeface="Arial"/>
                <a:ea typeface="Arial"/>
                <a:cs typeface="Arial"/>
              </a:defRPr>
            </a:pPr>
            <a:r>
              <a:rPr sz="1350" b="1">
                <a:solidFill>
                  <a:srgbClr val="101828"/>
                </a:solidFill>
                <a:latin typeface="Arial"/>
                <a:ea typeface="Arial"/>
                <a:cs typeface="Arial"/>
              </a:rPr>
              <a:t>Curated Delta in ADLS</a:t>
            </a:r>
          </a:p>
        </p:txBody>
      </p:sp>
      <p:sp>
        <p:nvSpPr>
          <p:cNvPr id="31" name="">
            <a:extLst xmlns:a="http://schemas.openxmlformats.org/drawingml/2006/main">
              <a:ext uri="{FF2B5EF4-FFF2-40B4-BE49-F238E27FC236}">
                <a16:creationId xmlns:a16="http://schemas.microsoft.com/office/drawing/2014/main" id="{EDEFBBE1-FD76-49C0-9853-422003E15408}"/>
              </a:ext>
            </a:extLst>
          </p:cNvPr>
          <p:cNvSpPr>
            <a:spLocks xmlns:a="http://schemas.openxmlformats.org/drawingml/2006/main" noGrp="1"/>
          </p:cNvSpPr>
          <p:nvPr/>
        </p:nvSpPr>
        <p:spPr>
          <a:xfrm xmlns:a="http://schemas.openxmlformats.org/drawingml/2006/main">
            <a:off x="9144000" y="4714875"/>
            <a:ext cx="2133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Existing governed data products</a:t>
            </a:r>
          </a:p>
        </p:txBody>
      </p:sp>
      <p:sp>
        <p:nvSpPr>
          <p:cNvPr id="32" name="">
            <a:extLst xmlns:a="http://schemas.openxmlformats.org/drawingml/2006/main">
              <a:ext uri="{FF2B5EF4-FFF2-40B4-BE49-F238E27FC236}">
                <a16:creationId xmlns:a16="http://schemas.microsoft.com/office/drawing/2014/main" id="{DBE9B252-5CBF-400C-8102-FF5EF3EE9121}"/>
              </a:ext>
            </a:extLst>
          </p:cNvPr>
          <p:cNvSpPr>
            <a:spLocks xmlns:a="http://schemas.openxmlformats.org/drawingml/2006/main" noGrp="1"/>
          </p:cNvSpPr>
          <p:nvPr/>
        </p:nvSpPr>
        <p:spPr>
          <a:xfrm xmlns:a="http://schemas.openxmlformats.org/drawingml/2006/main">
            <a:off x="5924550" y="39814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D18B00"/>
                </a:solidFill>
                <a:latin typeface="Arial"/>
                <a:ea typeface="Arial"/>
                <a:cs typeface="Arial"/>
              </a:defRPr>
            </a:pPr>
            <a:r>
              <a:rPr sz="1200" b="1">
                <a:solidFill>
                  <a:srgbClr val="D18B00"/>
                </a:solidFill>
                <a:latin typeface="Arial"/>
                <a:ea typeface="Arial"/>
                <a:cs typeface="Arial"/>
              </a:rPr>
              <a:t>Open questions</a:t>
            </a:r>
          </a:p>
        </p:txBody>
      </p:sp>
      <p:sp>
        <p:nvSpPr>
          <p:cNvPr id="33" name="">
            <a:extLst xmlns:a="http://schemas.openxmlformats.org/drawingml/2006/main">
              <a:ext uri="{FF2B5EF4-FFF2-40B4-BE49-F238E27FC236}">
                <a16:creationId xmlns:a16="http://schemas.microsoft.com/office/drawing/2014/main" id="{0A7E98D8-7023-42AF-BCA3-199C9D55FCF2}"/>
              </a:ext>
            </a:extLst>
          </p:cNvPr>
          <p:cNvSpPr>
            <a:spLocks xmlns:a="http://schemas.openxmlformats.org/drawingml/2006/main" noGrp="1"/>
          </p:cNvSpPr>
          <p:nvPr/>
        </p:nvSpPr>
        <p:spPr>
          <a:xfrm xmlns:a="http://schemas.openxmlformats.org/drawingml/2006/main">
            <a:off x="5924550" y="4324350"/>
            <a:ext cx="2895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01828"/>
                </a:solidFill>
                <a:latin typeface="Arial"/>
                <a:ea typeface="Arial"/>
                <a:cs typeface="Arial"/>
              </a:defRPr>
            </a:pPr>
            <a:r>
              <a:rPr sz="1350" b="0">
                <a:solidFill>
                  <a:srgbClr val="101828"/>
                </a:solidFill>
                <a:latin typeface="Arial"/>
                <a:ea typeface="Arial"/>
                <a:cs typeface="Arial"/>
              </a:rPr>
              <a:t>Which endpoint?  •  Which query identity?  •  Which SLA?  •  Which network path?</a:t>
            </a:r>
          </a:p>
        </p:txBody>
      </p:sp>
      <p:sp>
        <p:nvSpPr>
          <p:cNvPr id="34" name="">
            <a:extLst xmlns:a="http://schemas.openxmlformats.org/drawingml/2006/main">
              <a:ext uri="{FF2B5EF4-FFF2-40B4-BE49-F238E27FC236}">
                <a16:creationId xmlns:a16="http://schemas.microsoft.com/office/drawing/2014/main" id="{3B39EB2B-B4F2-41F7-B2F1-7C6CF6CD57FF}"/>
              </a:ext>
            </a:extLst>
          </p:cNvPr>
          <p:cNvSpPr>
            <a:spLocks xmlns:a="http://schemas.openxmlformats.org/drawingml/2006/main" noGrp="1"/>
          </p:cNvSpPr>
          <p:nvPr/>
        </p:nvSpPr>
        <p:spPr>
          <a:xfrm xmlns:a="http://schemas.openxmlformats.org/drawingml/2006/main">
            <a:off x="514350" y="649605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900" b="0">
                <a:solidFill>
                  <a:srgbClr val="667085"/>
                </a:solidFill>
                <a:latin typeface="Arial"/>
                <a:ea typeface="Arial"/>
                <a:cs typeface="Arial"/>
              </a:defRPr>
            </a:pPr>
            <a:r>
              <a:rPr sz="900" b="0">
                <a:solidFill>
                  <a:srgbClr val="667085"/>
                </a:solidFill>
                <a:latin typeface="Arial"/>
                <a:ea typeface="Arial"/>
                <a:cs typeface="Arial"/>
              </a:rPr>
              <a:t>AskAlpha  |  Unity Catalog architecture review  |  Discussion draft</a:t>
            </a:r>
          </a:p>
        </p:txBody>
      </p:sp>
      <p:sp>
        <p:nvSpPr>
          <p:cNvPr id="35" name="">
            <a:extLst xmlns:a="http://schemas.openxmlformats.org/drawingml/2006/main">
              <a:ext uri="{FF2B5EF4-FFF2-40B4-BE49-F238E27FC236}">
                <a16:creationId xmlns:a16="http://schemas.microsoft.com/office/drawing/2014/main" id="{9EF54E44-4B12-4F32-8AB3-FAF28F5D5847}"/>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2</a:t>
            </a:r>
          </a:p>
        </p:txBody>
      </p:sp>
    </p:spTree>
    <p:extLst>
      <p:ext uri="{BB962C8B-B14F-4D97-AF65-F5344CB8AC3E}">
        <p14:creationId xmlns:p14="http://schemas.microsoft.com/office/powerpoint/2010/main" val="661800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E7F385D-AB5B-470C-B831-502F08D3BD09}"/>
              </a:ext>
            </a:extLst>
          </p:cNvPr>
          <p:cNvSpPr>
            <a:spLocks xmlns:a="http://schemas.openxmlformats.org/drawingml/2006/main" noGrp="1"/>
          </p:cNvSpPr>
          <p:nvPr/>
        </p:nvSpPr>
        <p:spPr>
          <a:xfrm xmlns:a="http://schemas.openxmlformats.org/drawingml/2006/main">
            <a:off x="514350" y="285750"/>
            <a:ext cx="1114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101828"/>
                </a:solidFill>
                <a:latin typeface="Arial"/>
                <a:ea typeface="Arial"/>
                <a:cs typeface="Arial"/>
              </a:defRPr>
            </a:pPr>
            <a:r>
              <a:rPr sz="2700" b="1">
                <a:solidFill>
                  <a:srgbClr val="101828"/>
                </a:solidFill>
                <a:latin typeface="Arial"/>
                <a:ea typeface="Arial"/>
                <a:cs typeface="Arial"/>
              </a:rPr>
              <a:t>Our current understanding has two separate identity planes</a:t>
            </a:r>
          </a:p>
        </p:txBody>
      </p:sp>
      <p:sp>
        <p:nvSpPr>
          <p:cNvPr id="2" name="">
            <a:extLst xmlns:a="http://schemas.openxmlformats.org/drawingml/2006/main">
              <a:ext uri="{FF2B5EF4-FFF2-40B4-BE49-F238E27FC236}">
                <a16:creationId xmlns:a16="http://schemas.microsoft.com/office/drawing/2014/main" id="{1E0C1BC6-8DFE-4F15-AED1-E2952FEF4701}"/>
              </a:ext>
            </a:extLst>
          </p:cNvPr>
          <p:cNvSpPr>
            <a:spLocks xmlns:a="http://schemas.openxmlformats.org/drawingml/2006/main" noGrp="1"/>
          </p:cNvSpPr>
          <p:nvPr/>
        </p:nvSpPr>
        <p:spPr>
          <a:xfrm xmlns:a="http://schemas.openxmlformats.org/drawingml/2006/main">
            <a:off x="533400" y="838200"/>
            <a:ext cx="1104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The ADLS credential solves storage access; it does not automatically preserve the employee’s query authorization.</a:t>
            </a:r>
          </a:p>
        </p:txBody>
      </p:sp>
      <p:sp>
        <p:nvSpPr>
          <p:cNvPr id="3" name="">
            <a:extLst xmlns:a="http://schemas.openxmlformats.org/drawingml/2006/main">
              <a:ext uri="{FF2B5EF4-FFF2-40B4-BE49-F238E27FC236}">
                <a16:creationId xmlns:a16="http://schemas.microsoft.com/office/drawing/2014/main" id="{8606EF75-193A-41FE-BB06-D368208E7F6F}"/>
              </a:ext>
            </a:extLst>
          </p:cNvPr>
          <p:cNvSpPr>
            <a:spLocks xmlns:a="http://schemas.openxmlformats.org/drawingml/2006/main" noGrp="1"/>
          </p:cNvSpPr>
          <p:nvPr/>
        </p:nvSpPr>
        <p:spPr>
          <a:xfrm xmlns:a="http://schemas.openxmlformats.org/drawingml/2006/main">
            <a:off x="514350" y="1428750"/>
            <a:ext cx="5334000" cy="4248150"/>
          </a:xfrm>
          <a:prstGeom xmlns:a="http://schemas.openxmlformats.org/drawingml/2006/main" prst="roundRect">
            <a:avLst>
              <a:gd name="adj" fmla="val 4036"/>
            </a:avLst>
          </a:prstGeom>
          <a:solidFill xmlns:a="http://schemas.openxmlformats.org/drawingml/2006/main">
            <a:srgbClr val="F3F9FD"/>
          </a:solidFill>
          <a:ln xmlns:a="http://schemas.openxmlformats.org/drawingml/2006/main" w="11430">
            <a:solidFill>
              <a:srgbClr val="3D8DFF"/>
            </a:solidFill>
            <a:prstDash val="solid"/>
          </a:ln>
        </p:spPr>
      </p:sp>
      <p:sp>
        <p:nvSpPr>
          <p:cNvPr id="4" name="">
            <a:extLst xmlns:a="http://schemas.openxmlformats.org/drawingml/2006/main">
              <a:ext uri="{FF2B5EF4-FFF2-40B4-BE49-F238E27FC236}">
                <a16:creationId xmlns:a16="http://schemas.microsoft.com/office/drawing/2014/main" id="{FB1329DC-9329-47E8-81F2-2DE92F1592BC}"/>
              </a:ext>
            </a:extLst>
          </p:cNvPr>
          <p:cNvSpPr>
            <a:spLocks xmlns:a="http://schemas.openxmlformats.org/drawingml/2006/main" noGrp="1"/>
          </p:cNvSpPr>
          <p:nvPr/>
        </p:nvSpPr>
        <p:spPr>
          <a:xfrm xmlns:a="http://schemas.openxmlformats.org/drawingml/2006/main">
            <a:off x="762000" y="16573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STORAGE PLANE — UNDERSTANDING TO CONFIRM</a:t>
            </a:r>
          </a:p>
        </p:txBody>
      </p:sp>
      <p:sp>
        <p:nvSpPr>
          <p:cNvPr id="5" name="">
            <a:extLst xmlns:a="http://schemas.openxmlformats.org/drawingml/2006/main">
              <a:ext uri="{FF2B5EF4-FFF2-40B4-BE49-F238E27FC236}">
                <a16:creationId xmlns:a16="http://schemas.microsoft.com/office/drawing/2014/main" id="{8E7ABB6D-C570-4661-A875-122DB5488B56}"/>
              </a:ext>
            </a:extLst>
          </p:cNvPr>
          <p:cNvSpPr>
            <a:spLocks xmlns:a="http://schemas.openxmlformats.org/drawingml/2006/main" noGrp="1"/>
          </p:cNvSpPr>
          <p:nvPr/>
        </p:nvSpPr>
        <p:spPr>
          <a:xfrm xmlns:a="http://schemas.openxmlformats.org/drawingml/2006/main">
            <a:off x="2266950" y="2800350"/>
            <a:ext cx="628650" cy="266700"/>
          </a:xfrm>
          <a:prstGeom xmlns:a="http://schemas.openxmlformats.org/drawingml/2006/main" prst="rightArrow">
            <a:avLst/>
          </a:prstGeom>
          <a:solidFill xmlns:a="http://schemas.openxmlformats.org/drawingml/2006/main">
            <a:srgbClr val="3D8DFF"/>
          </a:solidFill>
          <a:ln xmlns:a="http://schemas.openxmlformats.org/drawingml/2006/main" w="4763">
            <a:solidFill>
              <a:srgbClr val="3D8DFF"/>
            </a:solidFill>
            <a:prstDash val="solid"/>
          </a:ln>
        </p:spPr>
      </p:sp>
      <p:sp>
        <p:nvSpPr>
          <p:cNvPr id="6" name="">
            <a:extLst xmlns:a="http://schemas.openxmlformats.org/drawingml/2006/main">
              <a:ext uri="{FF2B5EF4-FFF2-40B4-BE49-F238E27FC236}">
                <a16:creationId xmlns:a16="http://schemas.microsoft.com/office/drawing/2014/main" id="{FFC77D40-41F6-4D69-BF07-A93BBA188F26}"/>
              </a:ext>
            </a:extLst>
          </p:cNvPr>
          <p:cNvSpPr>
            <a:spLocks xmlns:a="http://schemas.openxmlformats.org/drawingml/2006/main" noGrp="1"/>
          </p:cNvSpPr>
          <p:nvPr/>
        </p:nvSpPr>
        <p:spPr>
          <a:xfrm xmlns:a="http://schemas.openxmlformats.org/drawingml/2006/main">
            <a:off x="4229100" y="2800350"/>
            <a:ext cx="628650" cy="266700"/>
          </a:xfrm>
          <a:prstGeom xmlns:a="http://schemas.openxmlformats.org/drawingml/2006/main" prst="rightArrow">
            <a:avLst/>
          </a:prstGeom>
          <a:solidFill xmlns:a="http://schemas.openxmlformats.org/drawingml/2006/main">
            <a:srgbClr val="3D8DFF"/>
          </a:solidFill>
          <a:ln xmlns:a="http://schemas.openxmlformats.org/drawingml/2006/main" w="4763">
            <a:solidFill>
              <a:srgbClr val="3D8DFF"/>
            </a:solidFill>
            <a:prstDash val="solid"/>
          </a:ln>
        </p:spPr>
      </p:sp>
      <p:sp>
        <p:nvSpPr>
          <p:cNvPr id="7" name="">
            <a:extLst xmlns:a="http://schemas.openxmlformats.org/drawingml/2006/main">
              <a:ext uri="{FF2B5EF4-FFF2-40B4-BE49-F238E27FC236}">
                <a16:creationId xmlns:a16="http://schemas.microsoft.com/office/drawing/2014/main" id="{381C1BE4-F0B9-426F-83C6-CCE7C88A8E11}"/>
              </a:ext>
            </a:extLst>
          </p:cNvPr>
          <p:cNvSpPr>
            <a:spLocks xmlns:a="http://schemas.openxmlformats.org/drawingml/2006/main" noGrp="1"/>
          </p:cNvSpPr>
          <p:nvPr/>
        </p:nvSpPr>
        <p:spPr>
          <a:xfrm xmlns:a="http://schemas.openxmlformats.org/drawingml/2006/main">
            <a:off x="781050" y="2286000"/>
            <a:ext cx="1466850" cy="1295400"/>
          </a:xfrm>
          <a:prstGeom xmlns:a="http://schemas.openxmlformats.org/drawingml/2006/main" prst="roundRect">
            <a:avLst>
              <a:gd name="adj" fmla="val 10294"/>
            </a:avLst>
          </a:prstGeom>
          <a:solidFill xmlns:a="http://schemas.openxmlformats.org/drawingml/2006/main">
            <a:srgbClr val="FFFFFF"/>
          </a:solidFill>
          <a:ln xmlns:a="http://schemas.openxmlformats.org/drawingml/2006/main" w="11430">
            <a:solidFill>
              <a:srgbClr val="3D8D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89F4ADEC-5178-4697-8EF2-A6770E94FFCD}"/>
              </a:ext>
            </a:extLst>
          </p:cNvPr>
          <p:cNvSpPr>
            <a:spLocks xmlns:a="http://schemas.openxmlformats.org/drawingml/2006/main" noGrp="1"/>
          </p:cNvSpPr>
          <p:nvPr/>
        </p:nvSpPr>
        <p:spPr>
          <a:xfrm xmlns:a="http://schemas.openxmlformats.org/drawingml/2006/main">
            <a:off x="895350" y="23812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01828"/>
                </a:solidFill>
                <a:latin typeface="Arial"/>
                <a:ea typeface="Arial"/>
                <a:cs typeface="Arial"/>
              </a:defRPr>
            </a:pPr>
            <a:r>
              <a:rPr sz="1425" b="1">
                <a:solidFill>
                  <a:srgbClr val="101828"/>
                </a:solidFill>
                <a:latin typeface="Arial"/>
                <a:ea typeface="Arial"/>
                <a:cs typeface="Arial"/>
              </a:rPr>
              <a:t>Unity Catalog</a:t>
            </a:r>
          </a:p>
        </p:txBody>
      </p:sp>
      <p:sp>
        <p:nvSpPr>
          <p:cNvPr id="9" name="">
            <a:extLst xmlns:a="http://schemas.openxmlformats.org/drawingml/2006/main">
              <a:ext uri="{FF2B5EF4-FFF2-40B4-BE49-F238E27FC236}">
                <a16:creationId xmlns:a16="http://schemas.microsoft.com/office/drawing/2014/main" id="{02EC06EE-A73D-4471-BA9E-6792635B1B42}"/>
              </a:ext>
            </a:extLst>
          </p:cNvPr>
          <p:cNvSpPr>
            <a:spLocks xmlns:a="http://schemas.openxmlformats.org/drawingml/2006/main" noGrp="1"/>
          </p:cNvSpPr>
          <p:nvPr/>
        </p:nvSpPr>
        <p:spPr>
          <a:xfrm xmlns:a="http://schemas.openxmlformats.org/drawingml/2006/main">
            <a:off x="895350" y="2695575"/>
            <a:ext cx="1238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External table metadata</a:t>
            </a:r>
          </a:p>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and governance</a:t>
            </a:r>
          </a:p>
        </p:txBody>
      </p:sp>
      <p:sp>
        <p:nvSpPr>
          <p:cNvPr id="10" name="">
            <a:extLst xmlns:a="http://schemas.openxmlformats.org/drawingml/2006/main">
              <a:ext uri="{FF2B5EF4-FFF2-40B4-BE49-F238E27FC236}">
                <a16:creationId xmlns:a16="http://schemas.microsoft.com/office/drawing/2014/main" id="{7E17E29F-456C-4064-A18F-C64FCE417B68}"/>
              </a:ext>
            </a:extLst>
          </p:cNvPr>
          <p:cNvSpPr>
            <a:spLocks xmlns:a="http://schemas.openxmlformats.org/drawingml/2006/main" noGrp="1"/>
          </p:cNvSpPr>
          <p:nvPr/>
        </p:nvSpPr>
        <p:spPr>
          <a:xfrm xmlns:a="http://schemas.openxmlformats.org/drawingml/2006/main">
            <a:off x="2914650" y="2286000"/>
            <a:ext cx="1295400" cy="1295400"/>
          </a:xfrm>
          <a:prstGeom xmlns:a="http://schemas.openxmlformats.org/drawingml/2006/main" prst="roundRect">
            <a:avLst>
              <a:gd name="adj" fmla="val 10294"/>
            </a:avLst>
          </a:prstGeom>
          <a:solidFill xmlns:a="http://schemas.openxmlformats.org/drawingml/2006/main">
            <a:srgbClr val="FFFFFF"/>
          </a:solidFill>
          <a:ln xmlns:a="http://schemas.openxmlformats.org/drawingml/2006/main" w="11430">
            <a:solidFill>
              <a:srgbClr val="3D8D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9E7E40EE-E721-408B-95CD-AAED7B96ABCC}"/>
              </a:ext>
            </a:extLst>
          </p:cNvPr>
          <p:cNvSpPr>
            <a:spLocks xmlns:a="http://schemas.openxmlformats.org/drawingml/2006/main" noGrp="1"/>
          </p:cNvSpPr>
          <p:nvPr/>
        </p:nvSpPr>
        <p:spPr>
          <a:xfrm xmlns:a="http://schemas.openxmlformats.org/drawingml/2006/main">
            <a:off x="3028950" y="238125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5732"/>
          </a:bodyPr>
          <a:lstStyle xmlns:a="http://schemas.openxmlformats.org/drawingml/2006/main"/>
          <a:p xmlns:a="http://schemas.openxmlformats.org/drawingml/2006/main">
            <a:pPr algn="ctr">
              <a:defRPr sz="1275" b="1">
                <a:solidFill>
                  <a:srgbClr val="101828"/>
                </a:solidFill>
                <a:latin typeface="Arial"/>
                <a:ea typeface="Arial"/>
                <a:cs typeface="Arial"/>
              </a:defRPr>
            </a:pPr>
            <a:r>
              <a:rPr sz="1275" b="1">
                <a:solidFill>
                  <a:srgbClr val="101828"/>
                </a:solidFill>
                <a:latin typeface="Arial"/>
                <a:ea typeface="Arial"/>
                <a:cs typeface="Arial"/>
              </a:rPr>
              <a:t>Storage credential</a:t>
            </a:r>
          </a:p>
        </p:txBody>
      </p:sp>
      <p:sp>
        <p:nvSpPr>
          <p:cNvPr id="12" name="">
            <a:extLst xmlns:a="http://schemas.openxmlformats.org/drawingml/2006/main">
              <a:ext uri="{FF2B5EF4-FFF2-40B4-BE49-F238E27FC236}">
                <a16:creationId xmlns:a16="http://schemas.microsoft.com/office/drawing/2014/main" id="{D23F5F69-DD11-4A11-889A-247C081BE5CB}"/>
              </a:ext>
            </a:extLst>
          </p:cNvPr>
          <p:cNvSpPr>
            <a:spLocks xmlns:a="http://schemas.openxmlformats.org/drawingml/2006/main" noGrp="1"/>
          </p:cNvSpPr>
          <p:nvPr/>
        </p:nvSpPr>
        <p:spPr>
          <a:xfrm xmlns:a="http://schemas.openxmlformats.org/drawingml/2006/main">
            <a:off x="3028950" y="2695575"/>
            <a:ext cx="1066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0">
                <a:solidFill>
                  <a:srgbClr val="667085"/>
                </a:solidFill>
                <a:latin typeface="Arial"/>
                <a:ea typeface="Arial"/>
                <a:cs typeface="Arial"/>
              </a:defRPr>
            </a:pPr>
            <a:r>
              <a:rPr sz="1050" b="0">
                <a:solidFill>
                  <a:srgbClr val="667085"/>
                </a:solidFill>
                <a:latin typeface="Arial"/>
                <a:ea typeface="Arial"/>
                <a:cs typeface="Arial"/>
              </a:rPr>
              <a:t>Service principal</a:t>
            </a:r>
          </a:p>
          <a:p xmlns:a="http://schemas.openxmlformats.org/drawingml/2006/main">
            <a:pPr algn="ctr">
              <a:defRPr sz="1050" b="0">
                <a:solidFill>
                  <a:srgbClr val="667085"/>
                </a:solidFill>
                <a:latin typeface="Arial"/>
                <a:ea typeface="Arial"/>
                <a:cs typeface="Arial"/>
              </a:defRPr>
            </a:pPr>
            <a:r>
              <a:rPr sz="1050" b="0">
                <a:solidFill>
                  <a:srgbClr val="667085"/>
                </a:solidFill>
                <a:latin typeface="Arial"/>
                <a:ea typeface="Arial"/>
                <a:cs typeface="Arial"/>
              </a:rPr>
              <a:t>or managed identity</a:t>
            </a:r>
          </a:p>
        </p:txBody>
      </p:sp>
      <p:sp>
        <p:nvSpPr>
          <p:cNvPr id="13" name="">
            <a:extLst xmlns:a="http://schemas.openxmlformats.org/drawingml/2006/main">
              <a:ext uri="{FF2B5EF4-FFF2-40B4-BE49-F238E27FC236}">
                <a16:creationId xmlns:a16="http://schemas.microsoft.com/office/drawing/2014/main" id="{52BCD3AB-3E9A-4A95-B36B-02BED9C4C54E}"/>
              </a:ext>
            </a:extLst>
          </p:cNvPr>
          <p:cNvSpPr>
            <a:spLocks xmlns:a="http://schemas.openxmlformats.org/drawingml/2006/main" noGrp="1"/>
          </p:cNvSpPr>
          <p:nvPr/>
        </p:nvSpPr>
        <p:spPr>
          <a:xfrm xmlns:a="http://schemas.openxmlformats.org/drawingml/2006/main">
            <a:off x="4876800" y="2286000"/>
            <a:ext cx="723900" cy="1295400"/>
          </a:xfrm>
          <a:prstGeom xmlns:a="http://schemas.openxmlformats.org/drawingml/2006/main" prst="roundRect">
            <a:avLst>
              <a:gd name="adj" fmla="val 18421"/>
            </a:avLst>
          </a:prstGeom>
          <a:solidFill xmlns:a="http://schemas.openxmlformats.org/drawingml/2006/main">
            <a:srgbClr val="FFFFFF"/>
          </a:solidFill>
          <a:ln xmlns:a="http://schemas.openxmlformats.org/drawingml/2006/main" w="11430">
            <a:solidFill>
              <a:srgbClr val="3D8D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B1A69D90-BEFF-49CC-BAF8-4FE1A25E9A7C}"/>
              </a:ext>
            </a:extLst>
          </p:cNvPr>
          <p:cNvSpPr>
            <a:spLocks xmlns:a="http://schemas.openxmlformats.org/drawingml/2006/main" noGrp="1"/>
          </p:cNvSpPr>
          <p:nvPr/>
        </p:nvSpPr>
        <p:spPr>
          <a:xfrm xmlns:a="http://schemas.openxmlformats.org/drawingml/2006/main">
            <a:off x="4991100" y="23812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01828"/>
                </a:solidFill>
                <a:latin typeface="Arial"/>
                <a:ea typeface="Arial"/>
                <a:cs typeface="Arial"/>
              </a:defRPr>
            </a:pPr>
            <a:r>
              <a:rPr sz="1425" b="1">
                <a:solidFill>
                  <a:srgbClr val="101828"/>
                </a:solidFill>
                <a:latin typeface="Arial"/>
                <a:ea typeface="Arial"/>
                <a:cs typeface="Arial"/>
              </a:rPr>
              <a:t>ADLS</a:t>
            </a:r>
          </a:p>
        </p:txBody>
      </p:sp>
      <p:sp>
        <p:nvSpPr>
          <p:cNvPr id="15" name="">
            <a:extLst xmlns:a="http://schemas.openxmlformats.org/drawingml/2006/main">
              <a:ext uri="{FF2B5EF4-FFF2-40B4-BE49-F238E27FC236}">
                <a16:creationId xmlns:a16="http://schemas.microsoft.com/office/drawing/2014/main" id="{DCE1EB3A-31A2-4B3A-A68F-E94D7A776199}"/>
              </a:ext>
            </a:extLst>
          </p:cNvPr>
          <p:cNvSpPr>
            <a:spLocks xmlns:a="http://schemas.openxmlformats.org/drawingml/2006/main" noGrp="1"/>
          </p:cNvSpPr>
          <p:nvPr/>
        </p:nvSpPr>
        <p:spPr>
          <a:xfrm xmlns:a="http://schemas.openxmlformats.org/drawingml/2006/main">
            <a:off x="4991100" y="2695575"/>
            <a:ext cx="495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Delta</a:t>
            </a:r>
          </a:p>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files</a:t>
            </a:r>
          </a:p>
        </p:txBody>
      </p:sp>
      <p:sp>
        <p:nvSpPr>
          <p:cNvPr id="16" name="">
            <a:extLst xmlns:a="http://schemas.openxmlformats.org/drawingml/2006/main">
              <a:ext uri="{FF2B5EF4-FFF2-40B4-BE49-F238E27FC236}">
                <a16:creationId xmlns:a16="http://schemas.microsoft.com/office/drawing/2014/main" id="{0FA8A2C8-4076-48B5-A497-604C5ECC4ADB}"/>
              </a:ext>
            </a:extLst>
          </p:cNvPr>
          <p:cNvSpPr>
            <a:spLocks xmlns:a="http://schemas.openxmlformats.org/drawingml/2006/main" noGrp="1"/>
          </p:cNvSpPr>
          <p:nvPr/>
        </p:nvSpPr>
        <p:spPr>
          <a:xfrm xmlns:a="http://schemas.openxmlformats.org/drawingml/2006/main">
            <a:off x="781050" y="39433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Purpose</a:t>
            </a:r>
          </a:p>
        </p:txBody>
      </p:sp>
      <p:sp>
        <p:nvSpPr>
          <p:cNvPr id="17" name="">
            <a:extLst xmlns:a="http://schemas.openxmlformats.org/drawingml/2006/main">
              <a:ext uri="{FF2B5EF4-FFF2-40B4-BE49-F238E27FC236}">
                <a16:creationId xmlns:a16="http://schemas.microsoft.com/office/drawing/2014/main" id="{CD9B98B8-7F08-4635-BC80-3D2EFCDFE478}"/>
              </a:ext>
            </a:extLst>
          </p:cNvPr>
          <p:cNvSpPr>
            <a:spLocks xmlns:a="http://schemas.openxmlformats.org/drawingml/2006/main" noGrp="1"/>
          </p:cNvSpPr>
          <p:nvPr/>
        </p:nvSpPr>
        <p:spPr>
          <a:xfrm xmlns:a="http://schemas.openxmlformats.org/drawingml/2006/main">
            <a:off x="781050" y="4238625"/>
            <a:ext cx="457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01828"/>
                </a:solidFill>
                <a:latin typeface="Arial"/>
                <a:ea typeface="Arial"/>
                <a:cs typeface="Arial"/>
              </a:defRPr>
            </a:pPr>
            <a:r>
              <a:rPr sz="1500" b="0">
                <a:solidFill>
                  <a:srgbClr val="101828"/>
                </a:solidFill>
                <a:latin typeface="Arial"/>
                <a:ea typeface="Arial"/>
                <a:cs typeface="Arial"/>
              </a:rPr>
              <a:t>Authorize Unity Catalog’s access to a registered cloud-storage path.</a:t>
            </a:r>
          </a:p>
        </p:txBody>
      </p:sp>
      <p:sp>
        <p:nvSpPr>
          <p:cNvPr id="18" name="">
            <a:extLst xmlns:a="http://schemas.openxmlformats.org/drawingml/2006/main">
              <a:ext uri="{FF2B5EF4-FFF2-40B4-BE49-F238E27FC236}">
                <a16:creationId xmlns:a16="http://schemas.microsoft.com/office/drawing/2014/main" id="{D7388242-C99B-4AB0-824B-76256AF1EC8D}"/>
              </a:ext>
            </a:extLst>
          </p:cNvPr>
          <p:cNvSpPr>
            <a:spLocks xmlns:a="http://schemas.openxmlformats.org/drawingml/2006/main" noGrp="1"/>
          </p:cNvSpPr>
          <p:nvPr/>
        </p:nvSpPr>
        <p:spPr>
          <a:xfrm xmlns:a="http://schemas.openxmlformats.org/drawingml/2006/main">
            <a:off x="6248400" y="1428750"/>
            <a:ext cx="5391150" cy="4248150"/>
          </a:xfrm>
          <a:prstGeom xmlns:a="http://schemas.openxmlformats.org/drawingml/2006/main" prst="roundRect">
            <a:avLst>
              <a:gd name="adj" fmla="val 4036"/>
            </a:avLst>
          </a:prstGeom>
          <a:solidFill xmlns:a="http://schemas.openxmlformats.org/drawingml/2006/main">
            <a:srgbClr val="FFF4D6"/>
          </a:solidFill>
          <a:ln xmlns:a="http://schemas.openxmlformats.org/drawingml/2006/main" w="11430">
            <a:solidFill>
              <a:srgbClr val="D18B00"/>
            </a:solidFill>
            <a:prstDash val="solid"/>
          </a:ln>
        </p:spPr>
      </p:sp>
      <p:sp>
        <p:nvSpPr>
          <p:cNvPr id="19" name="">
            <a:extLst xmlns:a="http://schemas.openxmlformats.org/drawingml/2006/main">
              <a:ext uri="{FF2B5EF4-FFF2-40B4-BE49-F238E27FC236}">
                <a16:creationId xmlns:a16="http://schemas.microsoft.com/office/drawing/2014/main" id="{33F24C40-9C1B-47F9-8158-FF69ACAA1D82}"/>
              </a:ext>
            </a:extLst>
          </p:cNvPr>
          <p:cNvSpPr>
            <a:spLocks xmlns:a="http://schemas.openxmlformats.org/drawingml/2006/main" noGrp="1"/>
          </p:cNvSpPr>
          <p:nvPr/>
        </p:nvSpPr>
        <p:spPr>
          <a:xfrm xmlns:a="http://schemas.openxmlformats.org/drawingml/2006/main">
            <a:off x="6496050" y="16573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D18B00"/>
                </a:solidFill>
                <a:latin typeface="Arial"/>
                <a:ea typeface="Arial"/>
                <a:cs typeface="Arial"/>
              </a:defRPr>
            </a:pPr>
            <a:r>
              <a:rPr sz="1050" b="1">
                <a:solidFill>
                  <a:srgbClr val="D18B00"/>
                </a:solidFill>
                <a:latin typeface="Arial"/>
                <a:ea typeface="Arial"/>
                <a:cs typeface="Arial"/>
              </a:rPr>
              <a:t>QUERY PLANE — OPEN ARCHITECTURE DECISION</a:t>
            </a:r>
          </a:p>
        </p:txBody>
      </p:sp>
      <p:sp>
        <p:nvSpPr>
          <p:cNvPr id="20" name="">
            <a:extLst xmlns:a="http://schemas.openxmlformats.org/drawingml/2006/main">
              <a:ext uri="{FF2B5EF4-FFF2-40B4-BE49-F238E27FC236}">
                <a16:creationId xmlns:a16="http://schemas.microsoft.com/office/drawing/2014/main" id="{7BCF2150-5AC4-49C6-BFD6-BB3CB3A394AD}"/>
              </a:ext>
            </a:extLst>
          </p:cNvPr>
          <p:cNvSpPr>
            <a:spLocks xmlns:a="http://schemas.openxmlformats.org/drawingml/2006/main" noGrp="1"/>
          </p:cNvSpPr>
          <p:nvPr/>
        </p:nvSpPr>
        <p:spPr>
          <a:xfrm xmlns:a="http://schemas.openxmlformats.org/drawingml/2006/main">
            <a:off x="6496050" y="2247900"/>
            <a:ext cx="1238250" cy="1352550"/>
          </a:xfrm>
          <a:prstGeom xmlns:a="http://schemas.openxmlformats.org/drawingml/2006/main" prst="roundRect">
            <a:avLst>
              <a:gd name="adj" fmla="val 10769"/>
            </a:avLst>
          </a:prstGeom>
          <a:solidFill xmlns:a="http://schemas.openxmlformats.org/drawingml/2006/main">
            <a:srgbClr val="FFFFFF"/>
          </a:solidFill>
          <a:ln xmlns:a="http://schemas.openxmlformats.org/drawingml/2006/main" w="11430">
            <a:solidFill>
              <a:srgbClr val="D18B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703591A8-F74B-4CA3-8DC8-12E34C8D73CB}"/>
              </a:ext>
            </a:extLst>
          </p:cNvPr>
          <p:cNvSpPr>
            <a:spLocks xmlns:a="http://schemas.openxmlformats.org/drawingml/2006/main" noGrp="1"/>
          </p:cNvSpPr>
          <p:nvPr/>
        </p:nvSpPr>
        <p:spPr>
          <a:xfrm xmlns:a="http://schemas.openxmlformats.org/drawingml/2006/main">
            <a:off x="6610350" y="2343150"/>
            <a:ext cx="100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01828"/>
                </a:solidFill>
                <a:latin typeface="Arial"/>
                <a:ea typeface="Arial"/>
                <a:cs typeface="Arial"/>
              </a:defRPr>
            </a:pPr>
            <a:r>
              <a:rPr sz="1425" b="1">
                <a:solidFill>
                  <a:srgbClr val="101828"/>
                </a:solidFill>
                <a:latin typeface="Arial"/>
                <a:ea typeface="Arial"/>
                <a:cs typeface="Arial"/>
              </a:rPr>
              <a:t>Employee</a:t>
            </a:r>
          </a:p>
        </p:txBody>
      </p:sp>
      <p:sp>
        <p:nvSpPr>
          <p:cNvPr id="22" name="">
            <a:extLst xmlns:a="http://schemas.openxmlformats.org/drawingml/2006/main">
              <a:ext uri="{FF2B5EF4-FFF2-40B4-BE49-F238E27FC236}">
                <a16:creationId xmlns:a16="http://schemas.microsoft.com/office/drawing/2014/main" id="{6FCE6037-45C6-486A-838F-2CED345997A6}"/>
              </a:ext>
            </a:extLst>
          </p:cNvPr>
          <p:cNvSpPr>
            <a:spLocks xmlns:a="http://schemas.openxmlformats.org/drawingml/2006/main" noGrp="1"/>
          </p:cNvSpPr>
          <p:nvPr/>
        </p:nvSpPr>
        <p:spPr>
          <a:xfrm xmlns:a="http://schemas.openxmlformats.org/drawingml/2006/main">
            <a:off x="6610350" y="2657475"/>
            <a:ext cx="10096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0">
                <a:solidFill>
                  <a:srgbClr val="667085"/>
                </a:solidFill>
                <a:latin typeface="Arial"/>
                <a:ea typeface="Arial"/>
                <a:cs typeface="Arial"/>
              </a:defRPr>
            </a:pPr>
            <a:r>
              <a:rPr sz="1050" b="0">
                <a:solidFill>
                  <a:srgbClr val="667085"/>
                </a:solidFill>
                <a:latin typeface="Arial"/>
                <a:ea typeface="Arial"/>
                <a:cs typeface="Arial"/>
              </a:rPr>
              <a:t>User A or User B</a:t>
            </a:r>
          </a:p>
          <a:p xmlns:a="http://schemas.openxmlformats.org/drawingml/2006/main">
            <a:pPr algn="ctr">
              <a:defRPr sz="1050" b="0">
                <a:solidFill>
                  <a:srgbClr val="667085"/>
                </a:solidFill>
                <a:latin typeface="Arial"/>
                <a:ea typeface="Arial"/>
                <a:cs typeface="Arial"/>
              </a:defRPr>
            </a:pPr>
            <a:r>
              <a:rPr sz="1050" b="0">
                <a:solidFill>
                  <a:srgbClr val="667085"/>
                </a:solidFill>
                <a:latin typeface="Arial"/>
                <a:ea typeface="Arial"/>
                <a:cs typeface="Arial"/>
              </a:rPr>
              <a:t>with distinct scope</a:t>
            </a:r>
          </a:p>
        </p:txBody>
      </p:sp>
      <p:sp>
        <p:nvSpPr>
          <p:cNvPr id="23" name="">
            <a:extLst xmlns:a="http://schemas.openxmlformats.org/drawingml/2006/main">
              <a:ext uri="{FF2B5EF4-FFF2-40B4-BE49-F238E27FC236}">
                <a16:creationId xmlns:a16="http://schemas.microsoft.com/office/drawing/2014/main" id="{2D7D6BE3-71EF-40D0-9DE3-EC3DC1CF099D}"/>
              </a:ext>
            </a:extLst>
          </p:cNvPr>
          <p:cNvSpPr>
            <a:spLocks xmlns:a="http://schemas.openxmlformats.org/drawingml/2006/main" noGrp="1"/>
          </p:cNvSpPr>
          <p:nvPr/>
        </p:nvSpPr>
        <p:spPr>
          <a:xfrm xmlns:a="http://schemas.openxmlformats.org/drawingml/2006/main">
            <a:off x="7715250" y="2800350"/>
            <a:ext cx="552450" cy="266700"/>
          </a:xfrm>
          <a:prstGeom xmlns:a="http://schemas.openxmlformats.org/drawingml/2006/main" prst="rightArrow">
            <a:avLst/>
          </a:prstGeom>
          <a:solidFill xmlns:a="http://schemas.openxmlformats.org/drawingml/2006/main">
            <a:srgbClr val="D18B00"/>
          </a:solidFill>
          <a:ln xmlns:a="http://schemas.openxmlformats.org/drawingml/2006/main" w="4763">
            <a:solidFill>
              <a:srgbClr val="D18B00"/>
            </a:solidFill>
            <a:prstDash val="solid"/>
          </a:ln>
        </p:spPr>
      </p:sp>
      <p:sp>
        <p:nvSpPr>
          <p:cNvPr id="24" name="">
            <a:extLst xmlns:a="http://schemas.openxmlformats.org/drawingml/2006/main">
              <a:ext uri="{FF2B5EF4-FFF2-40B4-BE49-F238E27FC236}">
                <a16:creationId xmlns:a16="http://schemas.microsoft.com/office/drawing/2014/main" id="{43C24AD8-3D4D-4824-9899-94A3C03FEFE6}"/>
              </a:ext>
            </a:extLst>
          </p:cNvPr>
          <p:cNvSpPr>
            <a:spLocks xmlns:a="http://schemas.openxmlformats.org/drawingml/2006/main" noGrp="1"/>
          </p:cNvSpPr>
          <p:nvPr/>
        </p:nvSpPr>
        <p:spPr>
          <a:xfrm xmlns:a="http://schemas.openxmlformats.org/drawingml/2006/main">
            <a:off x="8248650" y="2247900"/>
            <a:ext cx="1276350" cy="1352550"/>
          </a:xfrm>
          <a:prstGeom xmlns:a="http://schemas.openxmlformats.org/drawingml/2006/main" prst="roundRect">
            <a:avLst>
              <a:gd name="adj" fmla="val 10448"/>
            </a:avLst>
          </a:prstGeom>
          <a:solidFill xmlns:a="http://schemas.openxmlformats.org/drawingml/2006/main">
            <a:srgbClr val="FFFFFF"/>
          </a:solidFill>
          <a:ln xmlns:a="http://schemas.openxmlformats.org/drawingml/2006/main" w="11430">
            <a:solidFill>
              <a:srgbClr val="D18B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4762F09C-5C6E-4D93-8A18-826B4486A692}"/>
              </a:ext>
            </a:extLst>
          </p:cNvPr>
          <p:cNvSpPr>
            <a:spLocks xmlns:a="http://schemas.openxmlformats.org/drawingml/2006/main" noGrp="1"/>
          </p:cNvSpPr>
          <p:nvPr/>
        </p:nvSpPr>
        <p:spPr>
          <a:xfrm xmlns:a="http://schemas.openxmlformats.org/drawingml/2006/main">
            <a:off x="8362950" y="23431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01828"/>
                </a:solidFill>
                <a:latin typeface="Arial"/>
                <a:ea typeface="Arial"/>
                <a:cs typeface="Arial"/>
              </a:defRPr>
            </a:pPr>
            <a:r>
              <a:rPr sz="1425" b="1">
                <a:solidFill>
                  <a:srgbClr val="101828"/>
                </a:solidFill>
                <a:latin typeface="Arial"/>
                <a:ea typeface="Arial"/>
                <a:cs typeface="Arial"/>
              </a:rPr>
              <a:t>AskAlpha</a:t>
            </a:r>
          </a:p>
        </p:txBody>
      </p:sp>
      <p:sp>
        <p:nvSpPr>
          <p:cNvPr id="26" name="">
            <a:extLst xmlns:a="http://schemas.openxmlformats.org/drawingml/2006/main">
              <a:ext uri="{FF2B5EF4-FFF2-40B4-BE49-F238E27FC236}">
                <a16:creationId xmlns:a16="http://schemas.microsoft.com/office/drawing/2014/main" id="{4627DF16-B3D5-42B2-ADF9-1648685DCFE0}"/>
              </a:ext>
            </a:extLst>
          </p:cNvPr>
          <p:cNvSpPr>
            <a:spLocks xmlns:a="http://schemas.openxmlformats.org/drawingml/2006/main" noGrp="1"/>
          </p:cNvSpPr>
          <p:nvPr/>
        </p:nvSpPr>
        <p:spPr>
          <a:xfrm xmlns:a="http://schemas.openxmlformats.org/drawingml/2006/main">
            <a:off x="8362950" y="2657475"/>
            <a:ext cx="1047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0">
                <a:solidFill>
                  <a:srgbClr val="667085"/>
                </a:solidFill>
                <a:latin typeface="Arial"/>
                <a:ea typeface="Arial"/>
                <a:cs typeface="Arial"/>
              </a:defRPr>
            </a:pPr>
            <a:r>
              <a:rPr sz="1050" b="0">
                <a:solidFill>
                  <a:srgbClr val="667085"/>
                </a:solidFill>
                <a:latin typeface="Arial"/>
                <a:ea typeface="Arial"/>
                <a:cs typeface="Arial"/>
              </a:rPr>
              <a:t>Application identity</a:t>
            </a:r>
          </a:p>
          <a:p xmlns:a="http://schemas.openxmlformats.org/drawingml/2006/main">
            <a:pPr algn="ctr">
              <a:defRPr sz="1050" b="0">
                <a:solidFill>
                  <a:srgbClr val="667085"/>
                </a:solidFill>
                <a:latin typeface="Arial"/>
                <a:ea typeface="Arial"/>
                <a:cs typeface="Arial"/>
              </a:defRPr>
            </a:pPr>
            <a:r>
              <a:rPr sz="1050" b="0">
                <a:solidFill>
                  <a:srgbClr val="667085"/>
                </a:solidFill>
                <a:latin typeface="Arial"/>
                <a:ea typeface="Arial"/>
                <a:cs typeface="Arial"/>
              </a:rPr>
              <a:t>submits SQL</a:t>
            </a:r>
          </a:p>
        </p:txBody>
      </p:sp>
      <p:sp>
        <p:nvSpPr>
          <p:cNvPr id="27" name="">
            <a:extLst xmlns:a="http://schemas.openxmlformats.org/drawingml/2006/main">
              <a:ext uri="{FF2B5EF4-FFF2-40B4-BE49-F238E27FC236}">
                <a16:creationId xmlns:a16="http://schemas.microsoft.com/office/drawing/2014/main" id="{50729635-F69A-420D-AAFA-70CD051F6359}"/>
              </a:ext>
            </a:extLst>
          </p:cNvPr>
          <p:cNvSpPr>
            <a:spLocks xmlns:a="http://schemas.openxmlformats.org/drawingml/2006/main" noGrp="1"/>
          </p:cNvSpPr>
          <p:nvPr/>
        </p:nvSpPr>
        <p:spPr>
          <a:xfrm xmlns:a="http://schemas.openxmlformats.org/drawingml/2006/main">
            <a:off x="9505950" y="2800350"/>
            <a:ext cx="552450" cy="266700"/>
          </a:xfrm>
          <a:prstGeom xmlns:a="http://schemas.openxmlformats.org/drawingml/2006/main" prst="rightArrow">
            <a:avLst/>
          </a:prstGeom>
          <a:solidFill xmlns:a="http://schemas.openxmlformats.org/drawingml/2006/main">
            <a:srgbClr val="D18B00"/>
          </a:solidFill>
          <a:ln xmlns:a="http://schemas.openxmlformats.org/drawingml/2006/main" w="4763">
            <a:solidFill>
              <a:srgbClr val="D18B00"/>
            </a:solidFill>
            <a:prstDash val="solid"/>
          </a:ln>
        </p:spPr>
      </p:sp>
      <p:sp>
        <p:nvSpPr>
          <p:cNvPr id="28" name="">
            <a:extLst xmlns:a="http://schemas.openxmlformats.org/drawingml/2006/main">
              <a:ext uri="{FF2B5EF4-FFF2-40B4-BE49-F238E27FC236}">
                <a16:creationId xmlns:a16="http://schemas.microsoft.com/office/drawing/2014/main" id="{F9D33A0B-FA45-4618-9153-E931D5C846C0}"/>
              </a:ext>
            </a:extLst>
          </p:cNvPr>
          <p:cNvSpPr>
            <a:spLocks xmlns:a="http://schemas.openxmlformats.org/drawingml/2006/main" noGrp="1"/>
          </p:cNvSpPr>
          <p:nvPr/>
        </p:nvSpPr>
        <p:spPr>
          <a:xfrm xmlns:a="http://schemas.openxmlformats.org/drawingml/2006/main">
            <a:off x="10039350" y="2247900"/>
            <a:ext cx="135255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11430">
            <a:solidFill>
              <a:srgbClr val="B4231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
            <a:extLst xmlns:a="http://schemas.openxmlformats.org/drawingml/2006/main">
              <a:ext uri="{FF2B5EF4-FFF2-40B4-BE49-F238E27FC236}">
                <a16:creationId xmlns:a16="http://schemas.microsoft.com/office/drawing/2014/main" id="{54AD1859-A39A-4C69-93AF-84E7332AF769}"/>
              </a:ext>
            </a:extLst>
          </p:cNvPr>
          <p:cNvSpPr>
            <a:spLocks xmlns:a="http://schemas.openxmlformats.org/drawingml/2006/main" noGrp="1"/>
          </p:cNvSpPr>
          <p:nvPr/>
        </p:nvSpPr>
        <p:spPr>
          <a:xfrm xmlns:a="http://schemas.openxmlformats.org/drawingml/2006/main">
            <a:off x="10153650" y="23431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01828"/>
                </a:solidFill>
                <a:latin typeface="Arial"/>
                <a:ea typeface="Arial"/>
                <a:cs typeface="Arial"/>
              </a:defRPr>
            </a:pPr>
            <a:r>
              <a:rPr sz="1350" b="1">
                <a:solidFill>
                  <a:srgbClr val="101828"/>
                </a:solidFill>
                <a:latin typeface="Arial"/>
                <a:ea typeface="Arial"/>
                <a:cs typeface="Arial"/>
              </a:rPr>
              <a:t>Unity policies</a:t>
            </a:r>
          </a:p>
        </p:txBody>
      </p:sp>
      <p:sp>
        <p:nvSpPr>
          <p:cNvPr id="30" name="">
            <a:extLst xmlns:a="http://schemas.openxmlformats.org/drawingml/2006/main">
              <a:ext uri="{FF2B5EF4-FFF2-40B4-BE49-F238E27FC236}">
                <a16:creationId xmlns:a16="http://schemas.microsoft.com/office/drawing/2014/main" id="{57804854-B0FF-4471-9D0F-BD9CDF43B08C}"/>
              </a:ext>
            </a:extLst>
          </p:cNvPr>
          <p:cNvSpPr>
            <a:spLocks xmlns:a="http://schemas.openxmlformats.org/drawingml/2006/main" noGrp="1"/>
          </p:cNvSpPr>
          <p:nvPr/>
        </p:nvSpPr>
        <p:spPr>
          <a:xfrm xmlns:a="http://schemas.openxmlformats.org/drawingml/2006/main">
            <a:off x="10153650" y="2657475"/>
            <a:ext cx="11239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Whose identity</a:t>
            </a:r>
          </a:p>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is evaluated?</a:t>
            </a:r>
          </a:p>
        </p:txBody>
      </p:sp>
      <p:sp>
        <p:nvSpPr>
          <p:cNvPr id="31" name="">
            <a:extLst xmlns:a="http://schemas.openxmlformats.org/drawingml/2006/main">
              <a:ext uri="{FF2B5EF4-FFF2-40B4-BE49-F238E27FC236}">
                <a16:creationId xmlns:a16="http://schemas.microsoft.com/office/drawing/2014/main" id="{60A2868E-E9B4-4867-A9D5-4748E927A256}"/>
              </a:ext>
            </a:extLst>
          </p:cNvPr>
          <p:cNvSpPr>
            <a:spLocks xmlns:a="http://schemas.openxmlformats.org/drawingml/2006/main" noGrp="1"/>
          </p:cNvSpPr>
          <p:nvPr/>
        </p:nvSpPr>
        <p:spPr>
          <a:xfrm xmlns:a="http://schemas.openxmlformats.org/drawingml/2006/main">
            <a:off x="6496050" y="39433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D18B00"/>
                </a:solidFill>
                <a:latin typeface="Arial"/>
                <a:ea typeface="Arial"/>
                <a:cs typeface="Arial"/>
              </a:defRPr>
            </a:pPr>
            <a:r>
              <a:rPr sz="1200" b="1">
                <a:solidFill>
                  <a:srgbClr val="D18B00"/>
                </a:solidFill>
                <a:latin typeface="Arial"/>
                <a:ea typeface="Arial"/>
                <a:cs typeface="Arial"/>
              </a:rPr>
              <a:t>Decision needed</a:t>
            </a:r>
          </a:p>
        </p:txBody>
      </p:sp>
      <p:sp>
        <p:nvSpPr>
          <p:cNvPr id="32" name="">
            <a:extLst xmlns:a="http://schemas.openxmlformats.org/drawingml/2006/main">
              <a:ext uri="{FF2B5EF4-FFF2-40B4-BE49-F238E27FC236}">
                <a16:creationId xmlns:a16="http://schemas.microsoft.com/office/drawing/2014/main" id="{5E3ABD4B-8465-4185-9AC4-E00F6E09CFB2}"/>
              </a:ext>
            </a:extLst>
          </p:cNvPr>
          <p:cNvSpPr>
            <a:spLocks xmlns:a="http://schemas.openxmlformats.org/drawingml/2006/main" noGrp="1"/>
          </p:cNvSpPr>
          <p:nvPr/>
        </p:nvSpPr>
        <p:spPr>
          <a:xfrm xmlns:a="http://schemas.openxmlformats.org/drawingml/2006/main">
            <a:off x="6496050" y="4238625"/>
            <a:ext cx="4648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01828"/>
                </a:solidFill>
                <a:latin typeface="Arial"/>
                <a:ea typeface="Arial"/>
                <a:cs typeface="Arial"/>
              </a:defRPr>
            </a:pPr>
            <a:r>
              <a:rPr sz="1500" b="0">
                <a:solidFill>
                  <a:srgbClr val="101828"/>
                </a:solidFill>
                <a:latin typeface="Arial"/>
                <a:ea typeface="Arial"/>
                <a:cs typeface="Arial"/>
              </a:rPr>
              <a:t>Define the approved user-context propagation and enforcement contract.</a:t>
            </a:r>
          </a:p>
        </p:txBody>
      </p:sp>
      <p:sp>
        <p:nvSpPr>
          <p:cNvPr id="33" name="">
            <a:extLst xmlns:a="http://schemas.openxmlformats.org/drawingml/2006/main">
              <a:ext uri="{FF2B5EF4-FFF2-40B4-BE49-F238E27FC236}">
                <a16:creationId xmlns:a16="http://schemas.microsoft.com/office/drawing/2014/main" id="{DF927E6B-6CF1-48D4-BC0D-657A36D6F631}"/>
              </a:ext>
            </a:extLst>
          </p:cNvPr>
          <p:cNvSpPr>
            <a:spLocks xmlns:a="http://schemas.openxmlformats.org/drawingml/2006/main" noGrp="1"/>
          </p:cNvSpPr>
          <p:nvPr/>
        </p:nvSpPr>
        <p:spPr>
          <a:xfrm xmlns:a="http://schemas.openxmlformats.org/drawingml/2006/main">
            <a:off x="1714500" y="5010150"/>
            <a:ext cx="8763000" cy="495300"/>
          </a:xfrm>
          <a:prstGeom xmlns:a="http://schemas.openxmlformats.org/drawingml/2006/main" prst="roundRect">
            <a:avLst>
              <a:gd name="adj" fmla="val 23077"/>
            </a:avLst>
          </a:prstGeom>
          <a:solidFill xmlns:a="http://schemas.openxmlformats.org/drawingml/2006/main">
            <a:srgbClr val="FEF3F2"/>
          </a:solidFill>
          <a:ln xmlns:a="http://schemas.openxmlformats.org/drawingml/2006/main" w="9525">
            <a:solidFill>
              <a:srgbClr val="B42318"/>
            </a:solidFill>
            <a:prstDash val="solid"/>
          </a:ln>
        </p:spPr>
      </p:sp>
      <p:sp>
        <p:nvSpPr>
          <p:cNvPr id="34" name="">
            <a:extLst xmlns:a="http://schemas.openxmlformats.org/drawingml/2006/main">
              <a:ext uri="{FF2B5EF4-FFF2-40B4-BE49-F238E27FC236}">
                <a16:creationId xmlns:a16="http://schemas.microsoft.com/office/drawing/2014/main" id="{1069CDA8-99D3-4C02-B83F-B9E7917648B6}"/>
              </a:ext>
            </a:extLst>
          </p:cNvPr>
          <p:cNvSpPr>
            <a:spLocks xmlns:a="http://schemas.openxmlformats.org/drawingml/2006/main" noGrp="1"/>
          </p:cNvSpPr>
          <p:nvPr/>
        </p:nvSpPr>
        <p:spPr>
          <a:xfrm xmlns:a="http://schemas.openxmlformats.org/drawingml/2006/main">
            <a:off x="1952625" y="5124450"/>
            <a:ext cx="828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B42318"/>
                </a:solidFill>
                <a:latin typeface="Arial"/>
                <a:ea typeface="Arial"/>
                <a:cs typeface="Arial"/>
              </a:defRPr>
            </a:pPr>
            <a:r>
              <a:rPr sz="1500" b="1">
                <a:solidFill>
                  <a:srgbClr val="B42318"/>
                </a:solidFill>
                <a:latin typeface="Arial"/>
                <a:ea typeface="Arial"/>
                <a:cs typeface="Arial"/>
              </a:rPr>
              <a:t>Do not treat the storage service principal as the employee authorization context.</a:t>
            </a:r>
          </a:p>
        </p:txBody>
      </p:sp>
      <p:sp>
        <p:nvSpPr>
          <p:cNvPr id="35" name="">
            <a:extLst xmlns:a="http://schemas.openxmlformats.org/drawingml/2006/main">
              <a:ext uri="{FF2B5EF4-FFF2-40B4-BE49-F238E27FC236}">
                <a16:creationId xmlns:a16="http://schemas.microsoft.com/office/drawing/2014/main" id="{523B56BA-85C1-44B9-A198-5CAC9CD4001A}"/>
              </a:ext>
            </a:extLst>
          </p:cNvPr>
          <p:cNvSpPr>
            <a:spLocks xmlns:a="http://schemas.openxmlformats.org/drawingml/2006/main" noGrp="1"/>
          </p:cNvSpPr>
          <p:nvPr/>
        </p:nvSpPr>
        <p:spPr>
          <a:xfrm xmlns:a="http://schemas.openxmlformats.org/drawingml/2006/main">
            <a:off x="514350" y="649605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900" b="0">
                <a:solidFill>
                  <a:srgbClr val="667085"/>
                </a:solidFill>
                <a:latin typeface="Arial"/>
                <a:ea typeface="Arial"/>
                <a:cs typeface="Arial"/>
              </a:defRPr>
            </a:pPr>
            <a:r>
              <a:rPr sz="900" b="0">
                <a:solidFill>
                  <a:srgbClr val="667085"/>
                </a:solidFill>
                <a:latin typeface="Arial"/>
                <a:ea typeface="Arial"/>
                <a:cs typeface="Arial"/>
              </a:rPr>
              <a:t>AskAlpha  |  Unity Catalog architecture review  |  Discussion draft</a:t>
            </a:r>
          </a:p>
        </p:txBody>
      </p:sp>
      <p:sp>
        <p:nvSpPr>
          <p:cNvPr id="36" name="">
            <a:extLst xmlns:a="http://schemas.openxmlformats.org/drawingml/2006/main">
              <a:ext uri="{FF2B5EF4-FFF2-40B4-BE49-F238E27FC236}">
                <a16:creationId xmlns:a16="http://schemas.microsoft.com/office/drawing/2014/main" id="{F546D66A-EB6E-48ED-B84B-AE6E2CB1B839}"/>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3</a:t>
            </a:r>
          </a:p>
        </p:txBody>
      </p:sp>
    </p:spTree>
    <p:extLst>
      <p:ext uri="{BB962C8B-B14F-4D97-AF65-F5344CB8AC3E}">
        <p14:creationId xmlns:p14="http://schemas.microsoft.com/office/powerpoint/2010/main" val="17582933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C210CEC5-899C-45D6-A579-EF319E37F47A}"/>
              </a:ext>
            </a:extLst>
          </p:cNvPr>
          <p:cNvSpPr>
            <a:spLocks xmlns:a="http://schemas.openxmlformats.org/drawingml/2006/main" noGrp="1"/>
          </p:cNvSpPr>
          <p:nvPr/>
        </p:nvSpPr>
        <p:spPr>
          <a:xfrm xmlns:a="http://schemas.openxmlformats.org/drawingml/2006/main">
            <a:off x="514350" y="285750"/>
            <a:ext cx="1114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101828"/>
                </a:solidFill>
                <a:latin typeface="Arial"/>
                <a:ea typeface="Arial"/>
                <a:cs typeface="Arial"/>
              </a:defRPr>
            </a:pPr>
            <a:r>
              <a:rPr sz="2700" b="1">
                <a:solidFill>
                  <a:srgbClr val="101828"/>
                </a:solidFill>
                <a:latin typeface="Arial"/>
                <a:ea typeface="Arial"/>
                <a:cs typeface="Arial"/>
              </a:rPr>
              <a:t>Compute choice can dominate AskAlpha response time</a:t>
            </a:r>
          </a:p>
        </p:txBody>
      </p:sp>
      <p:sp>
        <p:nvSpPr>
          <p:cNvPr id="2" name="">
            <a:extLst xmlns:a="http://schemas.openxmlformats.org/drawingml/2006/main">
              <a:ext uri="{FF2B5EF4-FFF2-40B4-BE49-F238E27FC236}">
                <a16:creationId xmlns:a16="http://schemas.microsoft.com/office/drawing/2014/main" id="{8824CB3F-8A4E-4C0C-9545-594AEC5B436D}"/>
              </a:ext>
            </a:extLst>
          </p:cNvPr>
          <p:cNvSpPr>
            <a:spLocks xmlns:a="http://schemas.openxmlformats.org/drawingml/2006/main" noGrp="1"/>
          </p:cNvSpPr>
          <p:nvPr/>
        </p:nvSpPr>
        <p:spPr>
          <a:xfrm xmlns:a="http://schemas.openxmlformats.org/drawingml/2006/main">
            <a:off x="533400" y="838200"/>
            <a:ext cx="1104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A conversational application cannot assume that batch or ad-hoc compute will meet an interactive SLA.</a:t>
            </a:r>
          </a:p>
        </p:txBody>
      </p:sp>
      <p:sp>
        <p:nvSpPr>
          <p:cNvPr id="3" name="">
            <a:extLst xmlns:a="http://schemas.openxmlformats.org/drawingml/2006/main">
              <a:ext uri="{FF2B5EF4-FFF2-40B4-BE49-F238E27FC236}">
                <a16:creationId xmlns:a16="http://schemas.microsoft.com/office/drawing/2014/main" id="{3205F1C9-541A-4293-8D69-F7118BA55E54}"/>
              </a:ext>
            </a:extLst>
          </p:cNvPr>
          <p:cNvSpPr>
            <a:spLocks xmlns:a="http://schemas.openxmlformats.org/drawingml/2006/main" noGrp="1"/>
          </p:cNvSpPr>
          <p:nvPr/>
        </p:nvSpPr>
        <p:spPr>
          <a:xfrm xmlns:a="http://schemas.openxmlformats.org/drawingml/2006/main">
            <a:off x="514350" y="1562100"/>
            <a:ext cx="3333750" cy="3886200"/>
          </a:xfrm>
          <a:prstGeom xmlns:a="http://schemas.openxmlformats.org/drawingml/2006/main" prst="roundRect">
            <a:avLst>
              <a:gd name="adj" fmla="val 5143"/>
            </a:avLst>
          </a:prstGeom>
          <a:solidFill xmlns:a="http://schemas.openxmlformats.org/drawingml/2006/main">
            <a:srgbClr val="FEF3F2"/>
          </a:solidFill>
          <a:ln xmlns:a="http://schemas.openxmlformats.org/drawingml/2006/main" w="11430">
            <a:solidFill>
              <a:srgbClr val="B42318"/>
            </a:solidFill>
            <a:prstDash val="solid"/>
          </a:ln>
        </p:spPr>
      </p:sp>
      <p:sp>
        <p:nvSpPr>
          <p:cNvPr id="4" name="">
            <a:extLst xmlns:a="http://schemas.openxmlformats.org/drawingml/2006/main">
              <a:ext uri="{FF2B5EF4-FFF2-40B4-BE49-F238E27FC236}">
                <a16:creationId xmlns:a16="http://schemas.microsoft.com/office/drawing/2014/main" id="{777AE270-2F64-41AA-B99D-1974547988B6}"/>
              </a:ext>
            </a:extLst>
          </p:cNvPr>
          <p:cNvSpPr>
            <a:spLocks xmlns:a="http://schemas.openxmlformats.org/drawingml/2006/main" noGrp="1"/>
          </p:cNvSpPr>
          <p:nvPr/>
        </p:nvSpPr>
        <p:spPr>
          <a:xfrm xmlns:a="http://schemas.openxmlformats.org/drawingml/2006/main">
            <a:off x="742950" y="1809750"/>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950" b="1">
                <a:solidFill>
                  <a:srgbClr val="B42318"/>
                </a:solidFill>
                <a:latin typeface="Arial"/>
                <a:ea typeface="Arial"/>
                <a:cs typeface="Arial"/>
              </a:defRPr>
            </a:pPr>
            <a:r>
              <a:rPr sz="1950" b="1">
                <a:solidFill>
                  <a:srgbClr val="B42318"/>
                </a:solidFill>
                <a:latin typeface="Arial"/>
                <a:ea typeface="Arial"/>
                <a:cs typeface="Arial"/>
              </a:rPr>
              <a:t>Job compute</a:t>
            </a:r>
          </a:p>
        </p:txBody>
      </p:sp>
      <p:sp>
        <p:nvSpPr>
          <p:cNvPr id="5" name="">
            <a:extLst xmlns:a="http://schemas.openxmlformats.org/drawingml/2006/main">
              <a:ext uri="{FF2B5EF4-FFF2-40B4-BE49-F238E27FC236}">
                <a16:creationId xmlns:a16="http://schemas.microsoft.com/office/drawing/2014/main" id="{1AFDCC09-71B7-4922-A84B-231E9E3FF372}"/>
              </a:ext>
            </a:extLst>
          </p:cNvPr>
          <p:cNvSpPr>
            <a:spLocks xmlns:a="http://schemas.openxmlformats.org/drawingml/2006/main" noGrp="1"/>
          </p:cNvSpPr>
          <p:nvPr/>
        </p:nvSpPr>
        <p:spPr>
          <a:xfrm xmlns:a="http://schemas.openxmlformats.org/drawingml/2006/main">
            <a:off x="742950" y="2209800"/>
            <a:ext cx="2876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a:solidFill>
                  <a:srgbClr val="667085"/>
                </a:solidFill>
                <a:latin typeface="Arial"/>
                <a:ea typeface="Arial"/>
                <a:cs typeface="Arial"/>
              </a:defRPr>
            </a:pPr>
            <a:r>
              <a:rPr sz="1275" b="1">
                <a:solidFill>
                  <a:srgbClr val="667085"/>
                </a:solidFill>
                <a:latin typeface="Arial"/>
                <a:ea typeface="Arial"/>
                <a:cs typeface="Arial"/>
              </a:rPr>
              <a:t>Run-oriented</a:t>
            </a:r>
          </a:p>
        </p:txBody>
      </p:sp>
      <p:sp>
        <p:nvSpPr>
          <p:cNvPr id="6" name="">
            <a:extLst xmlns:a="http://schemas.openxmlformats.org/drawingml/2006/main">
              <a:ext uri="{FF2B5EF4-FFF2-40B4-BE49-F238E27FC236}">
                <a16:creationId xmlns:a16="http://schemas.microsoft.com/office/drawing/2014/main" id="{2975F868-8D71-4B89-8222-3F9B8580C340}"/>
              </a:ext>
            </a:extLst>
          </p:cNvPr>
          <p:cNvSpPr>
            <a:spLocks xmlns:a="http://schemas.openxmlformats.org/drawingml/2006/main" noGrp="1"/>
          </p:cNvSpPr>
          <p:nvPr/>
        </p:nvSpPr>
        <p:spPr>
          <a:xfrm xmlns:a="http://schemas.openxmlformats.org/drawingml/2006/main">
            <a:off x="742950" y="2781300"/>
            <a:ext cx="95250" cy="95250"/>
          </a:xfrm>
          <a:prstGeom xmlns:a="http://schemas.openxmlformats.org/drawingml/2006/main" prst="ellipse">
            <a:avLst/>
          </a:prstGeom>
          <a:solidFill xmlns:a="http://schemas.openxmlformats.org/drawingml/2006/main">
            <a:srgbClr val="B42318"/>
          </a:solidFill>
          <a:ln xmlns:a="http://schemas.openxmlformats.org/drawingml/2006/main" w="0">
            <a:solidFill>
              <a:srgbClr val="B42318"/>
            </a:solidFill>
            <a:prstDash val="solid"/>
          </a:ln>
        </p:spPr>
      </p:sp>
      <p:sp>
        <p:nvSpPr>
          <p:cNvPr id="7" name="">
            <a:extLst xmlns:a="http://schemas.openxmlformats.org/drawingml/2006/main">
              <a:ext uri="{FF2B5EF4-FFF2-40B4-BE49-F238E27FC236}">
                <a16:creationId xmlns:a16="http://schemas.microsoft.com/office/drawing/2014/main" id="{CA940EED-0203-4D4C-8F2B-61776C760CE5}"/>
              </a:ext>
            </a:extLst>
          </p:cNvPr>
          <p:cNvSpPr>
            <a:spLocks xmlns:a="http://schemas.openxmlformats.org/drawingml/2006/main" noGrp="1"/>
          </p:cNvSpPr>
          <p:nvPr/>
        </p:nvSpPr>
        <p:spPr>
          <a:xfrm xmlns:a="http://schemas.openxmlformats.org/drawingml/2006/main">
            <a:off x="952500" y="270510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Starts with the task run</a:t>
            </a:r>
          </a:p>
        </p:txBody>
      </p:sp>
      <p:sp>
        <p:nvSpPr>
          <p:cNvPr id="8" name="">
            <a:extLst xmlns:a="http://schemas.openxmlformats.org/drawingml/2006/main">
              <a:ext uri="{FF2B5EF4-FFF2-40B4-BE49-F238E27FC236}">
                <a16:creationId xmlns:a16="http://schemas.microsoft.com/office/drawing/2014/main" id="{BECAA37A-2203-40D8-851C-37BCB69B7A93}"/>
              </a:ext>
            </a:extLst>
          </p:cNvPr>
          <p:cNvSpPr>
            <a:spLocks xmlns:a="http://schemas.openxmlformats.org/drawingml/2006/main" noGrp="1"/>
          </p:cNvSpPr>
          <p:nvPr/>
        </p:nvSpPr>
        <p:spPr>
          <a:xfrm xmlns:a="http://schemas.openxmlformats.org/drawingml/2006/main">
            <a:off x="742950" y="3333750"/>
            <a:ext cx="95250" cy="95250"/>
          </a:xfrm>
          <a:prstGeom xmlns:a="http://schemas.openxmlformats.org/drawingml/2006/main" prst="ellipse">
            <a:avLst/>
          </a:prstGeom>
          <a:solidFill xmlns:a="http://schemas.openxmlformats.org/drawingml/2006/main">
            <a:srgbClr val="B42318"/>
          </a:solidFill>
          <a:ln xmlns:a="http://schemas.openxmlformats.org/drawingml/2006/main" w="0">
            <a:solidFill>
              <a:srgbClr val="B42318"/>
            </a:solidFill>
            <a:prstDash val="solid"/>
          </a:ln>
        </p:spPr>
      </p:sp>
      <p:sp>
        <p:nvSpPr>
          <p:cNvPr id="9" name="">
            <a:extLst xmlns:a="http://schemas.openxmlformats.org/drawingml/2006/main">
              <a:ext uri="{FF2B5EF4-FFF2-40B4-BE49-F238E27FC236}">
                <a16:creationId xmlns:a16="http://schemas.microsoft.com/office/drawing/2014/main" id="{0D463FA6-7513-4F39-AAA6-7440DD0FBE06}"/>
              </a:ext>
            </a:extLst>
          </p:cNvPr>
          <p:cNvSpPr>
            <a:spLocks xmlns:a="http://schemas.openxmlformats.org/drawingml/2006/main" noGrp="1"/>
          </p:cNvSpPr>
          <p:nvPr/>
        </p:nvSpPr>
        <p:spPr>
          <a:xfrm xmlns:a="http://schemas.openxmlformats.org/drawingml/2006/main">
            <a:off x="952500" y="325755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Terminates after the run</a:t>
            </a:r>
          </a:p>
        </p:txBody>
      </p:sp>
      <p:sp>
        <p:nvSpPr>
          <p:cNvPr id="10" name="">
            <a:extLst xmlns:a="http://schemas.openxmlformats.org/drawingml/2006/main">
              <a:ext uri="{FF2B5EF4-FFF2-40B4-BE49-F238E27FC236}">
                <a16:creationId xmlns:a16="http://schemas.microsoft.com/office/drawing/2014/main" id="{40BBF551-05E3-4136-AA6D-E7DBA7B28B96}"/>
              </a:ext>
            </a:extLst>
          </p:cNvPr>
          <p:cNvSpPr>
            <a:spLocks xmlns:a="http://schemas.openxmlformats.org/drawingml/2006/main" noGrp="1"/>
          </p:cNvSpPr>
          <p:nvPr/>
        </p:nvSpPr>
        <p:spPr>
          <a:xfrm xmlns:a="http://schemas.openxmlformats.org/drawingml/2006/main">
            <a:off x="742950" y="3886200"/>
            <a:ext cx="95250" cy="95250"/>
          </a:xfrm>
          <a:prstGeom xmlns:a="http://schemas.openxmlformats.org/drawingml/2006/main" prst="ellipse">
            <a:avLst/>
          </a:prstGeom>
          <a:solidFill xmlns:a="http://schemas.openxmlformats.org/drawingml/2006/main">
            <a:srgbClr val="B42318"/>
          </a:solidFill>
          <a:ln xmlns:a="http://schemas.openxmlformats.org/drawingml/2006/main" w="0">
            <a:solidFill>
              <a:srgbClr val="B42318"/>
            </a:solidFill>
            <a:prstDash val="solid"/>
          </a:ln>
        </p:spPr>
      </p:sp>
      <p:sp>
        <p:nvSpPr>
          <p:cNvPr id="11" name="">
            <a:extLst xmlns:a="http://schemas.openxmlformats.org/drawingml/2006/main">
              <a:ext uri="{FF2B5EF4-FFF2-40B4-BE49-F238E27FC236}">
                <a16:creationId xmlns:a16="http://schemas.microsoft.com/office/drawing/2014/main" id="{8C40D75E-418D-455A-8894-17CC1168EC35}"/>
              </a:ext>
            </a:extLst>
          </p:cNvPr>
          <p:cNvSpPr>
            <a:spLocks xmlns:a="http://schemas.openxmlformats.org/drawingml/2006/main" noGrp="1"/>
          </p:cNvSpPr>
          <p:nvPr/>
        </p:nvSpPr>
        <p:spPr>
          <a:xfrm xmlns:a="http://schemas.openxmlformats.org/drawingml/2006/main">
            <a:off x="952500" y="381000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Startup can sit on the critical path</a:t>
            </a:r>
          </a:p>
        </p:txBody>
      </p:sp>
      <p:sp>
        <p:nvSpPr>
          <p:cNvPr id="12" name="">
            <a:extLst xmlns:a="http://schemas.openxmlformats.org/drawingml/2006/main">
              <a:ext uri="{FF2B5EF4-FFF2-40B4-BE49-F238E27FC236}">
                <a16:creationId xmlns:a16="http://schemas.microsoft.com/office/drawing/2014/main" id="{28955073-5253-47D2-8E0B-75F0A2FF8617}"/>
              </a:ext>
            </a:extLst>
          </p:cNvPr>
          <p:cNvSpPr>
            <a:spLocks xmlns:a="http://schemas.openxmlformats.org/drawingml/2006/main" noGrp="1"/>
          </p:cNvSpPr>
          <p:nvPr/>
        </p:nvSpPr>
        <p:spPr>
          <a:xfrm xmlns:a="http://schemas.openxmlformats.org/drawingml/2006/main">
            <a:off x="742950" y="4438650"/>
            <a:ext cx="95250" cy="95250"/>
          </a:xfrm>
          <a:prstGeom xmlns:a="http://schemas.openxmlformats.org/drawingml/2006/main" prst="ellipse">
            <a:avLst/>
          </a:prstGeom>
          <a:solidFill xmlns:a="http://schemas.openxmlformats.org/drawingml/2006/main">
            <a:srgbClr val="B42318"/>
          </a:solidFill>
          <a:ln xmlns:a="http://schemas.openxmlformats.org/drawingml/2006/main" w="0">
            <a:solidFill>
              <a:srgbClr val="B42318"/>
            </a:solidFill>
            <a:prstDash val="solid"/>
          </a:ln>
        </p:spPr>
      </p:sp>
      <p:sp>
        <p:nvSpPr>
          <p:cNvPr id="13" name="">
            <a:extLst xmlns:a="http://schemas.openxmlformats.org/drawingml/2006/main">
              <a:ext uri="{FF2B5EF4-FFF2-40B4-BE49-F238E27FC236}">
                <a16:creationId xmlns:a16="http://schemas.microsoft.com/office/drawing/2014/main" id="{EF2E4B88-27E9-4952-9B87-951F524F4975}"/>
              </a:ext>
            </a:extLst>
          </p:cNvPr>
          <p:cNvSpPr>
            <a:spLocks xmlns:a="http://schemas.openxmlformats.org/drawingml/2006/main" noGrp="1"/>
          </p:cNvSpPr>
          <p:nvPr/>
        </p:nvSpPr>
        <p:spPr>
          <a:xfrm xmlns:a="http://schemas.openxmlformats.org/drawingml/2006/main">
            <a:off x="952500" y="436245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Strong fit for scheduled processing</a:t>
            </a:r>
          </a:p>
        </p:txBody>
      </p:sp>
      <p:sp>
        <p:nvSpPr>
          <p:cNvPr id="14" name="">
            <a:extLst xmlns:a="http://schemas.openxmlformats.org/drawingml/2006/main">
              <a:ext uri="{FF2B5EF4-FFF2-40B4-BE49-F238E27FC236}">
                <a16:creationId xmlns:a16="http://schemas.microsoft.com/office/drawing/2014/main" id="{9E3D9313-D44D-4B26-A4C3-ED347EF1E370}"/>
              </a:ext>
            </a:extLst>
          </p:cNvPr>
          <p:cNvSpPr>
            <a:spLocks xmlns:a="http://schemas.openxmlformats.org/drawingml/2006/main" noGrp="1"/>
          </p:cNvSpPr>
          <p:nvPr/>
        </p:nvSpPr>
        <p:spPr>
          <a:xfrm xmlns:a="http://schemas.openxmlformats.org/drawingml/2006/main">
            <a:off x="4429125" y="1562100"/>
            <a:ext cx="3333750" cy="3886200"/>
          </a:xfrm>
          <a:prstGeom xmlns:a="http://schemas.openxmlformats.org/drawingml/2006/main" prst="roundRect">
            <a:avLst>
              <a:gd name="adj" fmla="val 5143"/>
            </a:avLst>
          </a:prstGeom>
          <a:solidFill xmlns:a="http://schemas.openxmlformats.org/drawingml/2006/main">
            <a:srgbClr val="FFF4D6"/>
          </a:solidFill>
          <a:ln xmlns:a="http://schemas.openxmlformats.org/drawingml/2006/main" w="11430">
            <a:solidFill>
              <a:srgbClr val="D18B00"/>
            </a:solidFill>
            <a:prstDash val="solid"/>
          </a:ln>
        </p:spPr>
      </p:sp>
      <p:sp>
        <p:nvSpPr>
          <p:cNvPr id="15" name="">
            <a:extLst xmlns:a="http://schemas.openxmlformats.org/drawingml/2006/main">
              <a:ext uri="{FF2B5EF4-FFF2-40B4-BE49-F238E27FC236}">
                <a16:creationId xmlns:a16="http://schemas.microsoft.com/office/drawing/2014/main" id="{324162DE-2E0C-412C-A2F5-1B458EA28F03}"/>
              </a:ext>
            </a:extLst>
          </p:cNvPr>
          <p:cNvSpPr>
            <a:spLocks xmlns:a="http://schemas.openxmlformats.org/drawingml/2006/main" noGrp="1"/>
          </p:cNvSpPr>
          <p:nvPr/>
        </p:nvSpPr>
        <p:spPr>
          <a:xfrm xmlns:a="http://schemas.openxmlformats.org/drawingml/2006/main">
            <a:off x="4657725" y="1809750"/>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950" b="1">
                <a:solidFill>
                  <a:srgbClr val="D18B00"/>
                </a:solidFill>
                <a:latin typeface="Arial"/>
                <a:ea typeface="Arial"/>
                <a:cs typeface="Arial"/>
              </a:defRPr>
            </a:pPr>
            <a:r>
              <a:rPr sz="1950" b="1">
                <a:solidFill>
                  <a:srgbClr val="D18B00"/>
                </a:solidFill>
                <a:latin typeface="Arial"/>
                <a:ea typeface="Arial"/>
                <a:cs typeface="Arial"/>
              </a:rPr>
              <a:t>All-purpose compute</a:t>
            </a:r>
          </a:p>
        </p:txBody>
      </p:sp>
      <p:sp>
        <p:nvSpPr>
          <p:cNvPr id="16" name="">
            <a:extLst xmlns:a="http://schemas.openxmlformats.org/drawingml/2006/main">
              <a:ext uri="{FF2B5EF4-FFF2-40B4-BE49-F238E27FC236}">
                <a16:creationId xmlns:a16="http://schemas.microsoft.com/office/drawing/2014/main" id="{C2FE8283-91A5-41E7-B4CF-0419B7352FB0}"/>
              </a:ext>
            </a:extLst>
          </p:cNvPr>
          <p:cNvSpPr>
            <a:spLocks xmlns:a="http://schemas.openxmlformats.org/drawingml/2006/main" noGrp="1"/>
          </p:cNvSpPr>
          <p:nvPr/>
        </p:nvSpPr>
        <p:spPr>
          <a:xfrm xmlns:a="http://schemas.openxmlformats.org/drawingml/2006/main">
            <a:off x="4657725" y="2209800"/>
            <a:ext cx="2876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a:solidFill>
                  <a:srgbClr val="667085"/>
                </a:solidFill>
                <a:latin typeface="Arial"/>
                <a:ea typeface="Arial"/>
                <a:cs typeface="Arial"/>
              </a:defRPr>
            </a:pPr>
            <a:r>
              <a:rPr sz="1275" b="1">
                <a:solidFill>
                  <a:srgbClr val="667085"/>
                </a:solidFill>
                <a:latin typeface="Arial"/>
                <a:ea typeface="Arial"/>
                <a:cs typeface="Arial"/>
              </a:rPr>
              <a:t>Ad-hoc / development</a:t>
            </a:r>
          </a:p>
        </p:txBody>
      </p:sp>
      <p:sp>
        <p:nvSpPr>
          <p:cNvPr id="17" name="">
            <a:extLst xmlns:a="http://schemas.openxmlformats.org/drawingml/2006/main">
              <a:ext uri="{FF2B5EF4-FFF2-40B4-BE49-F238E27FC236}">
                <a16:creationId xmlns:a16="http://schemas.microsoft.com/office/drawing/2014/main" id="{D3DAB2DE-2F44-4B28-BB78-E82247A9CA92}"/>
              </a:ext>
            </a:extLst>
          </p:cNvPr>
          <p:cNvSpPr>
            <a:spLocks xmlns:a="http://schemas.openxmlformats.org/drawingml/2006/main" noGrp="1"/>
          </p:cNvSpPr>
          <p:nvPr/>
        </p:nvSpPr>
        <p:spPr>
          <a:xfrm xmlns:a="http://schemas.openxmlformats.org/drawingml/2006/main">
            <a:off x="4657725" y="2781300"/>
            <a:ext cx="95250" cy="95250"/>
          </a:xfrm>
          <a:prstGeom xmlns:a="http://schemas.openxmlformats.org/drawingml/2006/main" prst="ellipse">
            <a:avLst/>
          </a:prstGeom>
          <a:solidFill xmlns:a="http://schemas.openxmlformats.org/drawingml/2006/main">
            <a:srgbClr val="D18B00"/>
          </a:solidFill>
          <a:ln xmlns:a="http://schemas.openxmlformats.org/drawingml/2006/main" w="0">
            <a:solidFill>
              <a:srgbClr val="D18B00"/>
            </a:solidFill>
            <a:prstDash val="solid"/>
          </a:ln>
        </p:spPr>
      </p:sp>
      <p:sp>
        <p:nvSpPr>
          <p:cNvPr id="18" name="">
            <a:extLst xmlns:a="http://schemas.openxmlformats.org/drawingml/2006/main">
              <a:ext uri="{FF2B5EF4-FFF2-40B4-BE49-F238E27FC236}">
                <a16:creationId xmlns:a16="http://schemas.microsoft.com/office/drawing/2014/main" id="{2D87472B-FAB3-465E-B4AD-D90BF9C8512E}"/>
              </a:ext>
            </a:extLst>
          </p:cNvPr>
          <p:cNvSpPr>
            <a:spLocks xmlns:a="http://schemas.openxmlformats.org/drawingml/2006/main" noGrp="1"/>
          </p:cNvSpPr>
          <p:nvPr/>
        </p:nvSpPr>
        <p:spPr>
          <a:xfrm xmlns:a="http://schemas.openxmlformats.org/drawingml/2006/main">
            <a:off x="4867275" y="270510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Can remain available while active</a:t>
            </a:r>
          </a:p>
        </p:txBody>
      </p:sp>
      <p:sp>
        <p:nvSpPr>
          <p:cNvPr id="19" name="">
            <a:extLst xmlns:a="http://schemas.openxmlformats.org/drawingml/2006/main">
              <a:ext uri="{FF2B5EF4-FFF2-40B4-BE49-F238E27FC236}">
                <a16:creationId xmlns:a16="http://schemas.microsoft.com/office/drawing/2014/main" id="{F598E0D9-7D9C-4076-BE1F-81694F3D4CF8}"/>
              </a:ext>
            </a:extLst>
          </p:cNvPr>
          <p:cNvSpPr>
            <a:spLocks xmlns:a="http://schemas.openxmlformats.org/drawingml/2006/main" noGrp="1"/>
          </p:cNvSpPr>
          <p:nvPr/>
        </p:nvSpPr>
        <p:spPr>
          <a:xfrm xmlns:a="http://schemas.openxmlformats.org/drawingml/2006/main">
            <a:off x="4657725" y="3333750"/>
            <a:ext cx="95250" cy="95250"/>
          </a:xfrm>
          <a:prstGeom xmlns:a="http://schemas.openxmlformats.org/drawingml/2006/main" prst="ellipse">
            <a:avLst/>
          </a:prstGeom>
          <a:solidFill xmlns:a="http://schemas.openxmlformats.org/drawingml/2006/main">
            <a:srgbClr val="D18B00"/>
          </a:solidFill>
          <a:ln xmlns:a="http://schemas.openxmlformats.org/drawingml/2006/main" w="0">
            <a:solidFill>
              <a:srgbClr val="D18B00"/>
            </a:solidFill>
            <a:prstDash val="solid"/>
          </a:ln>
        </p:spPr>
      </p:sp>
      <p:sp>
        <p:nvSpPr>
          <p:cNvPr id="20" name="">
            <a:extLst xmlns:a="http://schemas.openxmlformats.org/drawingml/2006/main">
              <a:ext uri="{FF2B5EF4-FFF2-40B4-BE49-F238E27FC236}">
                <a16:creationId xmlns:a16="http://schemas.microsoft.com/office/drawing/2014/main" id="{8DD94ABD-858E-452D-A370-6C8909FCC0BA}"/>
              </a:ext>
            </a:extLst>
          </p:cNvPr>
          <p:cNvSpPr>
            <a:spLocks xmlns:a="http://schemas.openxmlformats.org/drawingml/2006/main" noGrp="1"/>
          </p:cNvSpPr>
          <p:nvPr/>
        </p:nvSpPr>
        <p:spPr>
          <a:xfrm xmlns:a="http://schemas.openxmlformats.org/drawingml/2006/main">
            <a:off x="4867275" y="325755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Shared-resource contention is possible</a:t>
            </a:r>
          </a:p>
        </p:txBody>
      </p:sp>
      <p:sp>
        <p:nvSpPr>
          <p:cNvPr id="21" name="">
            <a:extLst xmlns:a="http://schemas.openxmlformats.org/drawingml/2006/main">
              <a:ext uri="{FF2B5EF4-FFF2-40B4-BE49-F238E27FC236}">
                <a16:creationId xmlns:a16="http://schemas.microsoft.com/office/drawing/2014/main" id="{98421089-6EB5-4E14-9C0A-E46F7CF15B10}"/>
              </a:ext>
            </a:extLst>
          </p:cNvPr>
          <p:cNvSpPr>
            <a:spLocks xmlns:a="http://schemas.openxmlformats.org/drawingml/2006/main" noGrp="1"/>
          </p:cNvSpPr>
          <p:nvPr/>
        </p:nvSpPr>
        <p:spPr>
          <a:xfrm xmlns:a="http://schemas.openxmlformats.org/drawingml/2006/main">
            <a:off x="4657725" y="3886200"/>
            <a:ext cx="95250" cy="95250"/>
          </a:xfrm>
          <a:prstGeom xmlns:a="http://schemas.openxmlformats.org/drawingml/2006/main" prst="ellipse">
            <a:avLst/>
          </a:prstGeom>
          <a:solidFill xmlns:a="http://schemas.openxmlformats.org/drawingml/2006/main">
            <a:srgbClr val="D18B00"/>
          </a:solidFill>
          <a:ln xmlns:a="http://schemas.openxmlformats.org/drawingml/2006/main" w="0">
            <a:solidFill>
              <a:srgbClr val="D18B00"/>
            </a:solidFill>
            <a:prstDash val="solid"/>
          </a:ln>
        </p:spPr>
      </p:sp>
      <p:sp>
        <p:nvSpPr>
          <p:cNvPr id="22" name="">
            <a:extLst xmlns:a="http://schemas.openxmlformats.org/drawingml/2006/main">
              <a:ext uri="{FF2B5EF4-FFF2-40B4-BE49-F238E27FC236}">
                <a16:creationId xmlns:a16="http://schemas.microsoft.com/office/drawing/2014/main" id="{DC4FA8E6-EF36-4D02-B69D-ADA8FF9DF001}"/>
              </a:ext>
            </a:extLst>
          </p:cNvPr>
          <p:cNvSpPr>
            <a:spLocks xmlns:a="http://schemas.openxmlformats.org/drawingml/2006/main" noGrp="1"/>
          </p:cNvSpPr>
          <p:nvPr/>
        </p:nvSpPr>
        <p:spPr>
          <a:xfrm xmlns:a="http://schemas.openxmlformats.org/drawingml/2006/main">
            <a:off x="4867275" y="381000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Idle capacity and cost trade-off</a:t>
            </a:r>
          </a:p>
        </p:txBody>
      </p:sp>
      <p:sp>
        <p:nvSpPr>
          <p:cNvPr id="23" name="">
            <a:extLst xmlns:a="http://schemas.openxmlformats.org/drawingml/2006/main">
              <a:ext uri="{FF2B5EF4-FFF2-40B4-BE49-F238E27FC236}">
                <a16:creationId xmlns:a16="http://schemas.microsoft.com/office/drawing/2014/main" id="{FA73E579-5DE6-4670-91C4-9E4AF2DEAA4A}"/>
              </a:ext>
            </a:extLst>
          </p:cNvPr>
          <p:cNvSpPr>
            <a:spLocks xmlns:a="http://schemas.openxmlformats.org/drawingml/2006/main" noGrp="1"/>
          </p:cNvSpPr>
          <p:nvPr/>
        </p:nvSpPr>
        <p:spPr>
          <a:xfrm xmlns:a="http://schemas.openxmlformats.org/drawingml/2006/main">
            <a:off x="4657725" y="4438650"/>
            <a:ext cx="95250" cy="95250"/>
          </a:xfrm>
          <a:prstGeom xmlns:a="http://schemas.openxmlformats.org/drawingml/2006/main" prst="ellipse">
            <a:avLst/>
          </a:prstGeom>
          <a:solidFill xmlns:a="http://schemas.openxmlformats.org/drawingml/2006/main">
            <a:srgbClr val="D18B00"/>
          </a:solidFill>
          <a:ln xmlns:a="http://schemas.openxmlformats.org/drawingml/2006/main" w="0">
            <a:solidFill>
              <a:srgbClr val="D18B00"/>
            </a:solidFill>
            <a:prstDash val="solid"/>
          </a:ln>
        </p:spPr>
      </p:sp>
      <p:sp>
        <p:nvSpPr>
          <p:cNvPr id="24" name="">
            <a:extLst xmlns:a="http://schemas.openxmlformats.org/drawingml/2006/main">
              <a:ext uri="{FF2B5EF4-FFF2-40B4-BE49-F238E27FC236}">
                <a16:creationId xmlns:a16="http://schemas.microsoft.com/office/drawing/2014/main" id="{6973290B-D1D2-40EF-9B08-E587EEE49EB2}"/>
              </a:ext>
            </a:extLst>
          </p:cNvPr>
          <p:cNvSpPr>
            <a:spLocks xmlns:a="http://schemas.openxmlformats.org/drawingml/2006/main" noGrp="1"/>
          </p:cNvSpPr>
          <p:nvPr/>
        </p:nvSpPr>
        <p:spPr>
          <a:xfrm xmlns:a="http://schemas.openxmlformats.org/drawingml/2006/main">
            <a:off x="4867275" y="436245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Not the default production SQL-serving answer</a:t>
            </a:r>
          </a:p>
        </p:txBody>
      </p:sp>
      <p:sp>
        <p:nvSpPr>
          <p:cNvPr id="25" name="">
            <a:extLst xmlns:a="http://schemas.openxmlformats.org/drawingml/2006/main">
              <a:ext uri="{FF2B5EF4-FFF2-40B4-BE49-F238E27FC236}">
                <a16:creationId xmlns:a16="http://schemas.microsoft.com/office/drawing/2014/main" id="{D18F1EEB-AC18-465C-814E-432E7A975A5A}"/>
              </a:ext>
            </a:extLst>
          </p:cNvPr>
          <p:cNvSpPr>
            <a:spLocks xmlns:a="http://schemas.openxmlformats.org/drawingml/2006/main" noGrp="1"/>
          </p:cNvSpPr>
          <p:nvPr/>
        </p:nvSpPr>
        <p:spPr>
          <a:xfrm xmlns:a="http://schemas.openxmlformats.org/drawingml/2006/main">
            <a:off x="8343900" y="1562100"/>
            <a:ext cx="3295650" cy="3886200"/>
          </a:xfrm>
          <a:prstGeom xmlns:a="http://schemas.openxmlformats.org/drawingml/2006/main" prst="roundRect">
            <a:avLst>
              <a:gd name="adj" fmla="val 5202"/>
            </a:avLst>
          </a:prstGeom>
          <a:solidFill xmlns:a="http://schemas.openxmlformats.org/drawingml/2006/main">
            <a:srgbClr val="E8F5F2"/>
          </a:solidFill>
          <a:ln xmlns:a="http://schemas.openxmlformats.org/drawingml/2006/main" w="11430">
            <a:solidFill>
              <a:srgbClr val="157A6E"/>
            </a:solidFill>
            <a:prstDash val="solid"/>
          </a:ln>
        </p:spPr>
      </p:sp>
      <p:sp>
        <p:nvSpPr>
          <p:cNvPr id="26" name="">
            <a:extLst xmlns:a="http://schemas.openxmlformats.org/drawingml/2006/main">
              <a:ext uri="{FF2B5EF4-FFF2-40B4-BE49-F238E27FC236}">
                <a16:creationId xmlns:a16="http://schemas.microsoft.com/office/drawing/2014/main" id="{C3EBFE26-1CDE-41C3-9206-C3699D2AB7B3}"/>
              </a:ext>
            </a:extLst>
          </p:cNvPr>
          <p:cNvSpPr>
            <a:spLocks xmlns:a="http://schemas.openxmlformats.org/drawingml/2006/main" noGrp="1"/>
          </p:cNvSpPr>
          <p:nvPr/>
        </p:nvSpPr>
        <p:spPr>
          <a:xfrm xmlns:a="http://schemas.openxmlformats.org/drawingml/2006/main">
            <a:off x="8572500" y="1809750"/>
            <a:ext cx="283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950" b="1">
                <a:solidFill>
                  <a:srgbClr val="157A6E"/>
                </a:solidFill>
                <a:latin typeface="Arial"/>
                <a:ea typeface="Arial"/>
                <a:cs typeface="Arial"/>
              </a:defRPr>
            </a:pPr>
            <a:r>
              <a:rPr sz="1950" b="1">
                <a:solidFill>
                  <a:srgbClr val="157A6E"/>
                </a:solidFill>
                <a:latin typeface="Arial"/>
                <a:ea typeface="Arial"/>
                <a:cs typeface="Arial"/>
              </a:rPr>
              <a:t>SQL warehouse</a:t>
            </a:r>
          </a:p>
        </p:txBody>
      </p:sp>
      <p:sp>
        <p:nvSpPr>
          <p:cNvPr id="27" name="">
            <a:extLst xmlns:a="http://schemas.openxmlformats.org/drawingml/2006/main">
              <a:ext uri="{FF2B5EF4-FFF2-40B4-BE49-F238E27FC236}">
                <a16:creationId xmlns:a16="http://schemas.microsoft.com/office/drawing/2014/main" id="{2DF2FF40-A9DA-4701-8E31-913596BA2AF3}"/>
              </a:ext>
            </a:extLst>
          </p:cNvPr>
          <p:cNvSpPr>
            <a:spLocks xmlns:a="http://schemas.openxmlformats.org/drawingml/2006/main" noGrp="1"/>
          </p:cNvSpPr>
          <p:nvPr/>
        </p:nvSpPr>
        <p:spPr>
          <a:xfrm xmlns:a="http://schemas.openxmlformats.org/drawingml/2006/main">
            <a:off x="8572500" y="2209800"/>
            <a:ext cx="2838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1">
                <a:solidFill>
                  <a:srgbClr val="667085"/>
                </a:solidFill>
                <a:latin typeface="Arial"/>
                <a:ea typeface="Arial"/>
                <a:cs typeface="Arial"/>
              </a:defRPr>
            </a:pPr>
            <a:r>
              <a:rPr sz="1275" b="1">
                <a:solidFill>
                  <a:srgbClr val="667085"/>
                </a:solidFill>
                <a:latin typeface="Arial"/>
                <a:ea typeface="Arial"/>
                <a:cs typeface="Arial"/>
              </a:rPr>
              <a:t>Interactive SQL candidate</a:t>
            </a:r>
          </a:p>
        </p:txBody>
      </p:sp>
      <p:sp>
        <p:nvSpPr>
          <p:cNvPr id="28" name="">
            <a:extLst xmlns:a="http://schemas.openxmlformats.org/drawingml/2006/main">
              <a:ext uri="{FF2B5EF4-FFF2-40B4-BE49-F238E27FC236}">
                <a16:creationId xmlns:a16="http://schemas.microsoft.com/office/drawing/2014/main" id="{8AC5BB4C-186C-4C5E-B797-50730DE6C15A}"/>
              </a:ext>
            </a:extLst>
          </p:cNvPr>
          <p:cNvSpPr>
            <a:spLocks xmlns:a="http://schemas.openxmlformats.org/drawingml/2006/main" noGrp="1"/>
          </p:cNvSpPr>
          <p:nvPr/>
        </p:nvSpPr>
        <p:spPr>
          <a:xfrm xmlns:a="http://schemas.openxmlformats.org/drawingml/2006/main">
            <a:off x="8572500" y="2781300"/>
            <a:ext cx="95250" cy="95250"/>
          </a:xfrm>
          <a:prstGeom xmlns:a="http://schemas.openxmlformats.org/drawingml/2006/main" prst="ellipse">
            <a:avLst/>
          </a:prstGeom>
          <a:solidFill xmlns:a="http://schemas.openxmlformats.org/drawingml/2006/main">
            <a:srgbClr val="157A6E"/>
          </a:solidFill>
          <a:ln xmlns:a="http://schemas.openxmlformats.org/drawingml/2006/main" w="0">
            <a:solidFill>
              <a:srgbClr val="157A6E"/>
            </a:solidFill>
            <a:prstDash val="solid"/>
          </a:ln>
        </p:spPr>
      </p:sp>
      <p:sp>
        <p:nvSpPr>
          <p:cNvPr id="29" name="">
            <a:extLst xmlns:a="http://schemas.openxmlformats.org/drawingml/2006/main">
              <a:ext uri="{FF2B5EF4-FFF2-40B4-BE49-F238E27FC236}">
                <a16:creationId xmlns:a16="http://schemas.microsoft.com/office/drawing/2014/main" id="{DF186053-DDB9-483C-9508-E6AF369975AF}"/>
              </a:ext>
            </a:extLst>
          </p:cNvPr>
          <p:cNvSpPr>
            <a:spLocks xmlns:a="http://schemas.openxmlformats.org/drawingml/2006/main" noGrp="1"/>
          </p:cNvSpPr>
          <p:nvPr/>
        </p:nvSpPr>
        <p:spPr>
          <a:xfrm xmlns:a="http://schemas.openxmlformats.org/drawingml/2006/main">
            <a:off x="8782050" y="2705100"/>
            <a:ext cx="262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Purpose-built for SQL and BI</a:t>
            </a:r>
          </a:p>
        </p:txBody>
      </p:sp>
      <p:sp>
        <p:nvSpPr>
          <p:cNvPr id="30" name="">
            <a:extLst xmlns:a="http://schemas.openxmlformats.org/drawingml/2006/main">
              <a:ext uri="{FF2B5EF4-FFF2-40B4-BE49-F238E27FC236}">
                <a16:creationId xmlns:a16="http://schemas.microsoft.com/office/drawing/2014/main" id="{944604C6-AFB2-4523-91EF-B577CA05023B}"/>
              </a:ext>
            </a:extLst>
          </p:cNvPr>
          <p:cNvSpPr>
            <a:spLocks xmlns:a="http://schemas.openxmlformats.org/drawingml/2006/main" noGrp="1"/>
          </p:cNvSpPr>
          <p:nvPr/>
        </p:nvSpPr>
        <p:spPr>
          <a:xfrm xmlns:a="http://schemas.openxmlformats.org/drawingml/2006/main">
            <a:off x="8572500" y="3333750"/>
            <a:ext cx="95250" cy="95250"/>
          </a:xfrm>
          <a:prstGeom xmlns:a="http://schemas.openxmlformats.org/drawingml/2006/main" prst="ellipse">
            <a:avLst/>
          </a:prstGeom>
          <a:solidFill xmlns:a="http://schemas.openxmlformats.org/drawingml/2006/main">
            <a:srgbClr val="157A6E"/>
          </a:solidFill>
          <a:ln xmlns:a="http://schemas.openxmlformats.org/drawingml/2006/main" w="0">
            <a:solidFill>
              <a:srgbClr val="157A6E"/>
            </a:solidFill>
            <a:prstDash val="solid"/>
          </a:ln>
        </p:spPr>
      </p:sp>
      <p:sp>
        <p:nvSpPr>
          <p:cNvPr id="31" name="">
            <a:extLst xmlns:a="http://schemas.openxmlformats.org/drawingml/2006/main">
              <a:ext uri="{FF2B5EF4-FFF2-40B4-BE49-F238E27FC236}">
                <a16:creationId xmlns:a16="http://schemas.microsoft.com/office/drawing/2014/main" id="{C66A92C7-F81A-4501-8F2A-9824D2AE38FB}"/>
              </a:ext>
            </a:extLst>
          </p:cNvPr>
          <p:cNvSpPr>
            <a:spLocks xmlns:a="http://schemas.openxmlformats.org/drawingml/2006/main" noGrp="1"/>
          </p:cNvSpPr>
          <p:nvPr/>
        </p:nvSpPr>
        <p:spPr>
          <a:xfrm xmlns:a="http://schemas.openxmlformats.org/drawingml/2006/main">
            <a:off x="8782050" y="3257550"/>
            <a:ext cx="262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Serverless startup typically 2–6 seconds</a:t>
            </a:r>
          </a:p>
        </p:txBody>
      </p:sp>
      <p:sp>
        <p:nvSpPr>
          <p:cNvPr id="32" name="">
            <a:extLst xmlns:a="http://schemas.openxmlformats.org/drawingml/2006/main">
              <a:ext uri="{FF2B5EF4-FFF2-40B4-BE49-F238E27FC236}">
                <a16:creationId xmlns:a16="http://schemas.microsoft.com/office/drawing/2014/main" id="{70EE5664-092E-4E66-8680-76BCC3B57871}"/>
              </a:ext>
            </a:extLst>
          </p:cNvPr>
          <p:cNvSpPr>
            <a:spLocks xmlns:a="http://schemas.openxmlformats.org/drawingml/2006/main" noGrp="1"/>
          </p:cNvSpPr>
          <p:nvPr/>
        </p:nvSpPr>
        <p:spPr>
          <a:xfrm xmlns:a="http://schemas.openxmlformats.org/drawingml/2006/main">
            <a:off x="8572500" y="3886200"/>
            <a:ext cx="95250" cy="95250"/>
          </a:xfrm>
          <a:prstGeom xmlns:a="http://schemas.openxmlformats.org/drawingml/2006/main" prst="ellipse">
            <a:avLst/>
          </a:prstGeom>
          <a:solidFill xmlns:a="http://schemas.openxmlformats.org/drawingml/2006/main">
            <a:srgbClr val="157A6E"/>
          </a:solidFill>
          <a:ln xmlns:a="http://schemas.openxmlformats.org/drawingml/2006/main" w="0">
            <a:solidFill>
              <a:srgbClr val="157A6E"/>
            </a:solidFill>
            <a:prstDash val="solid"/>
          </a:ln>
        </p:spPr>
      </p:sp>
      <p:sp>
        <p:nvSpPr>
          <p:cNvPr id="33" name="">
            <a:extLst xmlns:a="http://schemas.openxmlformats.org/drawingml/2006/main">
              <a:ext uri="{FF2B5EF4-FFF2-40B4-BE49-F238E27FC236}">
                <a16:creationId xmlns:a16="http://schemas.microsoft.com/office/drawing/2014/main" id="{9AF62A85-9770-45C9-AB8F-815C921BDCA7}"/>
              </a:ext>
            </a:extLst>
          </p:cNvPr>
          <p:cNvSpPr>
            <a:spLocks xmlns:a="http://schemas.openxmlformats.org/drawingml/2006/main" noGrp="1"/>
          </p:cNvSpPr>
          <p:nvPr/>
        </p:nvSpPr>
        <p:spPr>
          <a:xfrm xmlns:a="http://schemas.openxmlformats.org/drawingml/2006/main">
            <a:off x="8782050" y="3810000"/>
            <a:ext cx="262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Rapid autoscaling for variable demand</a:t>
            </a:r>
          </a:p>
        </p:txBody>
      </p:sp>
      <p:sp>
        <p:nvSpPr>
          <p:cNvPr id="34" name="">
            <a:extLst xmlns:a="http://schemas.openxmlformats.org/drawingml/2006/main">
              <a:ext uri="{FF2B5EF4-FFF2-40B4-BE49-F238E27FC236}">
                <a16:creationId xmlns:a16="http://schemas.microsoft.com/office/drawing/2014/main" id="{82633B0F-E493-49CF-B137-F8707C016683}"/>
              </a:ext>
            </a:extLst>
          </p:cNvPr>
          <p:cNvSpPr>
            <a:spLocks xmlns:a="http://schemas.openxmlformats.org/drawingml/2006/main" noGrp="1"/>
          </p:cNvSpPr>
          <p:nvPr/>
        </p:nvSpPr>
        <p:spPr>
          <a:xfrm xmlns:a="http://schemas.openxmlformats.org/drawingml/2006/main">
            <a:off x="8572500" y="4438650"/>
            <a:ext cx="95250" cy="95250"/>
          </a:xfrm>
          <a:prstGeom xmlns:a="http://schemas.openxmlformats.org/drawingml/2006/main" prst="ellipse">
            <a:avLst/>
          </a:prstGeom>
          <a:solidFill xmlns:a="http://schemas.openxmlformats.org/drawingml/2006/main">
            <a:srgbClr val="157A6E"/>
          </a:solidFill>
          <a:ln xmlns:a="http://schemas.openxmlformats.org/drawingml/2006/main" w="0">
            <a:solidFill>
              <a:srgbClr val="157A6E"/>
            </a:solidFill>
            <a:prstDash val="solid"/>
          </a:ln>
        </p:spPr>
      </p:sp>
      <p:sp>
        <p:nvSpPr>
          <p:cNvPr id="35" name="">
            <a:extLst xmlns:a="http://schemas.openxmlformats.org/drawingml/2006/main">
              <a:ext uri="{FF2B5EF4-FFF2-40B4-BE49-F238E27FC236}">
                <a16:creationId xmlns:a16="http://schemas.microsoft.com/office/drawing/2014/main" id="{72A2FACF-6D8F-421F-B259-9D3CCAA6BA9F}"/>
              </a:ext>
            </a:extLst>
          </p:cNvPr>
          <p:cNvSpPr>
            <a:spLocks xmlns:a="http://schemas.openxmlformats.org/drawingml/2006/main" noGrp="1"/>
          </p:cNvSpPr>
          <p:nvPr/>
        </p:nvSpPr>
        <p:spPr>
          <a:xfrm xmlns:a="http://schemas.openxmlformats.org/drawingml/2006/main">
            <a:off x="8782050" y="4362450"/>
            <a:ext cx="262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Availability and network approval required</a:t>
            </a:r>
          </a:p>
        </p:txBody>
      </p:sp>
      <p:sp>
        <p:nvSpPr>
          <p:cNvPr id="36" name="">
            <a:extLst xmlns:a="http://schemas.openxmlformats.org/drawingml/2006/main">
              <a:ext uri="{FF2B5EF4-FFF2-40B4-BE49-F238E27FC236}">
                <a16:creationId xmlns:a16="http://schemas.microsoft.com/office/drawing/2014/main" id="{55919250-647A-4A39-8719-91D6C898C9F1}"/>
              </a:ext>
            </a:extLst>
          </p:cNvPr>
          <p:cNvSpPr>
            <a:spLocks xmlns:a="http://schemas.openxmlformats.org/drawingml/2006/main" noGrp="1"/>
          </p:cNvSpPr>
          <p:nvPr/>
        </p:nvSpPr>
        <p:spPr>
          <a:xfrm xmlns:a="http://schemas.openxmlformats.org/drawingml/2006/main">
            <a:off x="1619250" y="5657850"/>
            <a:ext cx="8953500" cy="552450"/>
          </a:xfrm>
          <a:prstGeom xmlns:a="http://schemas.openxmlformats.org/drawingml/2006/main" prst="roundRect">
            <a:avLst>
              <a:gd name="adj" fmla="val 20690"/>
            </a:avLst>
          </a:prstGeom>
          <a:solidFill xmlns:a="http://schemas.openxmlformats.org/drawingml/2006/main">
            <a:srgbClr val="EAF5FB"/>
          </a:solidFill>
          <a:ln xmlns:a="http://schemas.openxmlformats.org/drawingml/2006/main" w="9525">
            <a:solidFill>
              <a:srgbClr val="6DCBF4"/>
            </a:solidFill>
            <a:prstDash val="solid"/>
          </a:ln>
        </p:spPr>
      </p:sp>
      <p:sp>
        <p:nvSpPr>
          <p:cNvPr id="37" name="">
            <a:extLst xmlns:a="http://schemas.openxmlformats.org/drawingml/2006/main">
              <a:ext uri="{FF2B5EF4-FFF2-40B4-BE49-F238E27FC236}">
                <a16:creationId xmlns:a16="http://schemas.microsoft.com/office/drawing/2014/main" id="{E3E85954-F9CA-4377-AE01-2096B3ABF18F}"/>
              </a:ext>
            </a:extLst>
          </p:cNvPr>
          <p:cNvSpPr>
            <a:spLocks xmlns:a="http://schemas.openxmlformats.org/drawingml/2006/main" noGrp="1"/>
          </p:cNvSpPr>
          <p:nvPr/>
        </p:nvSpPr>
        <p:spPr>
          <a:xfrm xmlns:a="http://schemas.openxmlformats.org/drawingml/2006/main">
            <a:off x="1847850" y="5772150"/>
            <a:ext cx="8496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0833"/>
          </a:bodyPr>
          <a:lstStyle xmlns:a="http://schemas.openxmlformats.org/drawingml/2006/main"/>
          <a:p xmlns:a="http://schemas.openxmlformats.org/drawingml/2006/main">
            <a:pPr algn="ctr">
              <a:defRPr sz="1500" b="1">
                <a:solidFill>
                  <a:srgbClr val="101828"/>
                </a:solidFill>
                <a:latin typeface="Arial"/>
                <a:ea typeface="Arial"/>
                <a:cs typeface="Arial"/>
              </a:defRPr>
            </a:pPr>
            <a:r>
              <a:rPr sz="1500" b="1">
                <a:solidFill>
                  <a:srgbClr val="101828"/>
                </a:solidFill>
                <a:latin typeface="Arial"/>
                <a:ea typeface="Arial"/>
                <a:cs typeface="Arial"/>
              </a:rPr>
              <a:t>Validation request: should AskAlpha use a dedicated Serverless SQL Warehouse—and what warm-capacity, concurrency and SLO settings are approved?</a:t>
            </a:r>
          </a:p>
        </p:txBody>
      </p:sp>
      <p:sp>
        <p:nvSpPr>
          <p:cNvPr id="38" name="">
            <a:extLst xmlns:a="http://schemas.openxmlformats.org/drawingml/2006/main">
              <a:ext uri="{FF2B5EF4-FFF2-40B4-BE49-F238E27FC236}">
                <a16:creationId xmlns:a16="http://schemas.microsoft.com/office/drawing/2014/main" id="{511061C7-598D-4BF3-A593-D1B8A65E23DC}"/>
              </a:ext>
            </a:extLst>
          </p:cNvPr>
          <p:cNvSpPr>
            <a:spLocks xmlns:a="http://schemas.openxmlformats.org/drawingml/2006/main" noGrp="1"/>
          </p:cNvSpPr>
          <p:nvPr/>
        </p:nvSpPr>
        <p:spPr>
          <a:xfrm xmlns:a="http://schemas.openxmlformats.org/drawingml/2006/main">
            <a:off x="514350" y="649605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900" b="0">
                <a:solidFill>
                  <a:srgbClr val="667085"/>
                </a:solidFill>
                <a:latin typeface="Arial"/>
                <a:ea typeface="Arial"/>
                <a:cs typeface="Arial"/>
              </a:defRPr>
            </a:pPr>
            <a:r>
              <a:rPr sz="900" b="0">
                <a:solidFill>
                  <a:srgbClr val="667085"/>
                </a:solidFill>
                <a:latin typeface="Arial"/>
                <a:ea typeface="Arial"/>
                <a:cs typeface="Arial"/>
              </a:rPr>
              <a:t>AskAlpha  |  Unity Catalog architecture review  |  Discussion draft</a:t>
            </a:r>
          </a:p>
        </p:txBody>
      </p:sp>
      <p:sp>
        <p:nvSpPr>
          <p:cNvPr id="39" name="">
            <a:extLst xmlns:a="http://schemas.openxmlformats.org/drawingml/2006/main">
              <a:ext uri="{FF2B5EF4-FFF2-40B4-BE49-F238E27FC236}">
                <a16:creationId xmlns:a16="http://schemas.microsoft.com/office/drawing/2014/main" id="{71CD860E-77E8-423E-B728-1CDCA032B989}"/>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4</a:t>
            </a:r>
          </a:p>
        </p:txBody>
      </p:sp>
    </p:spTree>
    <p:extLst>
      <p:ext uri="{BB962C8B-B14F-4D97-AF65-F5344CB8AC3E}">
        <p14:creationId xmlns:p14="http://schemas.microsoft.com/office/powerpoint/2010/main" val="72683686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C7992BAA-647F-4E43-A6F4-EF1AA47DBBEB}"/>
              </a:ext>
            </a:extLst>
          </p:cNvPr>
          <p:cNvSpPr>
            <a:spLocks xmlns:a="http://schemas.openxmlformats.org/drawingml/2006/main" noGrp="1"/>
          </p:cNvSpPr>
          <p:nvPr/>
        </p:nvSpPr>
        <p:spPr>
          <a:xfrm xmlns:a="http://schemas.openxmlformats.org/drawingml/2006/main">
            <a:off x="514350" y="285750"/>
            <a:ext cx="1114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893"/>
          </a:bodyPr>
          <a:lstStyle xmlns:a="http://schemas.openxmlformats.org/drawingml/2006/main"/>
          <a:p xmlns:a="http://schemas.openxmlformats.org/drawingml/2006/main">
            <a:pPr algn="l">
              <a:defRPr sz="2700" b="1">
                <a:solidFill>
                  <a:srgbClr val="101828"/>
                </a:solidFill>
                <a:latin typeface="Arial"/>
                <a:ea typeface="Arial"/>
                <a:cs typeface="Arial"/>
              </a:defRPr>
            </a:pPr>
            <a:r>
              <a:rPr sz="2700" b="1">
                <a:solidFill>
                  <a:srgbClr val="101828"/>
                </a:solidFill>
                <a:latin typeface="Arial"/>
                <a:ea typeface="Arial"/>
                <a:cs typeface="Arial"/>
              </a:rPr>
              <a:t>Copying the entire dataset solves locality—but creates a second data product</a:t>
            </a:r>
          </a:p>
        </p:txBody>
      </p:sp>
      <p:sp>
        <p:nvSpPr>
          <p:cNvPr id="2" name="">
            <a:extLst xmlns:a="http://schemas.openxmlformats.org/drawingml/2006/main">
              <a:ext uri="{FF2B5EF4-FFF2-40B4-BE49-F238E27FC236}">
                <a16:creationId xmlns:a16="http://schemas.microsoft.com/office/drawing/2014/main" id="{A80B2098-6D5A-4E49-931B-E32279F1AC17}"/>
              </a:ext>
            </a:extLst>
          </p:cNvPr>
          <p:cNvSpPr>
            <a:spLocks xmlns:a="http://schemas.openxmlformats.org/drawingml/2006/main" noGrp="1"/>
          </p:cNvSpPr>
          <p:nvPr/>
        </p:nvSpPr>
        <p:spPr>
          <a:xfrm xmlns:a="http://schemas.openxmlformats.org/drawingml/2006/main">
            <a:off x="533400" y="838200"/>
            <a:ext cx="1104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The architecture should make the freshness, governance, cost and ownership trade-off explicit.</a:t>
            </a:r>
          </a:p>
        </p:txBody>
      </p:sp>
      <p:sp>
        <p:nvSpPr>
          <p:cNvPr id="3" name="">
            <a:extLst xmlns:a="http://schemas.openxmlformats.org/drawingml/2006/main">
              <a:ext uri="{FF2B5EF4-FFF2-40B4-BE49-F238E27FC236}">
                <a16:creationId xmlns:a16="http://schemas.microsoft.com/office/drawing/2014/main" id="{3116A882-1BE9-454C-AE65-9CC9A5916E6C}"/>
              </a:ext>
            </a:extLst>
          </p:cNvPr>
          <p:cNvSpPr>
            <a:spLocks xmlns:a="http://schemas.openxmlformats.org/drawingml/2006/main" noGrp="1"/>
          </p:cNvSpPr>
          <p:nvPr/>
        </p:nvSpPr>
        <p:spPr>
          <a:xfrm xmlns:a="http://schemas.openxmlformats.org/drawingml/2006/main">
            <a:off x="514350" y="1428750"/>
            <a:ext cx="5048250" cy="4210050"/>
          </a:xfrm>
          <a:prstGeom xmlns:a="http://schemas.openxmlformats.org/drawingml/2006/main" prst="roundRect">
            <a:avLst>
              <a:gd name="adj" fmla="val 4072"/>
            </a:avLst>
          </a:prstGeom>
          <a:solidFill xmlns:a="http://schemas.openxmlformats.org/drawingml/2006/main">
            <a:srgbClr val="FEF3F2"/>
          </a:solidFill>
          <a:ln xmlns:a="http://schemas.openxmlformats.org/drawingml/2006/main" w="11430">
            <a:solidFill>
              <a:srgbClr val="B42318"/>
            </a:solidFill>
            <a:prstDash val="solid"/>
          </a:ln>
        </p:spPr>
      </p:sp>
      <p:sp>
        <p:nvSpPr>
          <p:cNvPr id="4" name="">
            <a:extLst xmlns:a="http://schemas.openxmlformats.org/drawingml/2006/main">
              <a:ext uri="{FF2B5EF4-FFF2-40B4-BE49-F238E27FC236}">
                <a16:creationId xmlns:a16="http://schemas.microsoft.com/office/drawing/2014/main" id="{F5F884BB-49EF-4A27-BDE8-A109E065A729}"/>
              </a:ext>
            </a:extLst>
          </p:cNvPr>
          <p:cNvSpPr>
            <a:spLocks xmlns:a="http://schemas.openxmlformats.org/drawingml/2006/main" noGrp="1"/>
          </p:cNvSpPr>
          <p:nvPr/>
        </p:nvSpPr>
        <p:spPr>
          <a:xfrm xmlns:a="http://schemas.openxmlformats.org/drawingml/2006/main">
            <a:off x="781050" y="16764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B42318"/>
                </a:solidFill>
                <a:latin typeface="Arial"/>
                <a:ea typeface="Arial"/>
                <a:cs typeface="Arial"/>
              </a:defRPr>
            </a:pPr>
            <a:r>
              <a:rPr sz="1125" b="1">
                <a:solidFill>
                  <a:srgbClr val="B42318"/>
                </a:solidFill>
                <a:latin typeface="Arial"/>
                <a:ea typeface="Arial"/>
                <a:cs typeface="Arial"/>
              </a:rPr>
              <a:t>OPTION A — FULL DATA COPY</a:t>
            </a:r>
          </a:p>
        </p:txBody>
      </p:sp>
      <p:sp>
        <p:nvSpPr>
          <p:cNvPr id="5" name="">
            <a:extLst xmlns:a="http://schemas.openxmlformats.org/drawingml/2006/main">
              <a:ext uri="{FF2B5EF4-FFF2-40B4-BE49-F238E27FC236}">
                <a16:creationId xmlns:a16="http://schemas.microsoft.com/office/drawing/2014/main" id="{D5F22FA3-58FC-4EE8-8E35-66F5869EE43B}"/>
              </a:ext>
            </a:extLst>
          </p:cNvPr>
          <p:cNvSpPr>
            <a:spLocks xmlns:a="http://schemas.openxmlformats.org/drawingml/2006/main" noGrp="1"/>
          </p:cNvSpPr>
          <p:nvPr/>
        </p:nvSpPr>
        <p:spPr>
          <a:xfrm xmlns:a="http://schemas.openxmlformats.org/drawingml/2006/main">
            <a:off x="2114550" y="2667000"/>
            <a:ext cx="723900" cy="266700"/>
          </a:xfrm>
          <a:prstGeom xmlns:a="http://schemas.openxmlformats.org/drawingml/2006/main" prst="rightArrow">
            <a:avLst/>
          </a:prstGeom>
          <a:solidFill xmlns:a="http://schemas.openxmlformats.org/drawingml/2006/main">
            <a:srgbClr val="B42318"/>
          </a:solidFill>
          <a:ln xmlns:a="http://schemas.openxmlformats.org/drawingml/2006/main" w="4763">
            <a:solidFill>
              <a:srgbClr val="B42318"/>
            </a:solidFill>
            <a:prstDash val="solid"/>
          </a:ln>
        </p:spPr>
      </p:sp>
      <p:sp>
        <p:nvSpPr>
          <p:cNvPr id="6" name="">
            <a:extLst xmlns:a="http://schemas.openxmlformats.org/drawingml/2006/main">
              <a:ext uri="{FF2B5EF4-FFF2-40B4-BE49-F238E27FC236}">
                <a16:creationId xmlns:a16="http://schemas.microsoft.com/office/drawing/2014/main" id="{B96C15AC-6FDE-42DA-876A-2BF9AB159F34}"/>
              </a:ext>
            </a:extLst>
          </p:cNvPr>
          <p:cNvSpPr>
            <a:spLocks xmlns:a="http://schemas.openxmlformats.org/drawingml/2006/main" noGrp="1"/>
          </p:cNvSpPr>
          <p:nvPr/>
        </p:nvSpPr>
        <p:spPr>
          <a:xfrm xmlns:a="http://schemas.openxmlformats.org/drawingml/2006/main">
            <a:off x="781050" y="2247900"/>
            <a:ext cx="1314450" cy="1104900"/>
          </a:xfrm>
          <a:prstGeom xmlns:a="http://schemas.openxmlformats.org/drawingml/2006/main" prst="roundRect">
            <a:avLst>
              <a:gd name="adj" fmla="val 12069"/>
            </a:avLst>
          </a:prstGeom>
          <a:solidFill xmlns:a="http://schemas.openxmlformats.org/drawingml/2006/main">
            <a:srgbClr val="FFFFFF"/>
          </a:solidFill>
          <a:ln xmlns:a="http://schemas.openxmlformats.org/drawingml/2006/main" w="11430">
            <a:solidFill>
              <a:srgbClr val="B4231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2C6B99F-037E-42B1-8D44-9FAB07DDF1C0}"/>
              </a:ext>
            </a:extLst>
          </p:cNvPr>
          <p:cNvSpPr>
            <a:spLocks xmlns:a="http://schemas.openxmlformats.org/drawingml/2006/main" noGrp="1"/>
          </p:cNvSpPr>
          <p:nvPr/>
        </p:nvSpPr>
        <p:spPr>
          <a:xfrm xmlns:a="http://schemas.openxmlformats.org/drawingml/2006/main">
            <a:off x="895350" y="2343150"/>
            <a:ext cx="108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4875"/>
          </a:bodyPr>
          <a:lstStyle xmlns:a="http://schemas.openxmlformats.org/drawingml/2006/main"/>
          <a:p xmlns:a="http://schemas.openxmlformats.org/drawingml/2006/main">
            <a:pPr algn="ctr">
              <a:defRPr sz="1350" b="1">
                <a:solidFill>
                  <a:srgbClr val="101828"/>
                </a:solidFill>
                <a:latin typeface="Arial"/>
                <a:ea typeface="Arial"/>
                <a:cs typeface="Arial"/>
              </a:defRPr>
            </a:pPr>
            <a:r>
              <a:rPr sz="1350" b="1">
                <a:solidFill>
                  <a:srgbClr val="101828"/>
                </a:solidFill>
                <a:latin typeface="Arial"/>
                <a:ea typeface="Arial"/>
                <a:cs typeface="Arial"/>
              </a:rPr>
              <a:t>Rahona ADLS</a:t>
            </a:r>
          </a:p>
        </p:txBody>
      </p:sp>
      <p:sp>
        <p:nvSpPr>
          <p:cNvPr id="8" name="">
            <a:extLst xmlns:a="http://schemas.openxmlformats.org/drawingml/2006/main">
              <a:ext uri="{FF2B5EF4-FFF2-40B4-BE49-F238E27FC236}">
                <a16:creationId xmlns:a16="http://schemas.microsoft.com/office/drawing/2014/main" id="{DBF67C3D-9265-443A-9309-11AAD7912718}"/>
              </a:ext>
            </a:extLst>
          </p:cNvPr>
          <p:cNvSpPr>
            <a:spLocks xmlns:a="http://schemas.openxmlformats.org/drawingml/2006/main" noGrp="1"/>
          </p:cNvSpPr>
          <p:nvPr/>
        </p:nvSpPr>
        <p:spPr>
          <a:xfrm xmlns:a="http://schemas.openxmlformats.org/drawingml/2006/main">
            <a:off x="895350" y="2657475"/>
            <a:ext cx="1085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Curated source</a:t>
            </a:r>
          </a:p>
        </p:txBody>
      </p:sp>
      <p:sp>
        <p:nvSpPr>
          <p:cNvPr id="9" name="">
            <a:extLst xmlns:a="http://schemas.openxmlformats.org/drawingml/2006/main">
              <a:ext uri="{FF2B5EF4-FFF2-40B4-BE49-F238E27FC236}">
                <a16:creationId xmlns:a16="http://schemas.microsoft.com/office/drawing/2014/main" id="{B0BDC944-71DF-4581-B981-283E1BF3EE24}"/>
              </a:ext>
            </a:extLst>
          </p:cNvPr>
          <p:cNvSpPr>
            <a:spLocks xmlns:a="http://schemas.openxmlformats.org/drawingml/2006/main" noGrp="1"/>
          </p:cNvSpPr>
          <p:nvPr/>
        </p:nvSpPr>
        <p:spPr>
          <a:xfrm xmlns:a="http://schemas.openxmlformats.org/drawingml/2006/main">
            <a:off x="2857500" y="2095500"/>
            <a:ext cx="2381250" cy="1409700"/>
          </a:xfrm>
          <a:prstGeom xmlns:a="http://schemas.openxmlformats.org/drawingml/2006/main" prst="roundRect">
            <a:avLst>
              <a:gd name="adj" fmla="val 9459"/>
            </a:avLst>
          </a:prstGeom>
          <a:solidFill xmlns:a="http://schemas.openxmlformats.org/drawingml/2006/main">
            <a:srgbClr val="FFFFFF"/>
          </a:solidFill>
          <a:ln xmlns:a="http://schemas.openxmlformats.org/drawingml/2006/main" w="11430">
            <a:solidFill>
              <a:srgbClr val="B4231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B2CDC8C0-480F-4EDE-A32A-C74313B3472C}"/>
              </a:ext>
            </a:extLst>
          </p:cNvPr>
          <p:cNvSpPr>
            <a:spLocks xmlns:a="http://schemas.openxmlformats.org/drawingml/2006/main" noGrp="1"/>
          </p:cNvSpPr>
          <p:nvPr/>
        </p:nvSpPr>
        <p:spPr>
          <a:xfrm xmlns:a="http://schemas.openxmlformats.org/drawingml/2006/main">
            <a:off x="2971800" y="219075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01828"/>
                </a:solidFill>
                <a:latin typeface="Arial"/>
                <a:ea typeface="Arial"/>
                <a:cs typeface="Arial"/>
              </a:defRPr>
            </a:pPr>
            <a:r>
              <a:rPr sz="1425" b="1">
                <a:solidFill>
                  <a:srgbClr val="101828"/>
                </a:solidFill>
                <a:latin typeface="Arial"/>
                <a:ea typeface="Arial"/>
                <a:cs typeface="Arial"/>
              </a:rPr>
              <a:t>AskAlpha analytics copy</a:t>
            </a:r>
          </a:p>
        </p:txBody>
      </p:sp>
      <p:sp>
        <p:nvSpPr>
          <p:cNvPr id="11" name="">
            <a:extLst xmlns:a="http://schemas.openxmlformats.org/drawingml/2006/main">
              <a:ext uri="{FF2B5EF4-FFF2-40B4-BE49-F238E27FC236}">
                <a16:creationId xmlns:a16="http://schemas.microsoft.com/office/drawing/2014/main" id="{AA8D79F9-0BB2-4AF4-878D-36674B4C6D70}"/>
              </a:ext>
            </a:extLst>
          </p:cNvPr>
          <p:cNvSpPr>
            <a:spLocks xmlns:a="http://schemas.openxmlformats.org/drawingml/2006/main" noGrp="1"/>
          </p:cNvSpPr>
          <p:nvPr/>
        </p:nvSpPr>
        <p:spPr>
          <a:xfrm xmlns:a="http://schemas.openxmlformats.org/drawingml/2006/main">
            <a:off x="2971800" y="2505075"/>
            <a:ext cx="21526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Duplicated storage</a:t>
            </a:r>
          </a:p>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refresh pipeline</a:t>
            </a:r>
          </a:p>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separate lifecycle</a:t>
            </a:r>
          </a:p>
        </p:txBody>
      </p:sp>
      <p:sp>
        <p:nvSpPr>
          <p:cNvPr id="12" name="">
            <a:extLst xmlns:a="http://schemas.openxmlformats.org/drawingml/2006/main">
              <a:ext uri="{FF2B5EF4-FFF2-40B4-BE49-F238E27FC236}">
                <a16:creationId xmlns:a16="http://schemas.microsoft.com/office/drawing/2014/main" id="{6A59D780-031E-42E7-810C-E11BFEC58D87}"/>
              </a:ext>
            </a:extLst>
          </p:cNvPr>
          <p:cNvSpPr>
            <a:spLocks xmlns:a="http://schemas.openxmlformats.org/drawingml/2006/main" noGrp="1"/>
          </p:cNvSpPr>
          <p:nvPr/>
        </p:nvSpPr>
        <p:spPr>
          <a:xfrm xmlns:a="http://schemas.openxmlformats.org/drawingml/2006/main">
            <a:off x="781050" y="3905250"/>
            <a:ext cx="95250" cy="95250"/>
          </a:xfrm>
          <a:prstGeom xmlns:a="http://schemas.openxmlformats.org/drawingml/2006/main" prst="ellipse">
            <a:avLst/>
          </a:prstGeom>
          <a:solidFill xmlns:a="http://schemas.openxmlformats.org/drawingml/2006/main">
            <a:srgbClr val="B42318"/>
          </a:solidFill>
          <a:ln xmlns:a="http://schemas.openxmlformats.org/drawingml/2006/main" w="0">
            <a:solidFill>
              <a:srgbClr val="B42318"/>
            </a:solidFill>
            <a:prstDash val="solid"/>
          </a:ln>
        </p:spPr>
      </p:sp>
      <p:sp>
        <p:nvSpPr>
          <p:cNvPr id="13" name="">
            <a:extLst xmlns:a="http://schemas.openxmlformats.org/drawingml/2006/main">
              <a:ext uri="{FF2B5EF4-FFF2-40B4-BE49-F238E27FC236}">
                <a16:creationId xmlns:a16="http://schemas.microsoft.com/office/drawing/2014/main" id="{5777665D-2041-4EDC-B283-4C7B990F89A6}"/>
              </a:ext>
            </a:extLst>
          </p:cNvPr>
          <p:cNvSpPr>
            <a:spLocks xmlns:a="http://schemas.openxmlformats.org/drawingml/2006/main" noGrp="1"/>
          </p:cNvSpPr>
          <p:nvPr/>
        </p:nvSpPr>
        <p:spPr>
          <a:xfrm xmlns:a="http://schemas.openxmlformats.org/drawingml/2006/main">
            <a:off x="990600" y="3829050"/>
            <a:ext cx="411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Large transfer and storage footprint</a:t>
            </a:r>
          </a:p>
        </p:txBody>
      </p:sp>
      <p:sp>
        <p:nvSpPr>
          <p:cNvPr id="14" name="">
            <a:extLst xmlns:a="http://schemas.openxmlformats.org/drawingml/2006/main">
              <a:ext uri="{FF2B5EF4-FFF2-40B4-BE49-F238E27FC236}">
                <a16:creationId xmlns:a16="http://schemas.microsoft.com/office/drawing/2014/main" id="{B742060D-E77D-4014-805F-455C0EB94BAC}"/>
              </a:ext>
            </a:extLst>
          </p:cNvPr>
          <p:cNvSpPr>
            <a:spLocks xmlns:a="http://schemas.openxmlformats.org/drawingml/2006/main" noGrp="1"/>
          </p:cNvSpPr>
          <p:nvPr/>
        </p:nvSpPr>
        <p:spPr>
          <a:xfrm xmlns:a="http://schemas.openxmlformats.org/drawingml/2006/main">
            <a:off x="781050" y="4305300"/>
            <a:ext cx="95250" cy="95250"/>
          </a:xfrm>
          <a:prstGeom xmlns:a="http://schemas.openxmlformats.org/drawingml/2006/main" prst="ellipse">
            <a:avLst/>
          </a:prstGeom>
          <a:solidFill xmlns:a="http://schemas.openxmlformats.org/drawingml/2006/main">
            <a:srgbClr val="B42318"/>
          </a:solidFill>
          <a:ln xmlns:a="http://schemas.openxmlformats.org/drawingml/2006/main" w="0">
            <a:solidFill>
              <a:srgbClr val="B42318"/>
            </a:solidFill>
            <a:prstDash val="solid"/>
          </a:ln>
        </p:spPr>
      </p:sp>
      <p:sp>
        <p:nvSpPr>
          <p:cNvPr id="15" name="">
            <a:extLst xmlns:a="http://schemas.openxmlformats.org/drawingml/2006/main">
              <a:ext uri="{FF2B5EF4-FFF2-40B4-BE49-F238E27FC236}">
                <a16:creationId xmlns:a16="http://schemas.microsoft.com/office/drawing/2014/main" id="{28A7DB35-AA43-447E-A47B-FAD2B05C7A8D}"/>
              </a:ext>
            </a:extLst>
          </p:cNvPr>
          <p:cNvSpPr>
            <a:spLocks xmlns:a="http://schemas.openxmlformats.org/drawingml/2006/main" noGrp="1"/>
          </p:cNvSpPr>
          <p:nvPr/>
        </p:nvSpPr>
        <p:spPr>
          <a:xfrm xmlns:a="http://schemas.openxmlformats.org/drawingml/2006/main">
            <a:off x="990600" y="4229100"/>
            <a:ext cx="411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Freshness lag and refresh operations</a:t>
            </a:r>
          </a:p>
        </p:txBody>
      </p:sp>
      <p:sp>
        <p:nvSpPr>
          <p:cNvPr id="16" name="">
            <a:extLst xmlns:a="http://schemas.openxmlformats.org/drawingml/2006/main">
              <a:ext uri="{FF2B5EF4-FFF2-40B4-BE49-F238E27FC236}">
                <a16:creationId xmlns:a16="http://schemas.microsoft.com/office/drawing/2014/main" id="{EF738F91-76FF-4197-99CC-D06A9A1D00CB}"/>
              </a:ext>
            </a:extLst>
          </p:cNvPr>
          <p:cNvSpPr>
            <a:spLocks xmlns:a="http://schemas.openxmlformats.org/drawingml/2006/main" noGrp="1"/>
          </p:cNvSpPr>
          <p:nvPr/>
        </p:nvSpPr>
        <p:spPr>
          <a:xfrm xmlns:a="http://schemas.openxmlformats.org/drawingml/2006/main">
            <a:off x="781050" y="4705350"/>
            <a:ext cx="95250" cy="95250"/>
          </a:xfrm>
          <a:prstGeom xmlns:a="http://schemas.openxmlformats.org/drawingml/2006/main" prst="ellipse">
            <a:avLst/>
          </a:prstGeom>
          <a:solidFill xmlns:a="http://schemas.openxmlformats.org/drawingml/2006/main">
            <a:srgbClr val="B42318"/>
          </a:solidFill>
          <a:ln xmlns:a="http://schemas.openxmlformats.org/drawingml/2006/main" w="0">
            <a:solidFill>
              <a:srgbClr val="B42318"/>
            </a:solidFill>
            <a:prstDash val="solid"/>
          </a:ln>
        </p:spPr>
      </p:sp>
      <p:sp>
        <p:nvSpPr>
          <p:cNvPr id="17" name="">
            <a:extLst xmlns:a="http://schemas.openxmlformats.org/drawingml/2006/main">
              <a:ext uri="{FF2B5EF4-FFF2-40B4-BE49-F238E27FC236}">
                <a16:creationId xmlns:a16="http://schemas.microsoft.com/office/drawing/2014/main" id="{D383DC81-C689-4A17-BC50-54A05B1FA84F}"/>
              </a:ext>
            </a:extLst>
          </p:cNvPr>
          <p:cNvSpPr>
            <a:spLocks xmlns:a="http://schemas.openxmlformats.org/drawingml/2006/main" noGrp="1"/>
          </p:cNvSpPr>
          <p:nvPr/>
        </p:nvSpPr>
        <p:spPr>
          <a:xfrm xmlns:a="http://schemas.openxmlformats.org/drawingml/2006/main">
            <a:off x="990600" y="4629150"/>
            <a:ext cx="411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Policy, masking and retention duplication</a:t>
            </a:r>
          </a:p>
        </p:txBody>
      </p:sp>
      <p:sp>
        <p:nvSpPr>
          <p:cNvPr id="18" name="">
            <a:extLst xmlns:a="http://schemas.openxmlformats.org/drawingml/2006/main">
              <a:ext uri="{FF2B5EF4-FFF2-40B4-BE49-F238E27FC236}">
                <a16:creationId xmlns:a16="http://schemas.microsoft.com/office/drawing/2014/main" id="{F2D69900-5C8E-4700-AD52-C0B16D49EAB0}"/>
              </a:ext>
            </a:extLst>
          </p:cNvPr>
          <p:cNvSpPr>
            <a:spLocks xmlns:a="http://schemas.openxmlformats.org/drawingml/2006/main" noGrp="1"/>
          </p:cNvSpPr>
          <p:nvPr/>
        </p:nvSpPr>
        <p:spPr>
          <a:xfrm xmlns:a="http://schemas.openxmlformats.org/drawingml/2006/main">
            <a:off x="781050" y="5105400"/>
            <a:ext cx="95250" cy="95250"/>
          </a:xfrm>
          <a:prstGeom xmlns:a="http://schemas.openxmlformats.org/drawingml/2006/main" prst="ellipse">
            <a:avLst/>
          </a:prstGeom>
          <a:solidFill xmlns:a="http://schemas.openxmlformats.org/drawingml/2006/main">
            <a:srgbClr val="B42318"/>
          </a:solidFill>
          <a:ln xmlns:a="http://schemas.openxmlformats.org/drawingml/2006/main" w="0">
            <a:solidFill>
              <a:srgbClr val="B42318"/>
            </a:solidFill>
            <a:prstDash val="solid"/>
          </a:ln>
        </p:spPr>
      </p:sp>
      <p:sp>
        <p:nvSpPr>
          <p:cNvPr id="19" name="">
            <a:extLst xmlns:a="http://schemas.openxmlformats.org/drawingml/2006/main">
              <a:ext uri="{FF2B5EF4-FFF2-40B4-BE49-F238E27FC236}">
                <a16:creationId xmlns:a16="http://schemas.microsoft.com/office/drawing/2014/main" id="{17760D68-13E1-4DDE-8167-577F473A4165}"/>
              </a:ext>
            </a:extLst>
          </p:cNvPr>
          <p:cNvSpPr>
            <a:spLocks xmlns:a="http://schemas.openxmlformats.org/drawingml/2006/main" noGrp="1"/>
          </p:cNvSpPr>
          <p:nvPr/>
        </p:nvSpPr>
        <p:spPr>
          <a:xfrm xmlns:a="http://schemas.openxmlformats.org/drawingml/2006/main">
            <a:off x="990600" y="5029200"/>
            <a:ext cx="411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Clear ownership and support model required</a:t>
            </a:r>
          </a:p>
        </p:txBody>
      </p:sp>
      <p:sp>
        <p:nvSpPr>
          <p:cNvPr id="20" name="">
            <a:extLst xmlns:a="http://schemas.openxmlformats.org/drawingml/2006/main">
              <a:ext uri="{FF2B5EF4-FFF2-40B4-BE49-F238E27FC236}">
                <a16:creationId xmlns:a16="http://schemas.microsoft.com/office/drawing/2014/main" id="{38E4D33A-2BF2-460A-8CB5-DF423174AD0B}"/>
              </a:ext>
            </a:extLst>
          </p:cNvPr>
          <p:cNvSpPr>
            <a:spLocks xmlns:a="http://schemas.openxmlformats.org/drawingml/2006/main" noGrp="1"/>
          </p:cNvSpPr>
          <p:nvPr/>
        </p:nvSpPr>
        <p:spPr>
          <a:xfrm xmlns:a="http://schemas.openxmlformats.org/drawingml/2006/main">
            <a:off x="5962650" y="1428750"/>
            <a:ext cx="5676900" cy="4210050"/>
          </a:xfrm>
          <a:prstGeom xmlns:a="http://schemas.openxmlformats.org/drawingml/2006/main" prst="roundRect">
            <a:avLst>
              <a:gd name="adj" fmla="val 4072"/>
            </a:avLst>
          </a:prstGeom>
          <a:solidFill xmlns:a="http://schemas.openxmlformats.org/drawingml/2006/main">
            <a:srgbClr val="E8F5F2"/>
          </a:solidFill>
          <a:ln xmlns:a="http://schemas.openxmlformats.org/drawingml/2006/main" w="11430">
            <a:solidFill>
              <a:srgbClr val="157A6E"/>
            </a:solidFill>
            <a:prstDash val="solid"/>
          </a:ln>
        </p:spPr>
      </p:sp>
      <p:sp>
        <p:nvSpPr>
          <p:cNvPr id="21" name="">
            <a:extLst xmlns:a="http://schemas.openxmlformats.org/drawingml/2006/main">
              <a:ext uri="{FF2B5EF4-FFF2-40B4-BE49-F238E27FC236}">
                <a16:creationId xmlns:a16="http://schemas.microsoft.com/office/drawing/2014/main" id="{CDD9DF02-E376-4639-B207-E799DBA5955B}"/>
              </a:ext>
            </a:extLst>
          </p:cNvPr>
          <p:cNvSpPr>
            <a:spLocks xmlns:a="http://schemas.openxmlformats.org/drawingml/2006/main" noGrp="1"/>
          </p:cNvSpPr>
          <p:nvPr/>
        </p:nvSpPr>
        <p:spPr>
          <a:xfrm xmlns:a="http://schemas.openxmlformats.org/drawingml/2006/main">
            <a:off x="6229350" y="16764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57A6E"/>
                </a:solidFill>
                <a:latin typeface="Arial"/>
                <a:ea typeface="Arial"/>
                <a:cs typeface="Arial"/>
              </a:defRPr>
            </a:pPr>
            <a:r>
              <a:rPr sz="1125" b="1">
                <a:solidFill>
                  <a:srgbClr val="157A6E"/>
                </a:solidFill>
                <a:latin typeface="Arial"/>
                <a:ea typeface="Arial"/>
                <a:cs typeface="Arial"/>
              </a:rPr>
              <a:t>OPTION B — QUERY EXISTING DELTA IN PLACE</a:t>
            </a:r>
          </a:p>
        </p:txBody>
      </p:sp>
      <p:sp>
        <p:nvSpPr>
          <p:cNvPr id="22" name="">
            <a:extLst xmlns:a="http://schemas.openxmlformats.org/drawingml/2006/main">
              <a:ext uri="{FF2B5EF4-FFF2-40B4-BE49-F238E27FC236}">
                <a16:creationId xmlns:a16="http://schemas.microsoft.com/office/drawing/2014/main" id="{68599A59-D432-4F98-96E6-FC62FC614938}"/>
              </a:ext>
            </a:extLst>
          </p:cNvPr>
          <p:cNvSpPr>
            <a:spLocks xmlns:a="http://schemas.openxmlformats.org/drawingml/2006/main" noGrp="1"/>
          </p:cNvSpPr>
          <p:nvPr/>
        </p:nvSpPr>
        <p:spPr>
          <a:xfrm xmlns:a="http://schemas.openxmlformats.org/drawingml/2006/main">
            <a:off x="7962900" y="2667000"/>
            <a:ext cx="723900" cy="266700"/>
          </a:xfrm>
          <a:prstGeom xmlns:a="http://schemas.openxmlformats.org/drawingml/2006/main" prst="rightArrow">
            <a:avLst/>
          </a:prstGeom>
          <a:solidFill xmlns:a="http://schemas.openxmlformats.org/drawingml/2006/main">
            <a:srgbClr val="157A6E"/>
          </a:solidFill>
          <a:ln xmlns:a="http://schemas.openxmlformats.org/drawingml/2006/main" w="4763">
            <a:solidFill>
              <a:srgbClr val="157A6E"/>
            </a:solidFill>
            <a:prstDash val="solid"/>
          </a:ln>
        </p:spPr>
      </p:sp>
      <p:sp>
        <p:nvSpPr>
          <p:cNvPr id="23" name="">
            <a:extLst xmlns:a="http://schemas.openxmlformats.org/drawingml/2006/main">
              <a:ext uri="{FF2B5EF4-FFF2-40B4-BE49-F238E27FC236}">
                <a16:creationId xmlns:a16="http://schemas.microsoft.com/office/drawing/2014/main" id="{6A73632B-FB0A-4AE9-ACE9-6BB54723E960}"/>
              </a:ext>
            </a:extLst>
          </p:cNvPr>
          <p:cNvSpPr>
            <a:spLocks xmlns:a="http://schemas.openxmlformats.org/drawingml/2006/main" noGrp="1"/>
          </p:cNvSpPr>
          <p:nvPr/>
        </p:nvSpPr>
        <p:spPr>
          <a:xfrm xmlns:a="http://schemas.openxmlformats.org/drawingml/2006/main">
            <a:off x="6229350" y="2095500"/>
            <a:ext cx="1714500" cy="1409700"/>
          </a:xfrm>
          <a:prstGeom xmlns:a="http://schemas.openxmlformats.org/drawingml/2006/main" prst="roundRect">
            <a:avLst>
              <a:gd name="adj" fmla="val 9459"/>
            </a:avLst>
          </a:prstGeom>
          <a:solidFill xmlns:a="http://schemas.openxmlformats.org/drawingml/2006/main">
            <a:srgbClr val="FFFFFF"/>
          </a:solidFill>
          <a:ln xmlns:a="http://schemas.openxmlformats.org/drawingml/2006/main" w="11430">
            <a:solidFill>
              <a:srgbClr val="157A6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8F0F4997-5A0D-4D6B-BA3C-45A0AC82AB30}"/>
              </a:ext>
            </a:extLst>
          </p:cNvPr>
          <p:cNvSpPr>
            <a:spLocks xmlns:a="http://schemas.openxmlformats.org/drawingml/2006/main" noGrp="1"/>
          </p:cNvSpPr>
          <p:nvPr/>
        </p:nvSpPr>
        <p:spPr>
          <a:xfrm xmlns:a="http://schemas.openxmlformats.org/drawingml/2006/main">
            <a:off x="6343650" y="21907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01828"/>
                </a:solidFill>
                <a:latin typeface="Arial"/>
                <a:ea typeface="Arial"/>
                <a:cs typeface="Arial"/>
              </a:defRPr>
            </a:pPr>
            <a:r>
              <a:rPr sz="1425" b="1">
                <a:solidFill>
                  <a:srgbClr val="101828"/>
                </a:solidFill>
                <a:latin typeface="Arial"/>
                <a:ea typeface="Arial"/>
                <a:cs typeface="Arial"/>
              </a:rPr>
              <a:t>Databricks SQL</a:t>
            </a:r>
          </a:p>
        </p:txBody>
      </p:sp>
      <p:sp>
        <p:nvSpPr>
          <p:cNvPr id="25" name="">
            <a:extLst xmlns:a="http://schemas.openxmlformats.org/drawingml/2006/main">
              <a:ext uri="{FF2B5EF4-FFF2-40B4-BE49-F238E27FC236}">
                <a16:creationId xmlns:a16="http://schemas.microsoft.com/office/drawing/2014/main" id="{D926F3BE-9AF6-4567-A7E1-9E30BEBBFD02}"/>
              </a:ext>
            </a:extLst>
          </p:cNvPr>
          <p:cNvSpPr>
            <a:spLocks xmlns:a="http://schemas.openxmlformats.org/drawingml/2006/main" noGrp="1"/>
          </p:cNvSpPr>
          <p:nvPr/>
        </p:nvSpPr>
        <p:spPr>
          <a:xfrm xmlns:a="http://schemas.openxmlformats.org/drawingml/2006/main">
            <a:off x="6343650" y="2505075"/>
            <a:ext cx="14859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Approved interactive</a:t>
            </a:r>
          </a:p>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compute endpoint</a:t>
            </a:r>
          </a:p>
        </p:txBody>
      </p:sp>
      <p:sp>
        <p:nvSpPr>
          <p:cNvPr id="26" name="">
            <a:extLst xmlns:a="http://schemas.openxmlformats.org/drawingml/2006/main">
              <a:ext uri="{FF2B5EF4-FFF2-40B4-BE49-F238E27FC236}">
                <a16:creationId xmlns:a16="http://schemas.microsoft.com/office/drawing/2014/main" id="{D14D037B-B92A-49BC-84D7-44151A38A43C}"/>
              </a:ext>
            </a:extLst>
          </p:cNvPr>
          <p:cNvSpPr>
            <a:spLocks xmlns:a="http://schemas.openxmlformats.org/drawingml/2006/main" noGrp="1"/>
          </p:cNvSpPr>
          <p:nvPr/>
        </p:nvSpPr>
        <p:spPr>
          <a:xfrm xmlns:a="http://schemas.openxmlformats.org/drawingml/2006/main">
            <a:off x="8705850" y="2095500"/>
            <a:ext cx="2628900" cy="1409700"/>
          </a:xfrm>
          <a:prstGeom xmlns:a="http://schemas.openxmlformats.org/drawingml/2006/main" prst="roundRect">
            <a:avLst>
              <a:gd name="adj" fmla="val 9459"/>
            </a:avLst>
          </a:prstGeom>
          <a:solidFill xmlns:a="http://schemas.openxmlformats.org/drawingml/2006/main">
            <a:srgbClr val="FFFFFF"/>
          </a:solidFill>
          <a:ln xmlns:a="http://schemas.openxmlformats.org/drawingml/2006/main" w="11430">
            <a:solidFill>
              <a:srgbClr val="157A6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F2B869B8-8ADF-4F7B-AD5E-E89DFE145BEC}"/>
              </a:ext>
            </a:extLst>
          </p:cNvPr>
          <p:cNvSpPr>
            <a:spLocks xmlns:a="http://schemas.openxmlformats.org/drawingml/2006/main" noGrp="1"/>
          </p:cNvSpPr>
          <p:nvPr/>
        </p:nvSpPr>
        <p:spPr>
          <a:xfrm xmlns:a="http://schemas.openxmlformats.org/drawingml/2006/main">
            <a:off x="8820150" y="21907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01828"/>
                </a:solidFill>
                <a:latin typeface="Arial"/>
                <a:ea typeface="Arial"/>
                <a:cs typeface="Arial"/>
              </a:defRPr>
            </a:pPr>
            <a:r>
              <a:rPr sz="1425" b="1">
                <a:solidFill>
                  <a:srgbClr val="101828"/>
                </a:solidFill>
                <a:latin typeface="Arial"/>
                <a:ea typeface="Arial"/>
                <a:cs typeface="Arial"/>
              </a:rPr>
              <a:t>Unity external table</a:t>
            </a:r>
          </a:p>
        </p:txBody>
      </p:sp>
      <p:sp>
        <p:nvSpPr>
          <p:cNvPr id="28" name="">
            <a:extLst xmlns:a="http://schemas.openxmlformats.org/drawingml/2006/main">
              <a:ext uri="{FF2B5EF4-FFF2-40B4-BE49-F238E27FC236}">
                <a16:creationId xmlns:a16="http://schemas.microsoft.com/office/drawing/2014/main" id="{A3038745-492B-4898-AB4C-7963E0809B12}"/>
              </a:ext>
            </a:extLst>
          </p:cNvPr>
          <p:cNvSpPr>
            <a:spLocks xmlns:a="http://schemas.openxmlformats.org/drawingml/2006/main" noGrp="1"/>
          </p:cNvSpPr>
          <p:nvPr/>
        </p:nvSpPr>
        <p:spPr>
          <a:xfrm xmlns:a="http://schemas.openxmlformats.org/drawingml/2006/main">
            <a:off x="8820150" y="2505075"/>
            <a:ext cx="24003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Metadata and governance</a:t>
            </a:r>
          </a:p>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reference existing Delta</a:t>
            </a:r>
          </a:p>
          <a:p xmlns:a="http://schemas.openxmlformats.org/drawingml/2006/main">
            <a:pPr algn="ctr">
              <a:defRPr sz="1125" b="0">
                <a:solidFill>
                  <a:srgbClr val="667085"/>
                </a:solidFill>
                <a:latin typeface="Arial"/>
                <a:ea typeface="Arial"/>
                <a:cs typeface="Arial"/>
              </a:defRPr>
            </a:pPr>
            <a:r>
              <a:rPr sz="1125" b="0">
                <a:solidFill>
                  <a:srgbClr val="667085"/>
                </a:solidFill>
                <a:latin typeface="Arial"/>
                <a:ea typeface="Arial"/>
                <a:cs typeface="Arial"/>
              </a:rPr>
              <a:t>in customer ADLS</a:t>
            </a:r>
          </a:p>
        </p:txBody>
      </p:sp>
      <p:sp>
        <p:nvSpPr>
          <p:cNvPr id="29" name="">
            <a:extLst xmlns:a="http://schemas.openxmlformats.org/drawingml/2006/main">
              <a:ext uri="{FF2B5EF4-FFF2-40B4-BE49-F238E27FC236}">
                <a16:creationId xmlns:a16="http://schemas.microsoft.com/office/drawing/2014/main" id="{949FC9A4-C55E-4E48-BA46-141C09F34462}"/>
              </a:ext>
            </a:extLst>
          </p:cNvPr>
          <p:cNvSpPr>
            <a:spLocks xmlns:a="http://schemas.openxmlformats.org/drawingml/2006/main" noGrp="1"/>
          </p:cNvSpPr>
          <p:nvPr/>
        </p:nvSpPr>
        <p:spPr>
          <a:xfrm xmlns:a="http://schemas.openxmlformats.org/drawingml/2006/main">
            <a:off x="6229350" y="3905250"/>
            <a:ext cx="95250" cy="95250"/>
          </a:xfrm>
          <a:prstGeom xmlns:a="http://schemas.openxmlformats.org/drawingml/2006/main" prst="ellipse">
            <a:avLst/>
          </a:prstGeom>
          <a:solidFill xmlns:a="http://schemas.openxmlformats.org/drawingml/2006/main">
            <a:srgbClr val="157A6E"/>
          </a:solidFill>
          <a:ln xmlns:a="http://schemas.openxmlformats.org/drawingml/2006/main" w="0">
            <a:solidFill>
              <a:srgbClr val="157A6E"/>
            </a:solidFill>
            <a:prstDash val="solid"/>
          </a:ln>
        </p:spPr>
      </p:sp>
      <p:sp>
        <p:nvSpPr>
          <p:cNvPr id="30" name="">
            <a:extLst xmlns:a="http://schemas.openxmlformats.org/drawingml/2006/main">
              <a:ext uri="{FF2B5EF4-FFF2-40B4-BE49-F238E27FC236}">
                <a16:creationId xmlns:a16="http://schemas.microsoft.com/office/drawing/2014/main" id="{C82766C3-7B1F-4256-B5E2-B3AD0724316C}"/>
              </a:ext>
            </a:extLst>
          </p:cNvPr>
          <p:cNvSpPr>
            <a:spLocks xmlns:a="http://schemas.openxmlformats.org/drawingml/2006/main" noGrp="1"/>
          </p:cNvSpPr>
          <p:nvPr/>
        </p:nvSpPr>
        <p:spPr>
          <a:xfrm xmlns:a="http://schemas.openxmlformats.org/drawingml/2006/main">
            <a:off x="6438900" y="3829050"/>
            <a:ext cx="4781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Avoid a copy solely for query access</a:t>
            </a:r>
          </a:p>
        </p:txBody>
      </p:sp>
      <p:sp>
        <p:nvSpPr>
          <p:cNvPr id="31" name="">
            <a:extLst xmlns:a="http://schemas.openxmlformats.org/drawingml/2006/main">
              <a:ext uri="{FF2B5EF4-FFF2-40B4-BE49-F238E27FC236}">
                <a16:creationId xmlns:a16="http://schemas.microsoft.com/office/drawing/2014/main" id="{4CB61E37-6E87-48B9-AFA7-3CE8069DAA2B}"/>
              </a:ext>
            </a:extLst>
          </p:cNvPr>
          <p:cNvSpPr>
            <a:spLocks xmlns:a="http://schemas.openxmlformats.org/drawingml/2006/main" noGrp="1"/>
          </p:cNvSpPr>
          <p:nvPr/>
        </p:nvSpPr>
        <p:spPr>
          <a:xfrm xmlns:a="http://schemas.openxmlformats.org/drawingml/2006/main">
            <a:off x="6229350" y="4305300"/>
            <a:ext cx="95250" cy="95250"/>
          </a:xfrm>
          <a:prstGeom xmlns:a="http://schemas.openxmlformats.org/drawingml/2006/main" prst="ellipse">
            <a:avLst/>
          </a:prstGeom>
          <a:solidFill xmlns:a="http://schemas.openxmlformats.org/drawingml/2006/main">
            <a:srgbClr val="157A6E"/>
          </a:solidFill>
          <a:ln xmlns:a="http://schemas.openxmlformats.org/drawingml/2006/main" w="0">
            <a:solidFill>
              <a:srgbClr val="157A6E"/>
            </a:solidFill>
            <a:prstDash val="solid"/>
          </a:ln>
        </p:spPr>
      </p:sp>
      <p:sp>
        <p:nvSpPr>
          <p:cNvPr id="32" name="">
            <a:extLst xmlns:a="http://schemas.openxmlformats.org/drawingml/2006/main">
              <a:ext uri="{FF2B5EF4-FFF2-40B4-BE49-F238E27FC236}">
                <a16:creationId xmlns:a16="http://schemas.microsoft.com/office/drawing/2014/main" id="{5AF4B796-835A-48DE-A3D2-04F2FB753601}"/>
              </a:ext>
            </a:extLst>
          </p:cNvPr>
          <p:cNvSpPr>
            <a:spLocks xmlns:a="http://schemas.openxmlformats.org/drawingml/2006/main" noGrp="1"/>
          </p:cNvSpPr>
          <p:nvPr/>
        </p:nvSpPr>
        <p:spPr>
          <a:xfrm xmlns:a="http://schemas.openxmlformats.org/drawingml/2006/main">
            <a:off x="6438900" y="4229100"/>
            <a:ext cx="4781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One governed source location</a:t>
            </a:r>
          </a:p>
        </p:txBody>
      </p:sp>
      <p:sp>
        <p:nvSpPr>
          <p:cNvPr id="33" name="">
            <a:extLst xmlns:a="http://schemas.openxmlformats.org/drawingml/2006/main">
              <a:ext uri="{FF2B5EF4-FFF2-40B4-BE49-F238E27FC236}">
                <a16:creationId xmlns:a16="http://schemas.microsoft.com/office/drawing/2014/main" id="{33013DEB-A607-4720-BE83-E28BDC5545D9}"/>
              </a:ext>
            </a:extLst>
          </p:cNvPr>
          <p:cNvSpPr>
            <a:spLocks xmlns:a="http://schemas.openxmlformats.org/drawingml/2006/main" noGrp="1"/>
          </p:cNvSpPr>
          <p:nvPr/>
        </p:nvSpPr>
        <p:spPr>
          <a:xfrm xmlns:a="http://schemas.openxmlformats.org/drawingml/2006/main">
            <a:off x="6229350" y="4705350"/>
            <a:ext cx="95250" cy="95250"/>
          </a:xfrm>
          <a:prstGeom xmlns:a="http://schemas.openxmlformats.org/drawingml/2006/main" prst="ellipse">
            <a:avLst/>
          </a:prstGeom>
          <a:solidFill xmlns:a="http://schemas.openxmlformats.org/drawingml/2006/main">
            <a:srgbClr val="157A6E"/>
          </a:solidFill>
          <a:ln xmlns:a="http://schemas.openxmlformats.org/drawingml/2006/main" w="0">
            <a:solidFill>
              <a:srgbClr val="157A6E"/>
            </a:solidFill>
            <a:prstDash val="solid"/>
          </a:ln>
        </p:spPr>
      </p:sp>
      <p:sp>
        <p:nvSpPr>
          <p:cNvPr id="34" name="">
            <a:extLst xmlns:a="http://schemas.openxmlformats.org/drawingml/2006/main">
              <a:ext uri="{FF2B5EF4-FFF2-40B4-BE49-F238E27FC236}">
                <a16:creationId xmlns:a16="http://schemas.microsoft.com/office/drawing/2014/main" id="{F2C7D019-0237-4FA0-8FA5-D8E0456BA8ED}"/>
              </a:ext>
            </a:extLst>
          </p:cNvPr>
          <p:cNvSpPr>
            <a:spLocks xmlns:a="http://schemas.openxmlformats.org/drawingml/2006/main" noGrp="1"/>
          </p:cNvSpPr>
          <p:nvPr/>
        </p:nvSpPr>
        <p:spPr>
          <a:xfrm xmlns:a="http://schemas.openxmlformats.org/drawingml/2006/main">
            <a:off x="6438900" y="4629150"/>
            <a:ext cx="4781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Compute performance still must be proven</a:t>
            </a:r>
          </a:p>
        </p:txBody>
      </p:sp>
      <p:sp>
        <p:nvSpPr>
          <p:cNvPr id="35" name="">
            <a:extLst xmlns:a="http://schemas.openxmlformats.org/drawingml/2006/main">
              <a:ext uri="{FF2B5EF4-FFF2-40B4-BE49-F238E27FC236}">
                <a16:creationId xmlns:a16="http://schemas.microsoft.com/office/drawing/2014/main" id="{DD08EC39-432A-417F-AECC-53DAD7900102}"/>
              </a:ext>
            </a:extLst>
          </p:cNvPr>
          <p:cNvSpPr>
            <a:spLocks xmlns:a="http://schemas.openxmlformats.org/drawingml/2006/main" noGrp="1"/>
          </p:cNvSpPr>
          <p:nvPr/>
        </p:nvSpPr>
        <p:spPr>
          <a:xfrm xmlns:a="http://schemas.openxmlformats.org/drawingml/2006/main">
            <a:off x="6229350" y="5105400"/>
            <a:ext cx="95250" cy="95250"/>
          </a:xfrm>
          <a:prstGeom xmlns:a="http://schemas.openxmlformats.org/drawingml/2006/main" prst="ellipse">
            <a:avLst/>
          </a:prstGeom>
          <a:solidFill xmlns:a="http://schemas.openxmlformats.org/drawingml/2006/main">
            <a:srgbClr val="157A6E"/>
          </a:solidFill>
          <a:ln xmlns:a="http://schemas.openxmlformats.org/drawingml/2006/main" w="0">
            <a:solidFill>
              <a:srgbClr val="157A6E"/>
            </a:solidFill>
            <a:prstDash val="solid"/>
          </a:ln>
        </p:spPr>
      </p:sp>
      <p:sp>
        <p:nvSpPr>
          <p:cNvPr id="36" name="">
            <a:extLst xmlns:a="http://schemas.openxmlformats.org/drawingml/2006/main">
              <a:ext uri="{FF2B5EF4-FFF2-40B4-BE49-F238E27FC236}">
                <a16:creationId xmlns:a16="http://schemas.microsoft.com/office/drawing/2014/main" id="{C106AB88-FFE4-4AE1-B9D2-00448D6F3FBF}"/>
              </a:ext>
            </a:extLst>
          </p:cNvPr>
          <p:cNvSpPr>
            <a:spLocks xmlns:a="http://schemas.openxmlformats.org/drawingml/2006/main" noGrp="1"/>
          </p:cNvSpPr>
          <p:nvPr/>
        </p:nvSpPr>
        <p:spPr>
          <a:xfrm xmlns:a="http://schemas.openxmlformats.org/drawingml/2006/main">
            <a:off x="6438900" y="5029200"/>
            <a:ext cx="4781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01828"/>
                </a:solidFill>
                <a:latin typeface="Arial"/>
                <a:ea typeface="Arial"/>
                <a:cs typeface="Arial"/>
              </a:defRPr>
            </a:pPr>
            <a:r>
              <a:rPr sz="1275" b="0">
                <a:solidFill>
                  <a:srgbClr val="101828"/>
                </a:solidFill>
                <a:latin typeface="Arial"/>
                <a:ea typeface="Arial"/>
                <a:cs typeface="Arial"/>
              </a:rPr>
              <a:t>Metadata sync and direct-path controls matter</a:t>
            </a:r>
          </a:p>
        </p:txBody>
      </p:sp>
      <p:sp>
        <p:nvSpPr>
          <p:cNvPr id="37" name="">
            <a:extLst xmlns:a="http://schemas.openxmlformats.org/drawingml/2006/main">
              <a:ext uri="{FF2B5EF4-FFF2-40B4-BE49-F238E27FC236}">
                <a16:creationId xmlns:a16="http://schemas.microsoft.com/office/drawing/2014/main" id="{2997EF01-0E7E-494F-BCFD-F779EE6AAB89}"/>
              </a:ext>
            </a:extLst>
          </p:cNvPr>
          <p:cNvSpPr>
            <a:spLocks xmlns:a="http://schemas.openxmlformats.org/drawingml/2006/main" noGrp="1"/>
          </p:cNvSpPr>
          <p:nvPr/>
        </p:nvSpPr>
        <p:spPr>
          <a:xfrm xmlns:a="http://schemas.openxmlformats.org/drawingml/2006/main">
            <a:off x="1447800" y="5810250"/>
            <a:ext cx="9296400" cy="419100"/>
          </a:xfrm>
          <a:prstGeom xmlns:a="http://schemas.openxmlformats.org/drawingml/2006/main" prst="roundRect">
            <a:avLst>
              <a:gd name="adj" fmla="val 22727"/>
            </a:avLst>
          </a:prstGeom>
          <a:solidFill xmlns:a="http://schemas.openxmlformats.org/drawingml/2006/main">
            <a:srgbClr val="FFF4D6"/>
          </a:solidFill>
          <a:ln xmlns:a="http://schemas.openxmlformats.org/drawingml/2006/main" w="9525">
            <a:solidFill>
              <a:srgbClr val="D18B00"/>
            </a:solidFill>
            <a:prstDash val="solid"/>
          </a:ln>
        </p:spPr>
      </p:sp>
      <p:sp>
        <p:nvSpPr>
          <p:cNvPr id="38" name="">
            <a:extLst xmlns:a="http://schemas.openxmlformats.org/drawingml/2006/main">
              <a:ext uri="{FF2B5EF4-FFF2-40B4-BE49-F238E27FC236}">
                <a16:creationId xmlns:a16="http://schemas.microsoft.com/office/drawing/2014/main" id="{3EC5D8B3-1C9E-4227-A245-69FE7DE50023}"/>
              </a:ext>
            </a:extLst>
          </p:cNvPr>
          <p:cNvSpPr>
            <a:spLocks xmlns:a="http://schemas.openxmlformats.org/drawingml/2006/main" noGrp="1"/>
          </p:cNvSpPr>
          <p:nvPr/>
        </p:nvSpPr>
        <p:spPr>
          <a:xfrm xmlns:a="http://schemas.openxmlformats.org/drawingml/2006/main">
            <a:off x="1676400" y="5895975"/>
            <a:ext cx="8839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65460"/>
          </a:bodyPr>
          <a:lstStyle xmlns:a="http://schemas.openxmlformats.org/drawingml/2006/main"/>
          <a:p xmlns:a="http://schemas.openxmlformats.org/drawingml/2006/main">
            <a:pPr algn="ctr">
              <a:defRPr sz="1425" b="1">
                <a:solidFill>
                  <a:srgbClr val="101828"/>
                </a:solidFill>
                <a:latin typeface="Arial"/>
                <a:ea typeface="Arial"/>
                <a:cs typeface="Arial"/>
              </a:defRPr>
            </a:pPr>
            <a:r>
              <a:rPr sz="1425" b="1">
                <a:solidFill>
                  <a:srgbClr val="101828"/>
                </a:solidFill>
                <a:latin typeface="Arial"/>
                <a:ea typeface="Arial"/>
                <a:cs typeface="Arial"/>
              </a:rPr>
              <a:t>Decision request: can the existing Delta products be registered and served in place under the approved TD pattern, and when is a physical copy mandatory?</a:t>
            </a:r>
          </a:p>
        </p:txBody>
      </p:sp>
      <p:sp>
        <p:nvSpPr>
          <p:cNvPr id="39" name="">
            <a:extLst xmlns:a="http://schemas.openxmlformats.org/drawingml/2006/main">
              <a:ext uri="{FF2B5EF4-FFF2-40B4-BE49-F238E27FC236}">
                <a16:creationId xmlns:a16="http://schemas.microsoft.com/office/drawing/2014/main" id="{812A11EE-9F79-42AD-B843-DF2B567C0D01}"/>
              </a:ext>
            </a:extLst>
          </p:cNvPr>
          <p:cNvSpPr>
            <a:spLocks xmlns:a="http://schemas.openxmlformats.org/drawingml/2006/main" noGrp="1"/>
          </p:cNvSpPr>
          <p:nvPr/>
        </p:nvSpPr>
        <p:spPr>
          <a:xfrm xmlns:a="http://schemas.openxmlformats.org/drawingml/2006/main">
            <a:off x="514350" y="649605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900" b="0">
                <a:solidFill>
                  <a:srgbClr val="667085"/>
                </a:solidFill>
                <a:latin typeface="Arial"/>
                <a:ea typeface="Arial"/>
                <a:cs typeface="Arial"/>
              </a:defRPr>
            </a:pPr>
            <a:r>
              <a:rPr sz="900" b="0">
                <a:solidFill>
                  <a:srgbClr val="667085"/>
                </a:solidFill>
                <a:latin typeface="Arial"/>
                <a:ea typeface="Arial"/>
                <a:cs typeface="Arial"/>
              </a:rPr>
              <a:t>AskAlpha  |  Unity Catalog architecture review  |  Discussion draft</a:t>
            </a:r>
          </a:p>
        </p:txBody>
      </p:sp>
      <p:sp>
        <p:nvSpPr>
          <p:cNvPr id="40" name="">
            <a:extLst xmlns:a="http://schemas.openxmlformats.org/drawingml/2006/main">
              <a:ext uri="{FF2B5EF4-FFF2-40B4-BE49-F238E27FC236}">
                <a16:creationId xmlns:a16="http://schemas.microsoft.com/office/drawing/2014/main" id="{B928EC68-93C3-468C-80DC-7F83916D00F9}"/>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5</a:t>
            </a:r>
          </a:p>
        </p:txBody>
      </p:sp>
    </p:spTree>
    <p:extLst>
      <p:ext uri="{BB962C8B-B14F-4D97-AF65-F5344CB8AC3E}">
        <p14:creationId xmlns:p14="http://schemas.microsoft.com/office/powerpoint/2010/main" val="12464655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FF06711-74FD-4665-8351-99F8F94C99B0}"/>
              </a:ext>
            </a:extLst>
          </p:cNvPr>
          <p:cNvSpPr>
            <a:spLocks xmlns:a="http://schemas.openxmlformats.org/drawingml/2006/main" noGrp="1"/>
          </p:cNvSpPr>
          <p:nvPr/>
        </p:nvSpPr>
        <p:spPr>
          <a:xfrm xmlns:a="http://schemas.openxmlformats.org/drawingml/2006/main">
            <a:off x="514350" y="285750"/>
            <a:ext cx="1114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101828"/>
                </a:solidFill>
                <a:latin typeface="Arial"/>
                <a:ea typeface="Arial"/>
                <a:cs typeface="Arial"/>
              </a:defRPr>
            </a:pPr>
            <a:r>
              <a:rPr sz="2700" b="1">
                <a:solidFill>
                  <a:srgbClr val="101828"/>
                </a:solidFill>
                <a:latin typeface="Arial"/>
                <a:ea typeface="Arial"/>
                <a:cs typeface="Arial"/>
              </a:rPr>
              <a:t>A shared application identity hides employee-level scope</a:t>
            </a:r>
          </a:p>
        </p:txBody>
      </p:sp>
      <p:sp>
        <p:nvSpPr>
          <p:cNvPr id="2" name="">
            <a:extLst xmlns:a="http://schemas.openxmlformats.org/drawingml/2006/main">
              <a:ext uri="{FF2B5EF4-FFF2-40B4-BE49-F238E27FC236}">
                <a16:creationId xmlns:a16="http://schemas.microsoft.com/office/drawing/2014/main" id="{79320771-F73B-489E-B2AF-87A528652A87}"/>
              </a:ext>
            </a:extLst>
          </p:cNvPr>
          <p:cNvSpPr>
            <a:spLocks xmlns:a="http://schemas.openxmlformats.org/drawingml/2006/main" noGrp="1"/>
          </p:cNvSpPr>
          <p:nvPr/>
        </p:nvSpPr>
        <p:spPr>
          <a:xfrm xmlns:a="http://schemas.openxmlformats.org/drawingml/2006/main">
            <a:off x="533400" y="838200"/>
            <a:ext cx="1104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The data-plane enforcement must remain synchronized with the authoritative Unity Catalog policy.</a:t>
            </a:r>
          </a:p>
        </p:txBody>
      </p:sp>
      <p:sp>
        <p:nvSpPr>
          <p:cNvPr id="3" name="">
            <a:extLst xmlns:a="http://schemas.openxmlformats.org/drawingml/2006/main">
              <a:ext uri="{FF2B5EF4-FFF2-40B4-BE49-F238E27FC236}">
                <a16:creationId xmlns:a16="http://schemas.microsoft.com/office/drawing/2014/main" id="{D7B4E348-BC41-4FA2-8C81-6230257BFEAD}"/>
              </a:ext>
            </a:extLst>
          </p:cNvPr>
          <p:cNvSpPr>
            <a:spLocks xmlns:a="http://schemas.openxmlformats.org/drawingml/2006/main" noGrp="1"/>
          </p:cNvSpPr>
          <p:nvPr/>
        </p:nvSpPr>
        <p:spPr>
          <a:xfrm xmlns:a="http://schemas.openxmlformats.org/drawingml/2006/main">
            <a:off x="514350" y="1428750"/>
            <a:ext cx="11125200" cy="4438650"/>
          </a:xfrm>
          <a:prstGeom xmlns:a="http://schemas.openxmlformats.org/drawingml/2006/main" prst="roundRect">
            <a:avLst>
              <a:gd name="adj" fmla="val 3863"/>
            </a:avLst>
          </a:prstGeom>
          <a:solidFill xmlns:a="http://schemas.openxmlformats.org/drawingml/2006/main">
            <a:srgbClr val="F3F9FD"/>
          </a:solidFill>
          <a:ln xmlns:a="http://schemas.openxmlformats.org/drawingml/2006/main" w="10478">
            <a:solidFill>
              <a:srgbClr val="3D8DFF"/>
            </a:solidFill>
            <a:prstDash val="solid"/>
          </a:ln>
        </p:spPr>
      </p:sp>
      <p:sp>
        <p:nvSpPr>
          <p:cNvPr id="4" name="">
            <a:extLst xmlns:a="http://schemas.openxmlformats.org/drawingml/2006/main">
              <a:ext uri="{FF2B5EF4-FFF2-40B4-BE49-F238E27FC236}">
                <a16:creationId xmlns:a16="http://schemas.microsoft.com/office/drawing/2014/main" id="{F7FF5592-42B8-4318-B0DD-D433C2DA86D6}"/>
              </a:ext>
            </a:extLst>
          </p:cNvPr>
          <p:cNvSpPr>
            <a:spLocks xmlns:a="http://schemas.openxmlformats.org/drawingml/2006/main" noGrp="1"/>
          </p:cNvSpPr>
          <p:nvPr/>
        </p:nvSpPr>
        <p:spPr>
          <a:xfrm xmlns:a="http://schemas.openxmlformats.org/drawingml/2006/main">
            <a:off x="742950" y="1943100"/>
            <a:ext cx="1733550" cy="1390650"/>
          </a:xfrm>
          <a:prstGeom xmlns:a="http://schemas.openxmlformats.org/drawingml/2006/main" prst="roundRect">
            <a:avLst>
              <a:gd name="adj" fmla="val 9589"/>
            </a:avLst>
          </a:prstGeom>
          <a:solidFill xmlns:a="http://schemas.openxmlformats.org/drawingml/2006/main">
            <a:srgbClr val="FFFFFF"/>
          </a:solidFill>
          <a:ln xmlns:a="http://schemas.openxmlformats.org/drawingml/2006/main" w="11430">
            <a:solidFill>
              <a:srgbClr val="3D8D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8FE1DF39-38AB-4C47-8429-A142E2310EB3}"/>
              </a:ext>
            </a:extLst>
          </p:cNvPr>
          <p:cNvSpPr>
            <a:spLocks xmlns:a="http://schemas.openxmlformats.org/drawingml/2006/main" noGrp="1"/>
          </p:cNvSpPr>
          <p:nvPr/>
        </p:nvSpPr>
        <p:spPr>
          <a:xfrm xmlns:a="http://schemas.openxmlformats.org/drawingml/2006/main">
            <a:off x="857250" y="2038350"/>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00" b="1">
                <a:solidFill>
                  <a:srgbClr val="101828"/>
                </a:solidFill>
                <a:latin typeface="Arial"/>
                <a:ea typeface="Arial"/>
                <a:cs typeface="Arial"/>
              </a:defRPr>
            </a:pPr>
            <a:r>
              <a:rPr sz="1800" b="1">
                <a:solidFill>
                  <a:srgbClr val="101828"/>
                </a:solidFill>
                <a:latin typeface="Arial"/>
                <a:ea typeface="Arial"/>
                <a:cs typeface="Arial"/>
              </a:rPr>
              <a:t>User A</a:t>
            </a:r>
          </a:p>
        </p:txBody>
      </p:sp>
      <p:sp>
        <p:nvSpPr>
          <p:cNvPr id="6" name="">
            <a:extLst xmlns:a="http://schemas.openxmlformats.org/drawingml/2006/main">
              <a:ext uri="{FF2B5EF4-FFF2-40B4-BE49-F238E27FC236}">
                <a16:creationId xmlns:a16="http://schemas.microsoft.com/office/drawing/2014/main" id="{51FE4D2E-0111-47B1-8005-44ABDC8C2C34}"/>
              </a:ext>
            </a:extLst>
          </p:cNvPr>
          <p:cNvSpPr>
            <a:spLocks xmlns:a="http://schemas.openxmlformats.org/drawingml/2006/main" noGrp="1"/>
          </p:cNvSpPr>
          <p:nvPr/>
        </p:nvSpPr>
        <p:spPr>
          <a:xfrm xmlns:a="http://schemas.openxmlformats.org/drawingml/2006/main">
            <a:off x="857250" y="2352675"/>
            <a:ext cx="1504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67085"/>
                </a:solidFill>
                <a:latin typeface="Arial"/>
                <a:ea typeface="Arial"/>
                <a:cs typeface="Arial"/>
              </a:defRPr>
            </a:pPr>
            <a:r>
              <a:rPr sz="1350" b="0">
                <a:solidFill>
                  <a:srgbClr val="667085"/>
                </a:solidFill>
                <a:latin typeface="Arial"/>
                <a:ea typeface="Arial"/>
                <a:cs typeface="Arial"/>
              </a:rPr>
              <a:t>Ontario lending</a:t>
            </a:r>
          </a:p>
          <a:p xmlns:a="http://schemas.openxmlformats.org/drawingml/2006/main">
            <a:pPr algn="ctr">
              <a:defRPr sz="1350" b="0">
                <a:solidFill>
                  <a:srgbClr val="667085"/>
                </a:solidFill>
                <a:latin typeface="Arial"/>
                <a:ea typeface="Arial"/>
                <a:cs typeface="Arial"/>
              </a:defRPr>
            </a:pPr>
            <a:r>
              <a:rPr sz="1350" b="0">
                <a:solidFill>
                  <a:srgbClr val="667085"/>
                </a:solidFill>
                <a:latin typeface="Arial"/>
                <a:ea typeface="Arial"/>
                <a:cs typeface="Arial"/>
              </a:rPr>
              <a:t>only</a:t>
            </a:r>
          </a:p>
        </p:txBody>
      </p:sp>
      <p:sp>
        <p:nvSpPr>
          <p:cNvPr id="7" name="">
            <a:extLst xmlns:a="http://schemas.openxmlformats.org/drawingml/2006/main">
              <a:ext uri="{FF2B5EF4-FFF2-40B4-BE49-F238E27FC236}">
                <a16:creationId xmlns:a16="http://schemas.microsoft.com/office/drawing/2014/main" id="{232C60D1-F0CB-468A-9F2E-9F5FD7E47594}"/>
              </a:ext>
            </a:extLst>
          </p:cNvPr>
          <p:cNvSpPr>
            <a:spLocks xmlns:a="http://schemas.openxmlformats.org/drawingml/2006/main" noGrp="1"/>
          </p:cNvSpPr>
          <p:nvPr/>
        </p:nvSpPr>
        <p:spPr>
          <a:xfrm xmlns:a="http://schemas.openxmlformats.org/drawingml/2006/main">
            <a:off x="742950" y="4095750"/>
            <a:ext cx="1733550" cy="1390650"/>
          </a:xfrm>
          <a:prstGeom xmlns:a="http://schemas.openxmlformats.org/drawingml/2006/main" prst="roundRect">
            <a:avLst>
              <a:gd name="adj" fmla="val 9589"/>
            </a:avLst>
          </a:prstGeom>
          <a:solidFill xmlns:a="http://schemas.openxmlformats.org/drawingml/2006/main">
            <a:srgbClr val="FFFFFF"/>
          </a:solidFill>
          <a:ln xmlns:a="http://schemas.openxmlformats.org/drawingml/2006/main" w="11430">
            <a:solidFill>
              <a:srgbClr val="157A6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5703D7FB-0FB9-47F3-95E7-C3C692D8B710}"/>
              </a:ext>
            </a:extLst>
          </p:cNvPr>
          <p:cNvSpPr>
            <a:spLocks xmlns:a="http://schemas.openxmlformats.org/drawingml/2006/main" noGrp="1"/>
          </p:cNvSpPr>
          <p:nvPr/>
        </p:nvSpPr>
        <p:spPr>
          <a:xfrm xmlns:a="http://schemas.openxmlformats.org/drawingml/2006/main">
            <a:off x="857250" y="4191000"/>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00" b="1">
                <a:solidFill>
                  <a:srgbClr val="101828"/>
                </a:solidFill>
                <a:latin typeface="Arial"/>
                <a:ea typeface="Arial"/>
                <a:cs typeface="Arial"/>
              </a:defRPr>
            </a:pPr>
            <a:r>
              <a:rPr sz="1800" b="1">
                <a:solidFill>
                  <a:srgbClr val="101828"/>
                </a:solidFill>
                <a:latin typeface="Arial"/>
                <a:ea typeface="Arial"/>
                <a:cs typeface="Arial"/>
              </a:rPr>
              <a:t>User B</a:t>
            </a:r>
          </a:p>
        </p:txBody>
      </p:sp>
      <p:sp>
        <p:nvSpPr>
          <p:cNvPr id="9" name="">
            <a:extLst xmlns:a="http://schemas.openxmlformats.org/drawingml/2006/main">
              <a:ext uri="{FF2B5EF4-FFF2-40B4-BE49-F238E27FC236}">
                <a16:creationId xmlns:a16="http://schemas.microsoft.com/office/drawing/2014/main" id="{61E5A64E-15CE-4FD6-8817-31F7E7AA7EBE}"/>
              </a:ext>
            </a:extLst>
          </p:cNvPr>
          <p:cNvSpPr>
            <a:spLocks xmlns:a="http://schemas.openxmlformats.org/drawingml/2006/main" noGrp="1"/>
          </p:cNvSpPr>
          <p:nvPr/>
        </p:nvSpPr>
        <p:spPr>
          <a:xfrm xmlns:a="http://schemas.openxmlformats.org/drawingml/2006/main">
            <a:off x="857250" y="4505325"/>
            <a:ext cx="15049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67085"/>
                </a:solidFill>
                <a:latin typeface="Arial"/>
                <a:ea typeface="Arial"/>
                <a:cs typeface="Arial"/>
              </a:defRPr>
            </a:pPr>
            <a:r>
              <a:rPr sz="1350" b="0">
                <a:solidFill>
                  <a:srgbClr val="667085"/>
                </a:solidFill>
                <a:latin typeface="Arial"/>
                <a:ea typeface="Arial"/>
                <a:cs typeface="Arial"/>
              </a:rPr>
              <a:t>All Canadian</a:t>
            </a:r>
          </a:p>
          <a:p xmlns:a="http://schemas.openxmlformats.org/drawingml/2006/main">
            <a:pPr algn="ctr">
              <a:defRPr sz="1350" b="0">
                <a:solidFill>
                  <a:srgbClr val="667085"/>
                </a:solidFill>
                <a:latin typeface="Arial"/>
                <a:ea typeface="Arial"/>
                <a:cs typeface="Arial"/>
              </a:defRPr>
            </a:pPr>
            <a:r>
              <a:rPr sz="1350" b="0">
                <a:solidFill>
                  <a:srgbClr val="667085"/>
                </a:solidFill>
                <a:latin typeface="Arial"/>
                <a:ea typeface="Arial"/>
                <a:cs typeface="Arial"/>
              </a:rPr>
              <a:t>lending</a:t>
            </a:r>
          </a:p>
        </p:txBody>
      </p:sp>
      <p:sp>
        <p:nvSpPr>
          <p:cNvPr id="10" name="">
            <a:extLst xmlns:a="http://schemas.openxmlformats.org/drawingml/2006/main">
              <a:ext uri="{FF2B5EF4-FFF2-40B4-BE49-F238E27FC236}">
                <a16:creationId xmlns:a16="http://schemas.microsoft.com/office/drawing/2014/main" id="{CF08200E-BB6B-4E16-9ADA-2F9550B81C4F}"/>
              </a:ext>
            </a:extLst>
          </p:cNvPr>
          <p:cNvSpPr>
            <a:spLocks xmlns:a="http://schemas.openxmlformats.org/drawingml/2006/main" noGrp="1"/>
          </p:cNvSpPr>
          <p:nvPr/>
        </p:nvSpPr>
        <p:spPr>
          <a:xfrm xmlns:a="http://schemas.openxmlformats.org/drawingml/2006/main">
            <a:off x="2438400" y="2495550"/>
            <a:ext cx="800100" cy="285750"/>
          </a:xfrm>
          <a:prstGeom xmlns:a="http://schemas.openxmlformats.org/drawingml/2006/main" prst="rightArrow">
            <a:avLst/>
          </a:prstGeom>
          <a:solidFill xmlns:a="http://schemas.openxmlformats.org/drawingml/2006/main">
            <a:srgbClr val="3D8DFF"/>
          </a:solidFill>
          <a:ln xmlns:a="http://schemas.openxmlformats.org/drawingml/2006/main" w="4763">
            <a:solidFill>
              <a:srgbClr val="3D8DFF"/>
            </a:solidFill>
            <a:prstDash val="solid"/>
          </a:ln>
        </p:spPr>
      </p:sp>
      <p:sp>
        <p:nvSpPr>
          <p:cNvPr id="11" name="">
            <a:extLst xmlns:a="http://schemas.openxmlformats.org/drawingml/2006/main">
              <a:ext uri="{FF2B5EF4-FFF2-40B4-BE49-F238E27FC236}">
                <a16:creationId xmlns:a16="http://schemas.microsoft.com/office/drawing/2014/main" id="{2D130E8A-1647-41A5-B430-045EC77C3727}"/>
              </a:ext>
            </a:extLst>
          </p:cNvPr>
          <p:cNvSpPr>
            <a:spLocks xmlns:a="http://schemas.openxmlformats.org/drawingml/2006/main" noGrp="1"/>
          </p:cNvSpPr>
          <p:nvPr/>
        </p:nvSpPr>
        <p:spPr>
          <a:xfrm xmlns:a="http://schemas.openxmlformats.org/drawingml/2006/main">
            <a:off x="2438400" y="4648200"/>
            <a:ext cx="800100" cy="285750"/>
          </a:xfrm>
          <a:prstGeom xmlns:a="http://schemas.openxmlformats.org/drawingml/2006/main" prst="rightArrow">
            <a:avLst/>
          </a:prstGeom>
          <a:solidFill xmlns:a="http://schemas.openxmlformats.org/drawingml/2006/main">
            <a:srgbClr val="157A6E"/>
          </a:solidFill>
          <a:ln xmlns:a="http://schemas.openxmlformats.org/drawingml/2006/main" w="4763">
            <a:solidFill>
              <a:srgbClr val="157A6E"/>
            </a:solidFill>
            <a:prstDash val="solid"/>
          </a:ln>
        </p:spPr>
      </p:sp>
      <p:sp>
        <p:nvSpPr>
          <p:cNvPr id="12" name="">
            <a:extLst xmlns:a="http://schemas.openxmlformats.org/drawingml/2006/main">
              <a:ext uri="{FF2B5EF4-FFF2-40B4-BE49-F238E27FC236}">
                <a16:creationId xmlns:a16="http://schemas.microsoft.com/office/drawing/2014/main" id="{C4FE2118-E248-40FD-A964-AD8A571699DE}"/>
              </a:ext>
            </a:extLst>
          </p:cNvPr>
          <p:cNvSpPr>
            <a:spLocks xmlns:a="http://schemas.openxmlformats.org/drawingml/2006/main" noGrp="1"/>
          </p:cNvSpPr>
          <p:nvPr/>
        </p:nvSpPr>
        <p:spPr>
          <a:xfrm xmlns:a="http://schemas.openxmlformats.org/drawingml/2006/main">
            <a:off x="3257550" y="2857500"/>
            <a:ext cx="2190750" cy="1676400"/>
          </a:xfrm>
          <a:prstGeom xmlns:a="http://schemas.openxmlformats.org/drawingml/2006/main" prst="roundRect">
            <a:avLst>
              <a:gd name="adj" fmla="val 7955"/>
            </a:avLst>
          </a:prstGeom>
          <a:solidFill xmlns:a="http://schemas.openxmlformats.org/drawingml/2006/main">
            <a:srgbClr val="FFFFFF"/>
          </a:solidFill>
          <a:ln xmlns:a="http://schemas.openxmlformats.org/drawingml/2006/main" w="11430">
            <a:solidFill>
              <a:srgbClr val="D18B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72866B58-87F3-4CBE-8B57-5895DCD0BE0C}"/>
              </a:ext>
            </a:extLst>
          </p:cNvPr>
          <p:cNvSpPr>
            <a:spLocks xmlns:a="http://schemas.openxmlformats.org/drawingml/2006/main" noGrp="1"/>
          </p:cNvSpPr>
          <p:nvPr/>
        </p:nvSpPr>
        <p:spPr>
          <a:xfrm xmlns:a="http://schemas.openxmlformats.org/drawingml/2006/main">
            <a:off x="3371850" y="295275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6154"/>
          </a:bodyPr>
          <a:lstStyle xmlns:a="http://schemas.openxmlformats.org/drawingml/2006/main"/>
          <a:p xmlns:a="http://schemas.openxmlformats.org/drawingml/2006/main">
            <a:pPr algn="ctr">
              <a:defRPr sz="1950" b="1">
                <a:solidFill>
                  <a:srgbClr val="101828"/>
                </a:solidFill>
                <a:latin typeface="Arial"/>
                <a:ea typeface="Arial"/>
                <a:cs typeface="Arial"/>
              </a:defRPr>
            </a:pPr>
            <a:r>
              <a:rPr sz="1950" b="1">
                <a:solidFill>
                  <a:srgbClr val="101828"/>
                </a:solidFill>
                <a:latin typeface="Arial"/>
                <a:ea typeface="Arial"/>
                <a:cs typeface="Arial"/>
              </a:rPr>
              <a:t>AskAlpha</a:t>
            </a:r>
          </a:p>
        </p:txBody>
      </p:sp>
      <p:sp>
        <p:nvSpPr>
          <p:cNvPr id="14" name="">
            <a:extLst xmlns:a="http://schemas.openxmlformats.org/drawingml/2006/main">
              <a:ext uri="{FF2B5EF4-FFF2-40B4-BE49-F238E27FC236}">
                <a16:creationId xmlns:a16="http://schemas.microsoft.com/office/drawing/2014/main" id="{98E07603-264C-4EDA-AAE5-13A35E0C97A8}"/>
              </a:ext>
            </a:extLst>
          </p:cNvPr>
          <p:cNvSpPr>
            <a:spLocks xmlns:a="http://schemas.openxmlformats.org/drawingml/2006/main" noGrp="1"/>
          </p:cNvSpPr>
          <p:nvPr/>
        </p:nvSpPr>
        <p:spPr>
          <a:xfrm xmlns:a="http://schemas.openxmlformats.org/drawingml/2006/main">
            <a:off x="3371850" y="3267075"/>
            <a:ext cx="19621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667085"/>
                </a:solidFill>
                <a:latin typeface="Arial"/>
                <a:ea typeface="Arial"/>
                <a:cs typeface="Arial"/>
              </a:defRPr>
            </a:pPr>
            <a:r>
              <a:rPr sz="1200" b="0">
                <a:solidFill>
                  <a:srgbClr val="667085"/>
                </a:solidFill>
                <a:latin typeface="Arial"/>
                <a:ea typeface="Arial"/>
                <a:cs typeface="Arial"/>
              </a:rPr>
              <a:t>Receives employee JWT</a:t>
            </a:r>
          </a:p>
          <a:p xmlns:a="http://schemas.openxmlformats.org/drawingml/2006/main">
            <a:pPr algn="ctr">
              <a:defRPr sz="1200" b="0">
                <a:solidFill>
                  <a:srgbClr val="667085"/>
                </a:solidFill>
                <a:latin typeface="Arial"/>
                <a:ea typeface="Arial"/>
                <a:cs typeface="Arial"/>
              </a:defRPr>
            </a:pPr>
            <a:r>
              <a:rPr sz="1200" b="0">
                <a:solidFill>
                  <a:srgbClr val="667085"/>
                </a:solidFill>
                <a:latin typeface="Arial"/>
                <a:ea typeface="Arial"/>
                <a:cs typeface="Arial"/>
              </a:rPr>
              <a:t>and group claims</a:t>
            </a:r>
          </a:p>
          <a:p xmlns:a="http://schemas.openxmlformats.org/drawingml/2006/main">
            <a:r>
              <a:t/>
            </a:r>
          </a:p>
          <a:p xmlns:a="http://schemas.openxmlformats.org/drawingml/2006/main">
            <a:pPr algn="ctr">
              <a:defRPr sz="1200" b="0">
                <a:solidFill>
                  <a:srgbClr val="667085"/>
                </a:solidFill>
                <a:latin typeface="Arial"/>
                <a:ea typeface="Arial"/>
                <a:cs typeface="Arial"/>
              </a:defRPr>
            </a:pPr>
            <a:r>
              <a:rPr sz="1200" b="0">
                <a:solidFill>
                  <a:srgbClr val="667085"/>
                </a:solidFill>
                <a:latin typeface="Arial"/>
                <a:ea typeface="Arial"/>
                <a:cs typeface="Arial"/>
              </a:rPr>
              <a:t>Submits both queries through</a:t>
            </a:r>
          </a:p>
          <a:p xmlns:a="http://schemas.openxmlformats.org/drawingml/2006/main">
            <a:pPr algn="ctr">
              <a:defRPr sz="1200" b="0">
                <a:solidFill>
                  <a:srgbClr val="667085"/>
                </a:solidFill>
                <a:latin typeface="Arial"/>
                <a:ea typeface="Arial"/>
                <a:cs typeface="Arial"/>
              </a:defRPr>
            </a:pPr>
            <a:r>
              <a:rPr sz="1200" b="0">
                <a:solidFill>
                  <a:srgbClr val="667085"/>
                </a:solidFill>
                <a:latin typeface="Arial"/>
                <a:ea typeface="Arial"/>
                <a:cs typeface="Arial"/>
              </a:rPr>
              <a:t>one application identity</a:t>
            </a:r>
          </a:p>
        </p:txBody>
      </p:sp>
      <p:sp>
        <p:nvSpPr>
          <p:cNvPr id="15" name="">
            <a:extLst xmlns:a="http://schemas.openxmlformats.org/drawingml/2006/main">
              <a:ext uri="{FF2B5EF4-FFF2-40B4-BE49-F238E27FC236}">
                <a16:creationId xmlns:a16="http://schemas.microsoft.com/office/drawing/2014/main" id="{5C6DB841-D18C-4E72-B8B5-B0170D79428A}"/>
              </a:ext>
            </a:extLst>
          </p:cNvPr>
          <p:cNvSpPr>
            <a:spLocks xmlns:a="http://schemas.openxmlformats.org/drawingml/2006/main" noGrp="1"/>
          </p:cNvSpPr>
          <p:nvPr/>
        </p:nvSpPr>
        <p:spPr>
          <a:xfrm xmlns:a="http://schemas.openxmlformats.org/drawingml/2006/main">
            <a:off x="5429250" y="3524250"/>
            <a:ext cx="933450" cy="304800"/>
          </a:xfrm>
          <a:prstGeom xmlns:a="http://schemas.openxmlformats.org/drawingml/2006/main" prst="rightArrow">
            <a:avLst/>
          </a:prstGeom>
          <a:solidFill xmlns:a="http://schemas.openxmlformats.org/drawingml/2006/main">
            <a:srgbClr val="D18B00"/>
          </a:solidFill>
          <a:ln xmlns:a="http://schemas.openxmlformats.org/drawingml/2006/main" w="4763">
            <a:solidFill>
              <a:srgbClr val="D18B00"/>
            </a:solidFill>
            <a:prstDash val="solid"/>
          </a:ln>
        </p:spPr>
      </p:sp>
      <p:sp>
        <p:nvSpPr>
          <p:cNvPr id="16" name="">
            <a:extLst xmlns:a="http://schemas.openxmlformats.org/drawingml/2006/main">
              <a:ext uri="{FF2B5EF4-FFF2-40B4-BE49-F238E27FC236}">
                <a16:creationId xmlns:a16="http://schemas.microsoft.com/office/drawing/2014/main" id="{57335691-0629-4D06-B114-34178CA4B6C1}"/>
              </a:ext>
            </a:extLst>
          </p:cNvPr>
          <p:cNvSpPr>
            <a:spLocks xmlns:a="http://schemas.openxmlformats.org/drawingml/2006/main" noGrp="1"/>
          </p:cNvSpPr>
          <p:nvPr/>
        </p:nvSpPr>
        <p:spPr>
          <a:xfrm xmlns:a="http://schemas.openxmlformats.org/drawingml/2006/main">
            <a:off x="6381750" y="2857500"/>
            <a:ext cx="2266950" cy="1676400"/>
          </a:xfrm>
          <a:prstGeom xmlns:a="http://schemas.openxmlformats.org/drawingml/2006/main" prst="roundRect">
            <a:avLst>
              <a:gd name="adj" fmla="val 7955"/>
            </a:avLst>
          </a:prstGeom>
          <a:solidFill xmlns:a="http://schemas.openxmlformats.org/drawingml/2006/main">
            <a:srgbClr val="FFF4D6"/>
          </a:solidFill>
          <a:ln xmlns:a="http://schemas.openxmlformats.org/drawingml/2006/main" w="11430">
            <a:solidFill>
              <a:srgbClr val="D18B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19FC3F60-E4B5-442C-A937-EFDF01EFE4F0}"/>
              </a:ext>
            </a:extLst>
          </p:cNvPr>
          <p:cNvSpPr>
            <a:spLocks xmlns:a="http://schemas.openxmlformats.org/drawingml/2006/main" noGrp="1"/>
          </p:cNvSpPr>
          <p:nvPr/>
        </p:nvSpPr>
        <p:spPr>
          <a:xfrm xmlns:a="http://schemas.openxmlformats.org/drawingml/2006/main">
            <a:off x="6496050" y="29527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9916"/>
          </a:bodyPr>
          <a:lstStyle xmlns:a="http://schemas.openxmlformats.org/drawingml/2006/main"/>
          <a:p xmlns:a="http://schemas.openxmlformats.org/drawingml/2006/main">
            <a:pPr algn="ctr">
              <a:defRPr sz="1650" b="1">
                <a:solidFill>
                  <a:srgbClr val="101828"/>
                </a:solidFill>
                <a:latin typeface="Arial"/>
                <a:ea typeface="Arial"/>
                <a:cs typeface="Arial"/>
              </a:defRPr>
            </a:pPr>
            <a:r>
              <a:rPr sz="1650" b="1">
                <a:solidFill>
                  <a:srgbClr val="101828"/>
                </a:solidFill>
                <a:latin typeface="Arial"/>
                <a:ea typeface="Arial"/>
                <a:cs typeface="Arial"/>
              </a:rPr>
              <a:t>Shared query principal</a:t>
            </a:r>
          </a:p>
        </p:txBody>
      </p:sp>
      <p:sp>
        <p:nvSpPr>
          <p:cNvPr id="18" name="">
            <a:extLst xmlns:a="http://schemas.openxmlformats.org/drawingml/2006/main">
              <a:ext uri="{FF2B5EF4-FFF2-40B4-BE49-F238E27FC236}">
                <a16:creationId xmlns:a16="http://schemas.microsoft.com/office/drawing/2014/main" id="{6FD4FBF8-2107-4038-A98B-9CC3EA7C6543}"/>
              </a:ext>
            </a:extLst>
          </p:cNvPr>
          <p:cNvSpPr>
            <a:spLocks xmlns:a="http://schemas.openxmlformats.org/drawingml/2006/main" noGrp="1"/>
          </p:cNvSpPr>
          <p:nvPr/>
        </p:nvSpPr>
        <p:spPr>
          <a:xfrm xmlns:a="http://schemas.openxmlformats.org/drawingml/2006/main">
            <a:off x="6496050" y="3267075"/>
            <a:ext cx="20383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667085"/>
                </a:solidFill>
                <a:latin typeface="Arial"/>
                <a:ea typeface="Arial"/>
                <a:cs typeface="Arial"/>
              </a:defRPr>
            </a:pPr>
            <a:r>
              <a:rPr sz="1200" b="0">
                <a:solidFill>
                  <a:srgbClr val="667085"/>
                </a:solidFill>
                <a:latin typeface="Arial"/>
                <a:ea typeface="Arial"/>
                <a:cs typeface="Arial"/>
              </a:rPr>
              <a:t>Unity Catalog sees the</a:t>
            </a:r>
          </a:p>
          <a:p xmlns:a="http://schemas.openxmlformats.org/drawingml/2006/main">
            <a:pPr algn="ctr">
              <a:defRPr sz="1200" b="0">
                <a:solidFill>
                  <a:srgbClr val="667085"/>
                </a:solidFill>
                <a:latin typeface="Arial"/>
                <a:ea typeface="Arial"/>
                <a:cs typeface="Arial"/>
              </a:defRPr>
            </a:pPr>
            <a:r>
              <a:rPr sz="1200" b="0">
                <a:solidFill>
                  <a:srgbClr val="667085"/>
                </a:solidFill>
                <a:latin typeface="Arial"/>
                <a:ea typeface="Arial"/>
                <a:cs typeface="Arial"/>
              </a:rPr>
              <a:t>same caller unless user</a:t>
            </a:r>
          </a:p>
          <a:p xmlns:a="http://schemas.openxmlformats.org/drawingml/2006/main">
            <a:pPr algn="ctr">
              <a:defRPr sz="1200" b="0">
                <a:solidFill>
                  <a:srgbClr val="667085"/>
                </a:solidFill>
                <a:latin typeface="Arial"/>
                <a:ea typeface="Arial"/>
                <a:cs typeface="Arial"/>
              </a:defRPr>
            </a:pPr>
            <a:r>
              <a:rPr sz="1200" b="0">
                <a:solidFill>
                  <a:srgbClr val="667085"/>
                </a:solidFill>
                <a:latin typeface="Arial"/>
                <a:ea typeface="Arial"/>
                <a:cs typeface="Arial"/>
              </a:rPr>
              <a:t>context is preserved</a:t>
            </a:r>
          </a:p>
        </p:txBody>
      </p:sp>
      <p:sp>
        <p:nvSpPr>
          <p:cNvPr id="19" name="">
            <a:extLst xmlns:a="http://schemas.openxmlformats.org/drawingml/2006/main">
              <a:ext uri="{FF2B5EF4-FFF2-40B4-BE49-F238E27FC236}">
                <a16:creationId xmlns:a16="http://schemas.microsoft.com/office/drawing/2014/main" id="{4EEC04DC-1D26-4F0D-8D96-83597779D8FE}"/>
              </a:ext>
            </a:extLst>
          </p:cNvPr>
          <p:cNvSpPr>
            <a:spLocks xmlns:a="http://schemas.openxmlformats.org/drawingml/2006/main" noGrp="1"/>
          </p:cNvSpPr>
          <p:nvPr/>
        </p:nvSpPr>
        <p:spPr>
          <a:xfrm xmlns:a="http://schemas.openxmlformats.org/drawingml/2006/main">
            <a:off x="8629650" y="3524250"/>
            <a:ext cx="857250" cy="304800"/>
          </a:xfrm>
          <a:prstGeom xmlns:a="http://schemas.openxmlformats.org/drawingml/2006/main" prst="rightArrow">
            <a:avLst/>
          </a:prstGeom>
          <a:solidFill xmlns:a="http://schemas.openxmlformats.org/drawingml/2006/main">
            <a:srgbClr val="B42318"/>
          </a:solidFill>
          <a:ln xmlns:a="http://schemas.openxmlformats.org/drawingml/2006/main" w="4763">
            <a:solidFill>
              <a:srgbClr val="B42318"/>
            </a:solidFill>
            <a:prstDash val="solid"/>
          </a:ln>
        </p:spPr>
      </p:sp>
      <p:sp>
        <p:nvSpPr>
          <p:cNvPr id="20" name="">
            <a:extLst xmlns:a="http://schemas.openxmlformats.org/drawingml/2006/main">
              <a:ext uri="{FF2B5EF4-FFF2-40B4-BE49-F238E27FC236}">
                <a16:creationId xmlns:a16="http://schemas.microsoft.com/office/drawing/2014/main" id="{AE5F2DC2-C05C-41E2-8A1F-7A98ACEC935E}"/>
              </a:ext>
            </a:extLst>
          </p:cNvPr>
          <p:cNvSpPr>
            <a:spLocks xmlns:a="http://schemas.openxmlformats.org/drawingml/2006/main" noGrp="1"/>
          </p:cNvSpPr>
          <p:nvPr/>
        </p:nvSpPr>
        <p:spPr>
          <a:xfrm xmlns:a="http://schemas.openxmlformats.org/drawingml/2006/main">
            <a:off x="9505950" y="2857500"/>
            <a:ext cx="1885950" cy="1676400"/>
          </a:xfrm>
          <a:prstGeom xmlns:a="http://schemas.openxmlformats.org/drawingml/2006/main" prst="roundRect">
            <a:avLst>
              <a:gd name="adj" fmla="val 7955"/>
            </a:avLst>
          </a:prstGeom>
          <a:solidFill xmlns:a="http://schemas.openxmlformats.org/drawingml/2006/main">
            <a:srgbClr val="FEF3F2"/>
          </a:solidFill>
          <a:ln xmlns:a="http://schemas.openxmlformats.org/drawingml/2006/main" w="11430">
            <a:solidFill>
              <a:srgbClr val="B4231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2105841F-625C-455F-B04E-D2747CA94D47}"/>
              </a:ext>
            </a:extLst>
          </p:cNvPr>
          <p:cNvSpPr>
            <a:spLocks xmlns:a="http://schemas.openxmlformats.org/drawingml/2006/main" noGrp="1"/>
          </p:cNvSpPr>
          <p:nvPr/>
        </p:nvSpPr>
        <p:spPr>
          <a:xfrm xmlns:a="http://schemas.openxmlformats.org/drawingml/2006/main">
            <a:off x="9620250" y="29527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9984"/>
          </a:bodyPr>
          <a:lstStyle xmlns:a="http://schemas.openxmlformats.org/drawingml/2006/main"/>
          <a:p xmlns:a="http://schemas.openxmlformats.org/drawingml/2006/main">
            <a:pPr algn="ctr">
              <a:defRPr sz="1650" b="1">
                <a:solidFill>
                  <a:srgbClr val="101828"/>
                </a:solidFill>
                <a:latin typeface="Arial"/>
                <a:ea typeface="Arial"/>
                <a:cs typeface="Arial"/>
              </a:defRPr>
            </a:pPr>
            <a:r>
              <a:rPr sz="1650" b="1">
                <a:solidFill>
                  <a:srgbClr val="101828"/>
                </a:solidFill>
                <a:latin typeface="Arial"/>
                <a:ea typeface="Arial"/>
                <a:cs typeface="Arial"/>
              </a:rPr>
              <a:t>Unity enforcement</a:t>
            </a:r>
          </a:p>
        </p:txBody>
      </p:sp>
      <p:sp>
        <p:nvSpPr>
          <p:cNvPr id="22" name="">
            <a:extLst xmlns:a="http://schemas.openxmlformats.org/drawingml/2006/main">
              <a:ext uri="{FF2B5EF4-FFF2-40B4-BE49-F238E27FC236}">
                <a16:creationId xmlns:a16="http://schemas.microsoft.com/office/drawing/2014/main" id="{FFE7A337-9F87-46D0-9170-5F388AC7487E}"/>
              </a:ext>
            </a:extLst>
          </p:cNvPr>
          <p:cNvSpPr>
            <a:spLocks xmlns:a="http://schemas.openxmlformats.org/drawingml/2006/main" noGrp="1"/>
          </p:cNvSpPr>
          <p:nvPr/>
        </p:nvSpPr>
        <p:spPr>
          <a:xfrm xmlns:a="http://schemas.openxmlformats.org/drawingml/2006/main">
            <a:off x="9620250" y="3267075"/>
            <a:ext cx="16573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0">
                <a:solidFill>
                  <a:srgbClr val="667085"/>
                </a:solidFill>
                <a:latin typeface="Arial"/>
                <a:ea typeface="Arial"/>
                <a:cs typeface="Arial"/>
              </a:defRPr>
            </a:pPr>
            <a:r>
              <a:rPr sz="1275" b="0">
                <a:solidFill>
                  <a:srgbClr val="667085"/>
                </a:solidFill>
                <a:latin typeface="Arial"/>
                <a:ea typeface="Arial"/>
                <a:cs typeface="Arial"/>
              </a:rPr>
              <a:t>Which rows and columns</a:t>
            </a:r>
          </a:p>
          <a:p xmlns:a="http://schemas.openxmlformats.org/drawingml/2006/main">
            <a:pPr algn="ctr">
              <a:defRPr sz="1275" b="0">
                <a:solidFill>
                  <a:srgbClr val="667085"/>
                </a:solidFill>
                <a:latin typeface="Arial"/>
                <a:ea typeface="Arial"/>
                <a:cs typeface="Arial"/>
              </a:defRPr>
            </a:pPr>
            <a:r>
              <a:rPr sz="1275" b="0">
                <a:solidFill>
                  <a:srgbClr val="667085"/>
                </a:solidFill>
                <a:latin typeface="Arial"/>
                <a:ea typeface="Arial"/>
                <a:cs typeface="Arial"/>
              </a:rPr>
              <a:t>should be returned?</a:t>
            </a:r>
          </a:p>
        </p:txBody>
      </p:sp>
      <p:sp>
        <p:nvSpPr>
          <p:cNvPr id="23" name="">
            <a:extLst xmlns:a="http://schemas.openxmlformats.org/drawingml/2006/main">
              <a:ext uri="{FF2B5EF4-FFF2-40B4-BE49-F238E27FC236}">
                <a16:creationId xmlns:a16="http://schemas.microsoft.com/office/drawing/2014/main" id="{5D1FC171-1F06-4B08-922D-F3745F4AAB64}"/>
              </a:ext>
            </a:extLst>
          </p:cNvPr>
          <p:cNvSpPr>
            <a:spLocks xmlns:a="http://schemas.openxmlformats.org/drawingml/2006/main" noGrp="1"/>
          </p:cNvSpPr>
          <p:nvPr/>
        </p:nvSpPr>
        <p:spPr>
          <a:xfrm xmlns:a="http://schemas.openxmlformats.org/drawingml/2006/main">
            <a:off x="3257550" y="4914900"/>
            <a:ext cx="8134350" cy="952500"/>
          </a:xfrm>
          <a:prstGeom xmlns:a="http://schemas.openxmlformats.org/drawingml/2006/main" prst="roundRect">
            <a:avLst>
              <a:gd name="adj" fmla="val 14000"/>
            </a:avLst>
          </a:prstGeom>
          <a:solidFill xmlns:a="http://schemas.openxmlformats.org/drawingml/2006/main">
            <a:srgbClr val="FFFFFF"/>
          </a:solidFill>
          <a:ln xmlns:a="http://schemas.openxmlformats.org/drawingml/2006/main" w="9525">
            <a:solidFill>
              <a:srgbClr val="D0D5DD"/>
            </a:solidFill>
            <a:prstDash val="solid"/>
          </a:ln>
        </p:spPr>
      </p:sp>
      <p:sp>
        <p:nvSpPr>
          <p:cNvPr id="24" name="">
            <a:extLst xmlns:a="http://schemas.openxmlformats.org/drawingml/2006/main">
              <a:ext uri="{FF2B5EF4-FFF2-40B4-BE49-F238E27FC236}">
                <a16:creationId xmlns:a16="http://schemas.microsoft.com/office/drawing/2014/main" id="{6CFCD171-C26A-4475-B41C-5F3F191E06C4}"/>
              </a:ext>
            </a:extLst>
          </p:cNvPr>
          <p:cNvSpPr>
            <a:spLocks xmlns:a="http://schemas.openxmlformats.org/drawingml/2006/main" noGrp="1"/>
          </p:cNvSpPr>
          <p:nvPr/>
        </p:nvSpPr>
        <p:spPr>
          <a:xfrm xmlns:a="http://schemas.openxmlformats.org/drawingml/2006/main">
            <a:off x="3505200" y="50482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B42318"/>
                </a:solidFill>
                <a:latin typeface="Arial"/>
                <a:ea typeface="Arial"/>
                <a:cs typeface="Arial"/>
              </a:defRPr>
            </a:pPr>
            <a:r>
              <a:rPr sz="1200" b="1">
                <a:solidFill>
                  <a:srgbClr val="B42318"/>
                </a:solidFill>
                <a:latin typeface="Arial"/>
                <a:ea typeface="Arial"/>
                <a:cs typeface="Arial"/>
              </a:rPr>
              <a:t>Approved pattern needed</a:t>
            </a:r>
          </a:p>
        </p:txBody>
      </p:sp>
      <p:sp>
        <p:nvSpPr>
          <p:cNvPr id="25" name="">
            <a:extLst xmlns:a="http://schemas.openxmlformats.org/drawingml/2006/main">
              <a:ext uri="{FF2B5EF4-FFF2-40B4-BE49-F238E27FC236}">
                <a16:creationId xmlns:a16="http://schemas.microsoft.com/office/drawing/2014/main" id="{BA633246-5FD7-4A04-9003-3B53D0371EE0}"/>
              </a:ext>
            </a:extLst>
          </p:cNvPr>
          <p:cNvSpPr>
            <a:spLocks xmlns:a="http://schemas.openxmlformats.org/drawingml/2006/main" noGrp="1"/>
          </p:cNvSpPr>
          <p:nvPr/>
        </p:nvSpPr>
        <p:spPr>
          <a:xfrm xmlns:a="http://schemas.openxmlformats.org/drawingml/2006/main">
            <a:off x="3505200" y="5334000"/>
            <a:ext cx="7620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491"/>
          </a:bodyPr>
          <a:lstStyle xmlns:a="http://schemas.openxmlformats.org/drawingml/2006/main"/>
          <a:p xmlns:a="http://schemas.openxmlformats.org/drawingml/2006/main">
            <a:pPr algn="l">
              <a:defRPr sz="1425" b="1">
                <a:solidFill>
                  <a:srgbClr val="101828"/>
                </a:solidFill>
                <a:latin typeface="Arial"/>
                <a:ea typeface="Arial"/>
                <a:cs typeface="Arial"/>
              </a:defRPr>
            </a:pPr>
            <a:r>
              <a:rPr sz="1425" b="1">
                <a:solidFill>
                  <a:srgbClr val="101828"/>
                </a:solidFill>
                <a:latin typeface="Arial"/>
                <a:ea typeface="Arial"/>
                <a:cs typeface="Arial"/>
              </a:rPr>
              <a:t>Per-user/OBO identity, trusted non-forgeable scope, cohort identities, secure views / filters, or another established TD pattern.</a:t>
            </a:r>
          </a:p>
        </p:txBody>
      </p:sp>
      <p:sp>
        <p:nvSpPr>
          <p:cNvPr id="26" name="">
            <a:extLst xmlns:a="http://schemas.openxmlformats.org/drawingml/2006/main">
              <a:ext uri="{FF2B5EF4-FFF2-40B4-BE49-F238E27FC236}">
                <a16:creationId xmlns:a16="http://schemas.microsoft.com/office/drawing/2014/main" id="{F8E267D2-BA7F-4350-AF89-2C4A53E47A8D}"/>
              </a:ext>
            </a:extLst>
          </p:cNvPr>
          <p:cNvSpPr>
            <a:spLocks xmlns:a="http://schemas.openxmlformats.org/drawingml/2006/main" noGrp="1"/>
          </p:cNvSpPr>
          <p:nvPr/>
        </p:nvSpPr>
        <p:spPr>
          <a:xfrm xmlns:a="http://schemas.openxmlformats.org/drawingml/2006/main">
            <a:off x="514350" y="649605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900" b="0">
                <a:solidFill>
                  <a:srgbClr val="667085"/>
                </a:solidFill>
                <a:latin typeface="Arial"/>
                <a:ea typeface="Arial"/>
                <a:cs typeface="Arial"/>
              </a:defRPr>
            </a:pPr>
            <a:r>
              <a:rPr sz="900" b="0">
                <a:solidFill>
                  <a:srgbClr val="667085"/>
                </a:solidFill>
                <a:latin typeface="Arial"/>
                <a:ea typeface="Arial"/>
                <a:cs typeface="Arial"/>
              </a:rPr>
              <a:t>AskAlpha  |  Unity Catalog architecture review  |  Discussion draft</a:t>
            </a:r>
          </a:p>
        </p:txBody>
      </p:sp>
      <p:sp>
        <p:nvSpPr>
          <p:cNvPr id="27" name="">
            <a:extLst xmlns:a="http://schemas.openxmlformats.org/drawingml/2006/main">
              <a:ext uri="{FF2B5EF4-FFF2-40B4-BE49-F238E27FC236}">
                <a16:creationId xmlns:a16="http://schemas.microsoft.com/office/drawing/2014/main" id="{7F02E34B-3F27-43C5-88AA-5F2CACB4A1C3}"/>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6</a:t>
            </a:r>
          </a:p>
        </p:txBody>
      </p:sp>
    </p:spTree>
    <p:extLst>
      <p:ext uri="{BB962C8B-B14F-4D97-AF65-F5344CB8AC3E}">
        <p14:creationId xmlns:p14="http://schemas.microsoft.com/office/powerpoint/2010/main" val="14729470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3A28A61-3FFD-4F0F-BFA4-F65B5EDB57A8}"/>
              </a:ext>
            </a:extLst>
          </p:cNvPr>
          <p:cNvSpPr>
            <a:spLocks xmlns:a="http://schemas.openxmlformats.org/drawingml/2006/main" noGrp="1"/>
          </p:cNvSpPr>
          <p:nvPr/>
        </p:nvSpPr>
        <p:spPr>
          <a:xfrm xmlns:a="http://schemas.openxmlformats.org/drawingml/2006/main">
            <a:off x="514350" y="285750"/>
            <a:ext cx="1114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101828"/>
                </a:solidFill>
                <a:latin typeface="Arial"/>
                <a:ea typeface="Arial"/>
                <a:cs typeface="Arial"/>
              </a:defRPr>
            </a:pPr>
            <a:r>
              <a:rPr sz="2700" b="1">
                <a:solidFill>
                  <a:srgbClr val="101828"/>
                </a:solidFill>
                <a:latin typeface="Arial"/>
                <a:ea typeface="Arial"/>
                <a:cs typeface="Arial"/>
              </a:rPr>
              <a:t>Five architecture decisions we need from the Unity team</a:t>
            </a:r>
          </a:p>
        </p:txBody>
      </p:sp>
      <p:sp>
        <p:nvSpPr>
          <p:cNvPr id="2" name="">
            <a:extLst xmlns:a="http://schemas.openxmlformats.org/drawingml/2006/main">
              <a:ext uri="{FF2B5EF4-FFF2-40B4-BE49-F238E27FC236}">
                <a16:creationId xmlns:a16="http://schemas.microsoft.com/office/drawing/2014/main" id="{308DB9B7-6AD1-4DC3-9D79-CED562F4CFA8}"/>
              </a:ext>
            </a:extLst>
          </p:cNvPr>
          <p:cNvSpPr>
            <a:spLocks xmlns:a="http://schemas.openxmlformats.org/drawingml/2006/main" noGrp="1"/>
          </p:cNvSpPr>
          <p:nvPr/>
        </p:nvSpPr>
        <p:spPr>
          <a:xfrm xmlns:a="http://schemas.openxmlformats.org/drawingml/2006/main">
            <a:off x="533400" y="838200"/>
            <a:ext cx="1104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Each answer should identify the supported pattern, prerequisites, owner and interim path.</a:t>
            </a:r>
          </a:p>
        </p:txBody>
      </p:sp>
      <p:sp>
        <p:nvSpPr>
          <p:cNvPr id="3" name="">
            <a:extLst xmlns:a="http://schemas.openxmlformats.org/drawingml/2006/main">
              <a:ext uri="{FF2B5EF4-FFF2-40B4-BE49-F238E27FC236}">
                <a16:creationId xmlns:a16="http://schemas.microsoft.com/office/drawing/2014/main" id="{DF7D9EFB-D0E6-4D76-A043-8743B278577E}"/>
              </a:ext>
            </a:extLst>
          </p:cNvPr>
          <p:cNvSpPr>
            <a:spLocks xmlns:a="http://schemas.openxmlformats.org/drawingml/2006/main" noGrp="1"/>
          </p:cNvSpPr>
          <p:nvPr/>
        </p:nvSpPr>
        <p:spPr>
          <a:xfrm xmlns:a="http://schemas.openxmlformats.org/drawingml/2006/main">
            <a:off x="552450" y="1447800"/>
            <a:ext cx="457200" cy="457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4" name="">
            <a:extLst xmlns:a="http://schemas.openxmlformats.org/drawingml/2006/main">
              <a:ext uri="{FF2B5EF4-FFF2-40B4-BE49-F238E27FC236}">
                <a16:creationId xmlns:a16="http://schemas.microsoft.com/office/drawing/2014/main" id="{D3950291-0484-48D2-8622-F5EC79D91E57}"/>
              </a:ext>
            </a:extLst>
          </p:cNvPr>
          <p:cNvSpPr>
            <a:spLocks xmlns:a="http://schemas.openxmlformats.org/drawingml/2006/main" noGrp="1"/>
          </p:cNvSpPr>
          <p:nvPr/>
        </p:nvSpPr>
        <p:spPr>
          <a:xfrm xmlns:a="http://schemas.openxmlformats.org/drawingml/2006/main">
            <a:off x="552450" y="1447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427A0D8-B9DA-4178-81B5-AE7AB28AFE45}"/>
              </a:ext>
            </a:extLst>
          </p:cNvPr>
          <p:cNvSpPr>
            <a:spLocks xmlns:a="http://schemas.openxmlformats.org/drawingml/2006/main" noGrp="1"/>
          </p:cNvSpPr>
          <p:nvPr/>
        </p:nvSpPr>
        <p:spPr>
          <a:xfrm xmlns:a="http://schemas.openxmlformats.org/drawingml/2006/main">
            <a:off x="1238250" y="14097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Serving endpoint</a:t>
            </a:r>
          </a:p>
        </p:txBody>
      </p:sp>
      <p:sp>
        <p:nvSpPr>
          <p:cNvPr id="6" name="">
            <a:extLst xmlns:a="http://schemas.openxmlformats.org/drawingml/2006/main">
              <a:ext uri="{FF2B5EF4-FFF2-40B4-BE49-F238E27FC236}">
                <a16:creationId xmlns:a16="http://schemas.microsoft.com/office/drawing/2014/main" id="{E43D1752-CC03-4A19-A83F-DAB38E3BD031}"/>
              </a:ext>
            </a:extLst>
          </p:cNvPr>
          <p:cNvSpPr>
            <a:spLocks xmlns:a="http://schemas.openxmlformats.org/drawingml/2006/main" noGrp="1"/>
          </p:cNvSpPr>
          <p:nvPr/>
        </p:nvSpPr>
        <p:spPr>
          <a:xfrm xmlns:a="http://schemas.openxmlformats.org/drawingml/2006/main">
            <a:off x="3943350" y="1400175"/>
            <a:ext cx="7543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67085"/>
                </a:solidFill>
                <a:latin typeface="Arial"/>
                <a:ea typeface="Arial"/>
                <a:cs typeface="Arial"/>
              </a:defRPr>
            </a:pPr>
            <a:r>
              <a:rPr sz="1425" b="0">
                <a:solidFill>
                  <a:srgbClr val="667085"/>
                </a:solidFill>
                <a:latin typeface="Arial"/>
                <a:ea typeface="Arial"/>
                <a:cs typeface="Arial"/>
              </a:rPr>
              <a:t>Which compute serves synchronous AskAlpha SQL, and what startup, concurrency and availability SLO is supported?</a:t>
            </a:r>
          </a:p>
        </p:txBody>
      </p:sp>
      <p:sp>
        <p:nvSpPr>
          <p:cNvPr id="7" name="">
            <a:extLst xmlns:a="http://schemas.openxmlformats.org/drawingml/2006/main">
              <a:ext uri="{FF2B5EF4-FFF2-40B4-BE49-F238E27FC236}">
                <a16:creationId xmlns:a16="http://schemas.microsoft.com/office/drawing/2014/main" id="{A362FB4B-53B1-4741-B108-F397702EDC1F}"/>
              </a:ext>
            </a:extLst>
          </p:cNvPr>
          <p:cNvSpPr>
            <a:spLocks xmlns:a="http://schemas.openxmlformats.org/drawingml/2006/main" noGrp="1"/>
          </p:cNvSpPr>
          <p:nvPr/>
        </p:nvSpPr>
        <p:spPr>
          <a:xfrm xmlns:a="http://schemas.openxmlformats.org/drawingml/2006/main">
            <a:off x="1238250" y="2076450"/>
            <a:ext cx="1024890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8" name="">
            <a:extLst xmlns:a="http://schemas.openxmlformats.org/drawingml/2006/main">
              <a:ext uri="{FF2B5EF4-FFF2-40B4-BE49-F238E27FC236}">
                <a16:creationId xmlns:a16="http://schemas.microsoft.com/office/drawing/2014/main" id="{CE680EC6-928F-4DB9-9936-E61C4B021AFC}"/>
              </a:ext>
            </a:extLst>
          </p:cNvPr>
          <p:cNvSpPr>
            <a:spLocks xmlns:a="http://schemas.openxmlformats.org/drawingml/2006/main" noGrp="1"/>
          </p:cNvSpPr>
          <p:nvPr/>
        </p:nvSpPr>
        <p:spPr>
          <a:xfrm xmlns:a="http://schemas.openxmlformats.org/drawingml/2006/main">
            <a:off x="552450" y="2362200"/>
            <a:ext cx="457200" cy="457200"/>
          </a:xfrm>
          <a:prstGeom xmlns:a="http://schemas.openxmlformats.org/drawingml/2006/main" prst="ellipse">
            <a:avLst/>
          </a:prstGeom>
          <a:solidFill xmlns:a="http://schemas.openxmlformats.org/drawingml/2006/main">
            <a:srgbClr val="157A6E"/>
          </a:solidFill>
          <a:ln xmlns:a="http://schemas.openxmlformats.org/drawingml/2006/main" w="0">
            <a:solidFill>
              <a:srgbClr val="157A6E"/>
            </a:solidFill>
            <a:prstDash val="solid"/>
          </a:ln>
        </p:spPr>
      </p:sp>
      <p:sp>
        <p:nvSpPr>
          <p:cNvPr id="9" name="">
            <a:extLst xmlns:a="http://schemas.openxmlformats.org/drawingml/2006/main">
              <a:ext uri="{FF2B5EF4-FFF2-40B4-BE49-F238E27FC236}">
                <a16:creationId xmlns:a16="http://schemas.microsoft.com/office/drawing/2014/main" id="{BDCC0520-C405-406E-82C4-7356E788F364}"/>
              </a:ext>
            </a:extLst>
          </p:cNvPr>
          <p:cNvSpPr>
            <a:spLocks xmlns:a="http://schemas.openxmlformats.org/drawingml/2006/main" noGrp="1"/>
          </p:cNvSpPr>
          <p:nvPr/>
        </p:nvSpPr>
        <p:spPr>
          <a:xfrm xmlns:a="http://schemas.openxmlformats.org/drawingml/2006/main">
            <a:off x="552450" y="23622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20D1C228-DBEB-4E01-BF87-9B0B60FCF9DA}"/>
              </a:ext>
            </a:extLst>
          </p:cNvPr>
          <p:cNvSpPr>
            <a:spLocks xmlns:a="http://schemas.openxmlformats.org/drawingml/2006/main" noGrp="1"/>
          </p:cNvSpPr>
          <p:nvPr/>
        </p:nvSpPr>
        <p:spPr>
          <a:xfrm xmlns:a="http://schemas.openxmlformats.org/drawingml/2006/main">
            <a:off x="1238250" y="23241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Data locality</a:t>
            </a:r>
          </a:p>
        </p:txBody>
      </p:sp>
      <p:sp>
        <p:nvSpPr>
          <p:cNvPr id="11" name="">
            <a:extLst xmlns:a="http://schemas.openxmlformats.org/drawingml/2006/main">
              <a:ext uri="{FF2B5EF4-FFF2-40B4-BE49-F238E27FC236}">
                <a16:creationId xmlns:a16="http://schemas.microsoft.com/office/drawing/2014/main" id="{B83E3918-31E4-4DD9-B9FB-BF745B6C2B85}"/>
              </a:ext>
            </a:extLst>
          </p:cNvPr>
          <p:cNvSpPr>
            <a:spLocks xmlns:a="http://schemas.openxmlformats.org/drawingml/2006/main" noGrp="1"/>
          </p:cNvSpPr>
          <p:nvPr/>
        </p:nvSpPr>
        <p:spPr>
          <a:xfrm xmlns:a="http://schemas.openxmlformats.org/drawingml/2006/main">
            <a:off x="3943350" y="2314575"/>
            <a:ext cx="7543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67085"/>
                </a:solidFill>
                <a:latin typeface="Arial"/>
                <a:ea typeface="Arial"/>
                <a:cs typeface="Arial"/>
              </a:defRPr>
            </a:pPr>
            <a:r>
              <a:rPr sz="1425" b="0">
                <a:solidFill>
                  <a:srgbClr val="667085"/>
                </a:solidFill>
                <a:latin typeface="Arial"/>
                <a:ea typeface="Arial"/>
                <a:cs typeface="Arial"/>
              </a:rPr>
              <a:t>Can existing Rahona Delta be registered and queried in place? When is a physical copy required?</a:t>
            </a:r>
          </a:p>
        </p:txBody>
      </p:sp>
      <p:sp>
        <p:nvSpPr>
          <p:cNvPr id="12" name="">
            <a:extLst xmlns:a="http://schemas.openxmlformats.org/drawingml/2006/main">
              <a:ext uri="{FF2B5EF4-FFF2-40B4-BE49-F238E27FC236}">
                <a16:creationId xmlns:a16="http://schemas.microsoft.com/office/drawing/2014/main" id="{1EA9DF23-1415-4878-A7BD-6D274A1F6D37}"/>
              </a:ext>
            </a:extLst>
          </p:cNvPr>
          <p:cNvSpPr>
            <a:spLocks xmlns:a="http://schemas.openxmlformats.org/drawingml/2006/main" noGrp="1"/>
          </p:cNvSpPr>
          <p:nvPr/>
        </p:nvSpPr>
        <p:spPr>
          <a:xfrm xmlns:a="http://schemas.openxmlformats.org/drawingml/2006/main">
            <a:off x="1238250" y="2990850"/>
            <a:ext cx="1024890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13" name="">
            <a:extLst xmlns:a="http://schemas.openxmlformats.org/drawingml/2006/main">
              <a:ext uri="{FF2B5EF4-FFF2-40B4-BE49-F238E27FC236}">
                <a16:creationId xmlns:a16="http://schemas.microsoft.com/office/drawing/2014/main" id="{96E5A3A1-7BFB-408D-965D-51F95841DF20}"/>
              </a:ext>
            </a:extLst>
          </p:cNvPr>
          <p:cNvSpPr>
            <a:spLocks xmlns:a="http://schemas.openxmlformats.org/drawingml/2006/main" noGrp="1"/>
          </p:cNvSpPr>
          <p:nvPr/>
        </p:nvSpPr>
        <p:spPr>
          <a:xfrm xmlns:a="http://schemas.openxmlformats.org/drawingml/2006/main">
            <a:off x="552450" y="3276600"/>
            <a:ext cx="457200" cy="457200"/>
          </a:xfrm>
          <a:prstGeom xmlns:a="http://schemas.openxmlformats.org/drawingml/2006/main" prst="ellipse">
            <a:avLst/>
          </a:prstGeom>
          <a:solidFill xmlns:a="http://schemas.openxmlformats.org/drawingml/2006/main">
            <a:srgbClr val="D18B00"/>
          </a:solidFill>
          <a:ln xmlns:a="http://schemas.openxmlformats.org/drawingml/2006/main" w="0">
            <a:solidFill>
              <a:srgbClr val="D18B00"/>
            </a:solidFill>
            <a:prstDash val="solid"/>
          </a:ln>
        </p:spPr>
      </p:sp>
      <p:sp>
        <p:nvSpPr>
          <p:cNvPr id="14" name="">
            <a:extLst xmlns:a="http://schemas.openxmlformats.org/drawingml/2006/main">
              <a:ext uri="{FF2B5EF4-FFF2-40B4-BE49-F238E27FC236}">
                <a16:creationId xmlns:a16="http://schemas.microsoft.com/office/drawing/2014/main" id="{2E149BBF-A375-4AF0-ABD6-C521B8759B64}"/>
              </a:ext>
            </a:extLst>
          </p:cNvPr>
          <p:cNvSpPr>
            <a:spLocks xmlns:a="http://schemas.openxmlformats.org/drawingml/2006/main" noGrp="1"/>
          </p:cNvSpPr>
          <p:nvPr/>
        </p:nvSpPr>
        <p:spPr>
          <a:xfrm xmlns:a="http://schemas.openxmlformats.org/drawingml/2006/main">
            <a:off x="552450" y="32766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427286BE-4B92-4925-87CD-CF9CEE28E9A0}"/>
              </a:ext>
            </a:extLst>
          </p:cNvPr>
          <p:cNvSpPr>
            <a:spLocks xmlns:a="http://schemas.openxmlformats.org/drawingml/2006/main" noGrp="1"/>
          </p:cNvSpPr>
          <p:nvPr/>
        </p:nvSpPr>
        <p:spPr>
          <a:xfrm xmlns:a="http://schemas.openxmlformats.org/drawingml/2006/main">
            <a:off x="1238250" y="32385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Query identity</a:t>
            </a:r>
          </a:p>
        </p:txBody>
      </p:sp>
      <p:sp>
        <p:nvSpPr>
          <p:cNvPr id="16" name="">
            <a:extLst xmlns:a="http://schemas.openxmlformats.org/drawingml/2006/main">
              <a:ext uri="{FF2B5EF4-FFF2-40B4-BE49-F238E27FC236}">
                <a16:creationId xmlns:a16="http://schemas.microsoft.com/office/drawing/2014/main" id="{322669B3-F967-4839-874A-AEBA26B195EE}"/>
              </a:ext>
            </a:extLst>
          </p:cNvPr>
          <p:cNvSpPr>
            <a:spLocks xmlns:a="http://schemas.openxmlformats.org/drawingml/2006/main" noGrp="1"/>
          </p:cNvSpPr>
          <p:nvPr/>
        </p:nvSpPr>
        <p:spPr>
          <a:xfrm xmlns:a="http://schemas.openxmlformats.org/drawingml/2006/main">
            <a:off x="3943350" y="3228975"/>
            <a:ext cx="7543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67085"/>
                </a:solidFill>
                <a:latin typeface="Arial"/>
                <a:ea typeface="Arial"/>
                <a:cs typeface="Arial"/>
              </a:defRPr>
            </a:pPr>
            <a:r>
              <a:rPr sz="1425" b="0">
                <a:solidFill>
                  <a:srgbClr val="667085"/>
                </a:solidFill>
                <a:latin typeface="Arial"/>
                <a:ea typeface="Arial"/>
                <a:cs typeface="Arial"/>
              </a:rPr>
              <a:t>How is the employee’s effective scope propagated and enforced when AskAlpha uses a service identity?</a:t>
            </a:r>
          </a:p>
        </p:txBody>
      </p:sp>
      <p:sp>
        <p:nvSpPr>
          <p:cNvPr id="17" name="">
            <a:extLst xmlns:a="http://schemas.openxmlformats.org/drawingml/2006/main">
              <a:ext uri="{FF2B5EF4-FFF2-40B4-BE49-F238E27FC236}">
                <a16:creationId xmlns:a16="http://schemas.microsoft.com/office/drawing/2014/main" id="{15B98121-43AD-4C3A-AC8E-65DAABA29F2E}"/>
              </a:ext>
            </a:extLst>
          </p:cNvPr>
          <p:cNvSpPr>
            <a:spLocks xmlns:a="http://schemas.openxmlformats.org/drawingml/2006/main" noGrp="1"/>
          </p:cNvSpPr>
          <p:nvPr/>
        </p:nvSpPr>
        <p:spPr>
          <a:xfrm xmlns:a="http://schemas.openxmlformats.org/drawingml/2006/main">
            <a:off x="1238250" y="3905250"/>
            <a:ext cx="1024890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18" name="">
            <a:extLst xmlns:a="http://schemas.openxmlformats.org/drawingml/2006/main">
              <a:ext uri="{FF2B5EF4-FFF2-40B4-BE49-F238E27FC236}">
                <a16:creationId xmlns:a16="http://schemas.microsoft.com/office/drawing/2014/main" id="{E57C163C-FADF-4D3D-BC01-B2BD492870AC}"/>
              </a:ext>
            </a:extLst>
          </p:cNvPr>
          <p:cNvSpPr>
            <a:spLocks xmlns:a="http://schemas.openxmlformats.org/drawingml/2006/main" noGrp="1"/>
          </p:cNvSpPr>
          <p:nvPr/>
        </p:nvSpPr>
        <p:spPr>
          <a:xfrm xmlns:a="http://schemas.openxmlformats.org/drawingml/2006/main">
            <a:off x="552450" y="4191000"/>
            <a:ext cx="457200" cy="457200"/>
          </a:xfrm>
          <a:prstGeom xmlns:a="http://schemas.openxmlformats.org/drawingml/2006/main" prst="ellipse">
            <a:avLst/>
          </a:prstGeom>
          <a:solidFill xmlns:a="http://schemas.openxmlformats.org/drawingml/2006/main">
            <a:srgbClr val="6941C6"/>
          </a:solidFill>
          <a:ln xmlns:a="http://schemas.openxmlformats.org/drawingml/2006/main" w="0">
            <a:solidFill>
              <a:srgbClr val="6941C6"/>
            </a:solidFill>
            <a:prstDash val="solid"/>
          </a:ln>
        </p:spPr>
      </p:sp>
      <p:sp>
        <p:nvSpPr>
          <p:cNvPr id="19" name="">
            <a:extLst xmlns:a="http://schemas.openxmlformats.org/drawingml/2006/main">
              <a:ext uri="{FF2B5EF4-FFF2-40B4-BE49-F238E27FC236}">
                <a16:creationId xmlns:a16="http://schemas.microsoft.com/office/drawing/2014/main" id="{7DDEA0C1-1FD8-41A3-B4FF-BED2E54428AF}"/>
              </a:ext>
            </a:extLst>
          </p:cNvPr>
          <p:cNvSpPr>
            <a:spLocks xmlns:a="http://schemas.openxmlformats.org/drawingml/2006/main" noGrp="1"/>
          </p:cNvSpPr>
          <p:nvPr/>
        </p:nvSpPr>
        <p:spPr>
          <a:xfrm xmlns:a="http://schemas.openxmlformats.org/drawingml/2006/main">
            <a:off x="552450" y="41910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9D49714C-359D-4EF2-89D1-2A2CEAC7F8EB}"/>
              </a:ext>
            </a:extLst>
          </p:cNvPr>
          <p:cNvSpPr>
            <a:spLocks xmlns:a="http://schemas.openxmlformats.org/drawingml/2006/main" noGrp="1"/>
          </p:cNvSpPr>
          <p:nvPr/>
        </p:nvSpPr>
        <p:spPr>
          <a:xfrm xmlns:a="http://schemas.openxmlformats.org/drawingml/2006/main">
            <a:off x="1238250" y="41529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Governance contract</a:t>
            </a:r>
          </a:p>
        </p:txBody>
      </p:sp>
      <p:sp>
        <p:nvSpPr>
          <p:cNvPr id="21" name="">
            <a:extLst xmlns:a="http://schemas.openxmlformats.org/drawingml/2006/main">
              <a:ext uri="{FF2B5EF4-FFF2-40B4-BE49-F238E27FC236}">
                <a16:creationId xmlns:a16="http://schemas.microsoft.com/office/drawing/2014/main" id="{BBAA3F2E-3FE8-4554-AF56-47FBF46B775F}"/>
              </a:ext>
            </a:extLst>
          </p:cNvPr>
          <p:cNvSpPr>
            <a:spLocks xmlns:a="http://schemas.openxmlformats.org/drawingml/2006/main" noGrp="1"/>
          </p:cNvSpPr>
          <p:nvPr/>
        </p:nvSpPr>
        <p:spPr>
          <a:xfrm xmlns:a="http://schemas.openxmlformats.org/drawingml/2006/main">
            <a:off x="3943350" y="4143375"/>
            <a:ext cx="7543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67085"/>
                </a:solidFill>
                <a:latin typeface="Arial"/>
                <a:ea typeface="Arial"/>
                <a:cs typeface="Arial"/>
              </a:defRPr>
            </a:pPr>
            <a:r>
              <a:rPr sz="1425" b="0">
                <a:solidFill>
                  <a:srgbClr val="667085"/>
                </a:solidFill>
                <a:latin typeface="Arial"/>
                <a:ea typeface="Arial"/>
                <a:cs typeface="Arial"/>
              </a:rPr>
              <a:t>Which tables, views, row filters, masks or ABAC policies are authoritative—and who owns them?</a:t>
            </a:r>
          </a:p>
        </p:txBody>
      </p:sp>
      <p:sp>
        <p:nvSpPr>
          <p:cNvPr id="22" name="">
            <a:extLst xmlns:a="http://schemas.openxmlformats.org/drawingml/2006/main">
              <a:ext uri="{FF2B5EF4-FFF2-40B4-BE49-F238E27FC236}">
                <a16:creationId xmlns:a16="http://schemas.microsoft.com/office/drawing/2014/main" id="{31B2B378-00D2-44C9-B3CC-FF3F6B223A05}"/>
              </a:ext>
            </a:extLst>
          </p:cNvPr>
          <p:cNvSpPr>
            <a:spLocks xmlns:a="http://schemas.openxmlformats.org/drawingml/2006/main" noGrp="1"/>
          </p:cNvSpPr>
          <p:nvPr/>
        </p:nvSpPr>
        <p:spPr>
          <a:xfrm xmlns:a="http://schemas.openxmlformats.org/drawingml/2006/main">
            <a:off x="1238250" y="4819650"/>
            <a:ext cx="1024890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23" name="">
            <a:extLst xmlns:a="http://schemas.openxmlformats.org/drawingml/2006/main">
              <a:ext uri="{FF2B5EF4-FFF2-40B4-BE49-F238E27FC236}">
                <a16:creationId xmlns:a16="http://schemas.microsoft.com/office/drawing/2014/main" id="{474E802E-B5E1-4364-AFB2-3C726670C738}"/>
              </a:ext>
            </a:extLst>
          </p:cNvPr>
          <p:cNvSpPr>
            <a:spLocks xmlns:a="http://schemas.openxmlformats.org/drawingml/2006/main" noGrp="1"/>
          </p:cNvSpPr>
          <p:nvPr/>
        </p:nvSpPr>
        <p:spPr>
          <a:xfrm xmlns:a="http://schemas.openxmlformats.org/drawingml/2006/main">
            <a:off x="552450" y="5105400"/>
            <a:ext cx="457200" cy="457200"/>
          </a:xfrm>
          <a:prstGeom xmlns:a="http://schemas.openxmlformats.org/drawingml/2006/main" prst="ellipse">
            <a:avLst/>
          </a:prstGeom>
          <a:solidFill xmlns:a="http://schemas.openxmlformats.org/drawingml/2006/main">
            <a:srgbClr val="123A5A"/>
          </a:solidFill>
          <a:ln xmlns:a="http://schemas.openxmlformats.org/drawingml/2006/main" w="0">
            <a:solidFill>
              <a:srgbClr val="123A5A"/>
            </a:solidFill>
            <a:prstDash val="solid"/>
          </a:ln>
        </p:spPr>
      </p:sp>
      <p:sp>
        <p:nvSpPr>
          <p:cNvPr id="24" name="">
            <a:extLst xmlns:a="http://schemas.openxmlformats.org/drawingml/2006/main">
              <a:ext uri="{FF2B5EF4-FFF2-40B4-BE49-F238E27FC236}">
                <a16:creationId xmlns:a16="http://schemas.microsoft.com/office/drawing/2014/main" id="{1FEEDD12-FD29-48C7-9D2F-507F5C26CB56}"/>
              </a:ext>
            </a:extLst>
          </p:cNvPr>
          <p:cNvSpPr>
            <a:spLocks xmlns:a="http://schemas.openxmlformats.org/drawingml/2006/main" noGrp="1"/>
          </p:cNvSpPr>
          <p:nvPr/>
        </p:nvSpPr>
        <p:spPr>
          <a:xfrm xmlns:a="http://schemas.openxmlformats.org/drawingml/2006/main">
            <a:off x="552450" y="51054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05</a:t>
            </a:r>
          </a:p>
        </p:txBody>
      </p:sp>
      <p:sp>
        <p:nvSpPr>
          <p:cNvPr id="25" name="">
            <a:extLst xmlns:a="http://schemas.openxmlformats.org/drawingml/2006/main">
              <a:ext uri="{FF2B5EF4-FFF2-40B4-BE49-F238E27FC236}">
                <a16:creationId xmlns:a16="http://schemas.microsoft.com/office/drawing/2014/main" id="{F1EDC3DD-8B04-46EF-B10D-7744A21F5264}"/>
              </a:ext>
            </a:extLst>
          </p:cNvPr>
          <p:cNvSpPr>
            <a:spLocks xmlns:a="http://schemas.openxmlformats.org/drawingml/2006/main" noGrp="1"/>
          </p:cNvSpPr>
          <p:nvPr/>
        </p:nvSpPr>
        <p:spPr>
          <a:xfrm xmlns:a="http://schemas.openxmlformats.org/drawingml/2006/main">
            <a:off x="1238250" y="50673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Integration controls</a:t>
            </a:r>
          </a:p>
        </p:txBody>
      </p:sp>
      <p:sp>
        <p:nvSpPr>
          <p:cNvPr id="26" name="">
            <a:extLst xmlns:a="http://schemas.openxmlformats.org/drawingml/2006/main">
              <a:ext uri="{FF2B5EF4-FFF2-40B4-BE49-F238E27FC236}">
                <a16:creationId xmlns:a16="http://schemas.microsoft.com/office/drawing/2014/main" id="{8F59979D-1311-491A-BDC0-2ED97ABAC403}"/>
              </a:ext>
            </a:extLst>
          </p:cNvPr>
          <p:cNvSpPr>
            <a:spLocks xmlns:a="http://schemas.openxmlformats.org/drawingml/2006/main" noGrp="1"/>
          </p:cNvSpPr>
          <p:nvPr/>
        </p:nvSpPr>
        <p:spPr>
          <a:xfrm xmlns:a="http://schemas.openxmlformats.org/drawingml/2006/main">
            <a:off x="3943350" y="5057775"/>
            <a:ext cx="7543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67085"/>
                </a:solidFill>
                <a:latin typeface="Arial"/>
                <a:ea typeface="Arial"/>
                <a:cs typeface="Arial"/>
              </a:defRPr>
            </a:pPr>
            <a:r>
              <a:rPr sz="1425" b="0">
                <a:solidFill>
                  <a:srgbClr val="667085"/>
                </a:solidFill>
                <a:latin typeface="Arial"/>
                <a:ea typeface="Arial"/>
                <a:cs typeface="Arial"/>
              </a:rPr>
              <a:t>What JDBC/API, network, firewall, audit, cost and metadata-refresh dependencies must be approved?</a:t>
            </a:r>
          </a:p>
        </p:txBody>
      </p:sp>
      <p:sp>
        <p:nvSpPr>
          <p:cNvPr id="27" name="">
            <a:extLst xmlns:a="http://schemas.openxmlformats.org/drawingml/2006/main">
              <a:ext uri="{FF2B5EF4-FFF2-40B4-BE49-F238E27FC236}">
                <a16:creationId xmlns:a16="http://schemas.microsoft.com/office/drawing/2014/main" id="{0E421B93-861A-45AC-B710-6399F3AD8CD6}"/>
              </a:ext>
            </a:extLst>
          </p:cNvPr>
          <p:cNvSpPr>
            <a:spLocks xmlns:a="http://schemas.openxmlformats.org/drawingml/2006/main" noGrp="1"/>
          </p:cNvSpPr>
          <p:nvPr/>
        </p:nvSpPr>
        <p:spPr>
          <a:xfrm xmlns:a="http://schemas.openxmlformats.org/drawingml/2006/main">
            <a:off x="1238250" y="6038850"/>
            <a:ext cx="10248900" cy="323850"/>
          </a:xfrm>
          <a:prstGeom xmlns:a="http://schemas.openxmlformats.org/drawingml/2006/main" prst="roundRect">
            <a:avLst>
              <a:gd name="adj" fmla="val 29412"/>
            </a:avLst>
          </a:prstGeom>
          <a:solidFill xmlns:a="http://schemas.openxmlformats.org/drawingml/2006/main">
            <a:srgbClr val="EAF5FB"/>
          </a:solidFill>
          <a:ln xmlns:a="http://schemas.openxmlformats.org/drawingml/2006/main" w="9525">
            <a:solidFill>
              <a:srgbClr val="6DCBF4"/>
            </a:solidFill>
            <a:prstDash val="solid"/>
          </a:ln>
        </p:spPr>
      </p:sp>
      <p:sp>
        <p:nvSpPr>
          <p:cNvPr id="28" name="">
            <a:extLst xmlns:a="http://schemas.openxmlformats.org/drawingml/2006/main">
              <a:ext uri="{FF2B5EF4-FFF2-40B4-BE49-F238E27FC236}">
                <a16:creationId xmlns:a16="http://schemas.microsoft.com/office/drawing/2014/main" id="{7CD40EB6-A292-4A9E-BF20-AF4D24B231CC}"/>
              </a:ext>
            </a:extLst>
          </p:cNvPr>
          <p:cNvSpPr>
            <a:spLocks xmlns:a="http://schemas.openxmlformats.org/drawingml/2006/main" noGrp="1"/>
          </p:cNvSpPr>
          <p:nvPr/>
        </p:nvSpPr>
        <p:spPr>
          <a:xfrm xmlns:a="http://schemas.openxmlformats.org/drawingml/2006/main">
            <a:off x="1409700" y="6086475"/>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01828"/>
                </a:solidFill>
                <a:latin typeface="Arial"/>
                <a:ea typeface="Arial"/>
                <a:cs typeface="Arial"/>
              </a:defRPr>
            </a:pPr>
            <a:r>
              <a:rPr sz="1350" b="1">
                <a:solidFill>
                  <a:srgbClr val="101828"/>
                </a:solidFill>
                <a:latin typeface="Arial"/>
                <a:ea typeface="Arial"/>
                <a:cs typeface="Arial"/>
              </a:rPr>
              <a:t>Please point us to the existing TD reference architecture and the teams that own each dependency.</a:t>
            </a:r>
          </a:p>
        </p:txBody>
      </p:sp>
      <p:sp>
        <p:nvSpPr>
          <p:cNvPr id="29" name="">
            <a:extLst xmlns:a="http://schemas.openxmlformats.org/drawingml/2006/main">
              <a:ext uri="{FF2B5EF4-FFF2-40B4-BE49-F238E27FC236}">
                <a16:creationId xmlns:a16="http://schemas.microsoft.com/office/drawing/2014/main" id="{73F88AB4-8CC3-419B-84BA-22245CF626D4}"/>
              </a:ext>
            </a:extLst>
          </p:cNvPr>
          <p:cNvSpPr>
            <a:spLocks xmlns:a="http://schemas.openxmlformats.org/drawingml/2006/main" noGrp="1"/>
          </p:cNvSpPr>
          <p:nvPr/>
        </p:nvSpPr>
        <p:spPr>
          <a:xfrm xmlns:a="http://schemas.openxmlformats.org/drawingml/2006/main">
            <a:off x="514350" y="649605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900" b="0">
                <a:solidFill>
                  <a:srgbClr val="667085"/>
                </a:solidFill>
                <a:latin typeface="Arial"/>
                <a:ea typeface="Arial"/>
                <a:cs typeface="Arial"/>
              </a:defRPr>
            </a:pPr>
            <a:r>
              <a:rPr sz="900" b="0">
                <a:solidFill>
                  <a:srgbClr val="667085"/>
                </a:solidFill>
                <a:latin typeface="Arial"/>
                <a:ea typeface="Arial"/>
                <a:cs typeface="Arial"/>
              </a:rPr>
              <a:t>AskAlpha  |  Unity Catalog architecture review  |  Discussion draft</a:t>
            </a:r>
          </a:p>
        </p:txBody>
      </p:sp>
      <p:sp>
        <p:nvSpPr>
          <p:cNvPr id="30" name="">
            <a:extLst xmlns:a="http://schemas.openxmlformats.org/drawingml/2006/main">
              <a:ext uri="{FF2B5EF4-FFF2-40B4-BE49-F238E27FC236}">
                <a16:creationId xmlns:a16="http://schemas.microsoft.com/office/drawing/2014/main" id="{3F5A0CC2-12A1-42C2-B976-C7CC6F460BB4}"/>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7</a:t>
            </a:r>
          </a:p>
        </p:txBody>
      </p:sp>
    </p:spTree>
    <p:extLst>
      <p:ext uri="{BB962C8B-B14F-4D97-AF65-F5344CB8AC3E}">
        <p14:creationId xmlns:p14="http://schemas.microsoft.com/office/powerpoint/2010/main" val="5761583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1D2D052F-B7AF-4C6E-8237-D7118AF5BA2F}"/>
              </a:ext>
            </a:extLst>
          </p:cNvPr>
          <p:cNvSpPr>
            <a:spLocks xmlns:a="http://schemas.openxmlformats.org/drawingml/2006/main" noGrp="1"/>
          </p:cNvSpPr>
          <p:nvPr/>
        </p:nvSpPr>
        <p:spPr>
          <a:xfrm xmlns:a="http://schemas.openxmlformats.org/drawingml/2006/main">
            <a:off x="514350" y="285750"/>
            <a:ext cx="1114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101828"/>
                </a:solidFill>
                <a:latin typeface="Arial"/>
                <a:ea typeface="Arial"/>
                <a:cs typeface="Arial"/>
              </a:defRPr>
            </a:pPr>
            <a:r>
              <a:rPr sz="2700" b="1">
                <a:solidFill>
                  <a:srgbClr val="101828"/>
                </a:solidFill>
                <a:latin typeface="Arial"/>
                <a:ea typeface="Arial"/>
                <a:cs typeface="Arial"/>
              </a:rPr>
              <a:t>A successful meeting ends with an executable validation plan</a:t>
            </a:r>
          </a:p>
        </p:txBody>
      </p:sp>
      <p:sp>
        <p:nvSpPr>
          <p:cNvPr id="2" name="">
            <a:extLst xmlns:a="http://schemas.openxmlformats.org/drawingml/2006/main">
              <a:ext uri="{FF2B5EF4-FFF2-40B4-BE49-F238E27FC236}">
                <a16:creationId xmlns:a16="http://schemas.microsoft.com/office/drawing/2014/main" id="{BF21F89F-2F94-4881-948F-ABF8FE939409}"/>
              </a:ext>
            </a:extLst>
          </p:cNvPr>
          <p:cNvSpPr>
            <a:spLocks xmlns:a="http://schemas.openxmlformats.org/drawingml/2006/main" noGrp="1"/>
          </p:cNvSpPr>
          <p:nvPr/>
        </p:nvSpPr>
        <p:spPr>
          <a:xfrm xmlns:a="http://schemas.openxmlformats.org/drawingml/2006/main">
            <a:off x="533400" y="838200"/>
            <a:ext cx="1104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We can proceed once the identity, compute and data-location assumptions have named evidence and owners.</a:t>
            </a:r>
          </a:p>
        </p:txBody>
      </p:sp>
      <p:sp>
        <p:nvSpPr>
          <p:cNvPr id="3" name="">
            <a:extLst xmlns:a="http://schemas.openxmlformats.org/drawingml/2006/main">
              <a:ext uri="{FF2B5EF4-FFF2-40B4-BE49-F238E27FC236}">
                <a16:creationId xmlns:a16="http://schemas.microsoft.com/office/drawing/2014/main" id="{A1421A8F-AEC8-4EC3-8B53-65C0635B63AE}"/>
              </a:ext>
            </a:extLst>
          </p:cNvPr>
          <p:cNvSpPr>
            <a:spLocks xmlns:a="http://schemas.openxmlformats.org/drawingml/2006/main" noGrp="1"/>
          </p:cNvSpPr>
          <p:nvPr/>
        </p:nvSpPr>
        <p:spPr>
          <a:xfrm xmlns:a="http://schemas.openxmlformats.org/drawingml/2006/main">
            <a:off x="514350" y="1466850"/>
            <a:ext cx="7067550" cy="4114800"/>
          </a:xfrm>
          <a:prstGeom xmlns:a="http://schemas.openxmlformats.org/drawingml/2006/main" prst="roundRect">
            <a:avLst>
              <a:gd name="adj" fmla="val 4167"/>
            </a:avLst>
          </a:prstGeom>
          <a:solidFill xmlns:a="http://schemas.openxmlformats.org/drawingml/2006/main">
            <a:srgbClr val="F2F4F7"/>
          </a:solidFill>
          <a:ln xmlns:a="http://schemas.openxmlformats.org/drawingml/2006/main" w="0">
            <a:solidFill>
              <a:srgbClr val="F2F4F7"/>
            </a:solidFill>
            <a:prstDash val="solid"/>
          </a:ln>
        </p:spPr>
      </p:sp>
      <p:sp>
        <p:nvSpPr>
          <p:cNvPr id="4" name="">
            <a:extLst xmlns:a="http://schemas.openxmlformats.org/drawingml/2006/main">
              <a:ext uri="{FF2B5EF4-FFF2-40B4-BE49-F238E27FC236}">
                <a16:creationId xmlns:a16="http://schemas.microsoft.com/office/drawing/2014/main" id="{C8EB0742-9814-4F0D-BDD2-DFF094F0BFCA}"/>
              </a:ext>
            </a:extLst>
          </p:cNvPr>
          <p:cNvSpPr>
            <a:spLocks xmlns:a="http://schemas.openxmlformats.org/drawingml/2006/main" noGrp="1"/>
          </p:cNvSpPr>
          <p:nvPr/>
        </p:nvSpPr>
        <p:spPr>
          <a:xfrm xmlns:a="http://schemas.openxmlformats.org/drawingml/2006/main">
            <a:off x="781050" y="17145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OUTPUTS TO CAPTURE</a:t>
            </a:r>
          </a:p>
        </p:txBody>
      </p:sp>
      <p:sp>
        <p:nvSpPr>
          <p:cNvPr id="5" name="">
            <a:extLst xmlns:a="http://schemas.openxmlformats.org/drawingml/2006/main">
              <a:ext uri="{FF2B5EF4-FFF2-40B4-BE49-F238E27FC236}">
                <a16:creationId xmlns:a16="http://schemas.microsoft.com/office/drawing/2014/main" id="{54788879-4A81-484D-B755-DBA6B0F92FFE}"/>
              </a:ext>
            </a:extLst>
          </p:cNvPr>
          <p:cNvSpPr>
            <a:spLocks xmlns:a="http://schemas.openxmlformats.org/drawingml/2006/main" noGrp="1"/>
          </p:cNvSpPr>
          <p:nvPr/>
        </p:nvSpPr>
        <p:spPr>
          <a:xfrm xmlns:a="http://schemas.openxmlformats.org/drawingml/2006/main">
            <a:off x="800100" y="219075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6" name="">
            <a:extLst xmlns:a="http://schemas.openxmlformats.org/drawingml/2006/main">
              <a:ext uri="{FF2B5EF4-FFF2-40B4-BE49-F238E27FC236}">
                <a16:creationId xmlns:a16="http://schemas.microsoft.com/office/drawing/2014/main" id="{C487EBC3-5C26-4B42-9805-AD712850947D}"/>
              </a:ext>
            </a:extLst>
          </p:cNvPr>
          <p:cNvSpPr>
            <a:spLocks xmlns:a="http://schemas.openxmlformats.org/drawingml/2006/main" noGrp="1"/>
          </p:cNvSpPr>
          <p:nvPr/>
        </p:nvSpPr>
        <p:spPr>
          <a:xfrm xmlns:a="http://schemas.openxmlformats.org/drawingml/2006/main">
            <a:off x="1009650" y="2114550"/>
            <a:ext cx="607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01828"/>
                </a:solidFill>
                <a:latin typeface="Arial"/>
                <a:ea typeface="Arial"/>
                <a:cs typeface="Arial"/>
              </a:defRPr>
            </a:pPr>
            <a:r>
              <a:rPr sz="1500" b="0">
                <a:solidFill>
                  <a:srgbClr val="101828"/>
                </a:solidFill>
                <a:latin typeface="Arial"/>
                <a:ea typeface="Arial"/>
                <a:cs typeface="Arial"/>
              </a:rPr>
              <a:t>Approved end-to-end sequence diagram</a:t>
            </a:r>
          </a:p>
        </p:txBody>
      </p:sp>
      <p:sp>
        <p:nvSpPr>
          <p:cNvPr id="7" name="">
            <a:extLst xmlns:a="http://schemas.openxmlformats.org/drawingml/2006/main">
              <a:ext uri="{FF2B5EF4-FFF2-40B4-BE49-F238E27FC236}">
                <a16:creationId xmlns:a16="http://schemas.microsoft.com/office/drawing/2014/main" id="{D4F6CAEB-4DB4-4340-A187-5FA90FCB257D}"/>
              </a:ext>
            </a:extLst>
          </p:cNvPr>
          <p:cNvSpPr>
            <a:spLocks xmlns:a="http://schemas.openxmlformats.org/drawingml/2006/main" noGrp="1"/>
          </p:cNvSpPr>
          <p:nvPr/>
        </p:nvSpPr>
        <p:spPr>
          <a:xfrm xmlns:a="http://schemas.openxmlformats.org/drawingml/2006/main">
            <a:off x="800100" y="27051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9D9F4780-EB8C-4737-B17D-41609D444A29}"/>
              </a:ext>
            </a:extLst>
          </p:cNvPr>
          <p:cNvSpPr>
            <a:spLocks xmlns:a="http://schemas.openxmlformats.org/drawingml/2006/main" noGrp="1"/>
          </p:cNvSpPr>
          <p:nvPr/>
        </p:nvSpPr>
        <p:spPr>
          <a:xfrm xmlns:a="http://schemas.openxmlformats.org/drawingml/2006/main">
            <a:off x="1009650" y="2628900"/>
            <a:ext cx="607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01828"/>
                </a:solidFill>
                <a:latin typeface="Arial"/>
                <a:ea typeface="Arial"/>
                <a:cs typeface="Arial"/>
              </a:defRPr>
            </a:pPr>
            <a:r>
              <a:rPr sz="1500" b="0">
                <a:solidFill>
                  <a:srgbClr val="101828"/>
                </a:solidFill>
                <a:latin typeface="Arial"/>
                <a:ea typeface="Arial"/>
                <a:cs typeface="Arial"/>
              </a:rPr>
              <a:t>Supported compute endpoint and SLO assumptions</a:t>
            </a:r>
          </a:p>
        </p:txBody>
      </p:sp>
      <p:sp>
        <p:nvSpPr>
          <p:cNvPr id="9" name="">
            <a:extLst xmlns:a="http://schemas.openxmlformats.org/drawingml/2006/main">
              <a:ext uri="{FF2B5EF4-FFF2-40B4-BE49-F238E27FC236}">
                <a16:creationId xmlns:a16="http://schemas.microsoft.com/office/drawing/2014/main" id="{87C0CF28-F71D-42AE-A38C-5022E8E643D0}"/>
              </a:ext>
            </a:extLst>
          </p:cNvPr>
          <p:cNvSpPr>
            <a:spLocks xmlns:a="http://schemas.openxmlformats.org/drawingml/2006/main" noGrp="1"/>
          </p:cNvSpPr>
          <p:nvPr/>
        </p:nvSpPr>
        <p:spPr>
          <a:xfrm xmlns:a="http://schemas.openxmlformats.org/drawingml/2006/main">
            <a:off x="800100" y="321945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4231C47E-FEE9-4A4E-857B-87C236D50051}"/>
              </a:ext>
            </a:extLst>
          </p:cNvPr>
          <p:cNvSpPr>
            <a:spLocks xmlns:a="http://schemas.openxmlformats.org/drawingml/2006/main" noGrp="1"/>
          </p:cNvSpPr>
          <p:nvPr/>
        </p:nvSpPr>
        <p:spPr>
          <a:xfrm xmlns:a="http://schemas.openxmlformats.org/drawingml/2006/main">
            <a:off x="1009650" y="3143250"/>
            <a:ext cx="607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01828"/>
                </a:solidFill>
                <a:latin typeface="Arial"/>
                <a:ea typeface="Arial"/>
                <a:cs typeface="Arial"/>
              </a:defRPr>
            </a:pPr>
            <a:r>
              <a:rPr sz="1500" b="0">
                <a:solidFill>
                  <a:srgbClr val="101828"/>
                </a:solidFill>
                <a:latin typeface="Arial"/>
                <a:ea typeface="Arial"/>
                <a:cs typeface="Arial"/>
              </a:rPr>
              <a:t>User-context and Unity enforcement contract</a:t>
            </a:r>
          </a:p>
        </p:txBody>
      </p:sp>
      <p:sp>
        <p:nvSpPr>
          <p:cNvPr id="11" name="">
            <a:extLst xmlns:a="http://schemas.openxmlformats.org/drawingml/2006/main">
              <a:ext uri="{FF2B5EF4-FFF2-40B4-BE49-F238E27FC236}">
                <a16:creationId xmlns:a16="http://schemas.microsoft.com/office/drawing/2014/main" id="{FF91AC96-C027-47CD-A8FF-A8636C798CCF}"/>
              </a:ext>
            </a:extLst>
          </p:cNvPr>
          <p:cNvSpPr>
            <a:spLocks xmlns:a="http://schemas.openxmlformats.org/drawingml/2006/main" noGrp="1"/>
          </p:cNvSpPr>
          <p:nvPr/>
        </p:nvSpPr>
        <p:spPr>
          <a:xfrm xmlns:a="http://schemas.openxmlformats.org/drawingml/2006/main">
            <a:off x="800100" y="37338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014C0BD3-F973-4D74-AF6E-C9388FF1C855}"/>
              </a:ext>
            </a:extLst>
          </p:cNvPr>
          <p:cNvSpPr>
            <a:spLocks xmlns:a="http://schemas.openxmlformats.org/drawingml/2006/main" noGrp="1"/>
          </p:cNvSpPr>
          <p:nvPr/>
        </p:nvSpPr>
        <p:spPr>
          <a:xfrm xmlns:a="http://schemas.openxmlformats.org/drawingml/2006/main">
            <a:off x="1009650" y="3657600"/>
            <a:ext cx="607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01828"/>
                </a:solidFill>
                <a:latin typeface="Arial"/>
                <a:ea typeface="Arial"/>
                <a:cs typeface="Arial"/>
              </a:defRPr>
            </a:pPr>
            <a:r>
              <a:rPr sz="1500" b="0">
                <a:solidFill>
                  <a:srgbClr val="101828"/>
                </a:solidFill>
                <a:latin typeface="Arial"/>
                <a:ea typeface="Arial"/>
                <a:cs typeface="Arial"/>
              </a:rPr>
              <a:t>In-place access versus data-copy decision criteria</a:t>
            </a:r>
          </a:p>
        </p:txBody>
      </p:sp>
      <p:sp>
        <p:nvSpPr>
          <p:cNvPr id="13" name="">
            <a:extLst xmlns:a="http://schemas.openxmlformats.org/drawingml/2006/main">
              <a:ext uri="{FF2B5EF4-FFF2-40B4-BE49-F238E27FC236}">
                <a16:creationId xmlns:a16="http://schemas.microsoft.com/office/drawing/2014/main" id="{010B0AEC-D933-4D37-8907-6625BF606D12}"/>
              </a:ext>
            </a:extLst>
          </p:cNvPr>
          <p:cNvSpPr>
            <a:spLocks xmlns:a="http://schemas.openxmlformats.org/drawingml/2006/main" noGrp="1"/>
          </p:cNvSpPr>
          <p:nvPr/>
        </p:nvSpPr>
        <p:spPr>
          <a:xfrm xmlns:a="http://schemas.openxmlformats.org/drawingml/2006/main">
            <a:off x="800100" y="424815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4" name="">
            <a:extLst xmlns:a="http://schemas.openxmlformats.org/drawingml/2006/main">
              <a:ext uri="{FF2B5EF4-FFF2-40B4-BE49-F238E27FC236}">
                <a16:creationId xmlns:a16="http://schemas.microsoft.com/office/drawing/2014/main" id="{29949757-298B-4F5B-828F-43CC7277081C}"/>
              </a:ext>
            </a:extLst>
          </p:cNvPr>
          <p:cNvSpPr>
            <a:spLocks xmlns:a="http://schemas.openxmlformats.org/drawingml/2006/main" noGrp="1"/>
          </p:cNvSpPr>
          <p:nvPr/>
        </p:nvSpPr>
        <p:spPr>
          <a:xfrm xmlns:a="http://schemas.openxmlformats.org/drawingml/2006/main">
            <a:off x="1009650" y="4171950"/>
            <a:ext cx="607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01828"/>
                </a:solidFill>
                <a:latin typeface="Arial"/>
                <a:ea typeface="Arial"/>
                <a:cs typeface="Arial"/>
              </a:defRPr>
            </a:pPr>
            <a:r>
              <a:rPr sz="1500" b="0">
                <a:solidFill>
                  <a:srgbClr val="101828"/>
                </a:solidFill>
                <a:latin typeface="Arial"/>
                <a:ea typeface="Arial"/>
                <a:cs typeface="Arial"/>
              </a:rPr>
              <a:t>Network, audit, metadata and cost dependencies</a:t>
            </a:r>
          </a:p>
        </p:txBody>
      </p:sp>
      <p:sp>
        <p:nvSpPr>
          <p:cNvPr id="15" name="">
            <a:extLst xmlns:a="http://schemas.openxmlformats.org/drawingml/2006/main">
              <a:ext uri="{FF2B5EF4-FFF2-40B4-BE49-F238E27FC236}">
                <a16:creationId xmlns:a16="http://schemas.microsoft.com/office/drawing/2014/main" id="{30C7EEF4-555B-44A2-886C-EABF1CC5FC41}"/>
              </a:ext>
            </a:extLst>
          </p:cNvPr>
          <p:cNvSpPr>
            <a:spLocks xmlns:a="http://schemas.openxmlformats.org/drawingml/2006/main" noGrp="1"/>
          </p:cNvSpPr>
          <p:nvPr/>
        </p:nvSpPr>
        <p:spPr>
          <a:xfrm xmlns:a="http://schemas.openxmlformats.org/drawingml/2006/main">
            <a:off x="800100" y="47625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6" name="">
            <a:extLst xmlns:a="http://schemas.openxmlformats.org/drawingml/2006/main">
              <a:ext uri="{FF2B5EF4-FFF2-40B4-BE49-F238E27FC236}">
                <a16:creationId xmlns:a16="http://schemas.microsoft.com/office/drawing/2014/main" id="{2117948B-8420-42C6-95A1-39123DC8F17A}"/>
              </a:ext>
            </a:extLst>
          </p:cNvPr>
          <p:cNvSpPr>
            <a:spLocks xmlns:a="http://schemas.openxmlformats.org/drawingml/2006/main" noGrp="1"/>
          </p:cNvSpPr>
          <p:nvPr/>
        </p:nvSpPr>
        <p:spPr>
          <a:xfrm xmlns:a="http://schemas.openxmlformats.org/drawingml/2006/main">
            <a:off x="1009650" y="4686300"/>
            <a:ext cx="607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01828"/>
                </a:solidFill>
                <a:latin typeface="Arial"/>
                <a:ea typeface="Arial"/>
                <a:cs typeface="Arial"/>
              </a:defRPr>
            </a:pPr>
            <a:r>
              <a:rPr sz="1500" b="0">
                <a:solidFill>
                  <a:srgbClr val="101828"/>
                </a:solidFill>
                <a:latin typeface="Arial"/>
                <a:ea typeface="Arial"/>
                <a:cs typeface="Arial"/>
              </a:rPr>
              <a:t>Named owners, reference documents and target dates</a:t>
            </a:r>
          </a:p>
        </p:txBody>
      </p:sp>
      <p:sp>
        <p:nvSpPr>
          <p:cNvPr id="17" name="">
            <a:extLst xmlns:a="http://schemas.openxmlformats.org/drawingml/2006/main">
              <a:ext uri="{FF2B5EF4-FFF2-40B4-BE49-F238E27FC236}">
                <a16:creationId xmlns:a16="http://schemas.microsoft.com/office/drawing/2014/main" id="{4C66B377-D7A0-4E87-A1B7-43F7BE00EF61}"/>
              </a:ext>
            </a:extLst>
          </p:cNvPr>
          <p:cNvSpPr>
            <a:spLocks xmlns:a="http://schemas.openxmlformats.org/drawingml/2006/main" noGrp="1"/>
          </p:cNvSpPr>
          <p:nvPr/>
        </p:nvSpPr>
        <p:spPr>
          <a:xfrm xmlns:a="http://schemas.openxmlformats.org/drawingml/2006/main">
            <a:off x="7981950" y="1466850"/>
            <a:ext cx="3657600" cy="4114800"/>
          </a:xfrm>
          <a:prstGeom xmlns:a="http://schemas.openxmlformats.org/drawingml/2006/main" prst="roundRect">
            <a:avLst>
              <a:gd name="adj" fmla="val 4688"/>
            </a:avLst>
          </a:prstGeom>
          <a:solidFill xmlns:a="http://schemas.openxmlformats.org/drawingml/2006/main">
            <a:srgbClr val="F3F9FD"/>
          </a:solidFill>
          <a:ln xmlns:a="http://schemas.openxmlformats.org/drawingml/2006/main" w="11430">
            <a:solidFill>
              <a:srgbClr val="3D8DFF"/>
            </a:solidFill>
            <a:prstDash val="solid"/>
          </a:ln>
        </p:spPr>
      </p:sp>
      <p:sp>
        <p:nvSpPr>
          <p:cNvPr id="18" name="">
            <a:extLst xmlns:a="http://schemas.openxmlformats.org/drawingml/2006/main">
              <a:ext uri="{FF2B5EF4-FFF2-40B4-BE49-F238E27FC236}">
                <a16:creationId xmlns:a16="http://schemas.microsoft.com/office/drawing/2014/main" id="{2EC3822F-04A0-4322-ACE2-41AF05A64BC4}"/>
              </a:ext>
            </a:extLst>
          </p:cNvPr>
          <p:cNvSpPr>
            <a:spLocks xmlns:a="http://schemas.openxmlformats.org/drawingml/2006/main" noGrp="1"/>
          </p:cNvSpPr>
          <p:nvPr/>
        </p:nvSpPr>
        <p:spPr>
          <a:xfrm xmlns:a="http://schemas.openxmlformats.org/drawingml/2006/main">
            <a:off x="8248650" y="17145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PROPOSED VALIDATION</a:t>
            </a:r>
          </a:p>
        </p:txBody>
      </p:sp>
      <p:sp>
        <p:nvSpPr>
          <p:cNvPr id="19" name="">
            <a:extLst xmlns:a="http://schemas.openxmlformats.org/drawingml/2006/main">
              <a:ext uri="{FF2B5EF4-FFF2-40B4-BE49-F238E27FC236}">
                <a16:creationId xmlns:a16="http://schemas.microsoft.com/office/drawing/2014/main" id="{FB088E20-2D3D-4A64-8F4B-822402DD7514}"/>
              </a:ext>
            </a:extLst>
          </p:cNvPr>
          <p:cNvSpPr>
            <a:spLocks xmlns:a="http://schemas.openxmlformats.org/drawingml/2006/main" noGrp="1"/>
          </p:cNvSpPr>
          <p:nvPr/>
        </p:nvSpPr>
        <p:spPr>
          <a:xfrm xmlns:a="http://schemas.openxmlformats.org/drawingml/2006/main">
            <a:off x="8267700" y="2114550"/>
            <a:ext cx="361950" cy="3619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20" name="">
            <a:extLst xmlns:a="http://schemas.openxmlformats.org/drawingml/2006/main">
              <a:ext uri="{FF2B5EF4-FFF2-40B4-BE49-F238E27FC236}">
                <a16:creationId xmlns:a16="http://schemas.microsoft.com/office/drawing/2014/main" id="{6284C45C-DAB7-453F-981D-382FC4661B9E}"/>
              </a:ext>
            </a:extLst>
          </p:cNvPr>
          <p:cNvSpPr>
            <a:spLocks xmlns:a="http://schemas.openxmlformats.org/drawingml/2006/main" noGrp="1"/>
          </p:cNvSpPr>
          <p:nvPr/>
        </p:nvSpPr>
        <p:spPr>
          <a:xfrm xmlns:a="http://schemas.openxmlformats.org/drawingml/2006/main">
            <a:off x="8267700" y="21145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21" name="">
            <a:extLst xmlns:a="http://schemas.openxmlformats.org/drawingml/2006/main">
              <a:ext uri="{FF2B5EF4-FFF2-40B4-BE49-F238E27FC236}">
                <a16:creationId xmlns:a16="http://schemas.microsoft.com/office/drawing/2014/main" id="{DD023B1C-8DD7-4C70-BC6D-9196273FC83C}"/>
              </a:ext>
            </a:extLst>
          </p:cNvPr>
          <p:cNvSpPr>
            <a:spLocks xmlns:a="http://schemas.openxmlformats.org/drawingml/2006/main" noGrp="1"/>
          </p:cNvSpPr>
          <p:nvPr/>
        </p:nvSpPr>
        <p:spPr>
          <a:xfrm xmlns:a="http://schemas.openxmlformats.org/drawingml/2006/main">
            <a:off x="8782050" y="20955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1828"/>
                </a:solidFill>
                <a:latin typeface="Arial"/>
                <a:ea typeface="Arial"/>
                <a:cs typeface="Arial"/>
              </a:defRPr>
            </a:pPr>
            <a:r>
              <a:rPr sz="1350" b="1">
                <a:solidFill>
                  <a:srgbClr val="101828"/>
                </a:solidFill>
                <a:latin typeface="Arial"/>
                <a:ea typeface="Arial"/>
                <a:cs typeface="Arial"/>
              </a:rPr>
              <a:t>Confirm current Rahona configuration</a:t>
            </a:r>
          </a:p>
        </p:txBody>
      </p:sp>
      <p:sp>
        <p:nvSpPr>
          <p:cNvPr id="22" name="">
            <a:extLst xmlns:a="http://schemas.openxmlformats.org/drawingml/2006/main">
              <a:ext uri="{FF2B5EF4-FFF2-40B4-BE49-F238E27FC236}">
                <a16:creationId xmlns:a16="http://schemas.microsoft.com/office/drawing/2014/main" id="{E54021DF-20C4-45A2-870A-032A7A1870F6}"/>
              </a:ext>
            </a:extLst>
          </p:cNvPr>
          <p:cNvSpPr>
            <a:spLocks xmlns:a="http://schemas.openxmlformats.org/drawingml/2006/main" noGrp="1"/>
          </p:cNvSpPr>
          <p:nvPr/>
        </p:nvSpPr>
        <p:spPr>
          <a:xfrm xmlns:a="http://schemas.openxmlformats.org/drawingml/2006/main">
            <a:off x="8267700" y="2724150"/>
            <a:ext cx="361950" cy="3619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23" name="">
            <a:extLst xmlns:a="http://schemas.openxmlformats.org/drawingml/2006/main">
              <a:ext uri="{FF2B5EF4-FFF2-40B4-BE49-F238E27FC236}">
                <a16:creationId xmlns:a16="http://schemas.microsoft.com/office/drawing/2014/main" id="{F105AE93-133C-4FAA-8E77-941DE2A40201}"/>
              </a:ext>
            </a:extLst>
          </p:cNvPr>
          <p:cNvSpPr>
            <a:spLocks xmlns:a="http://schemas.openxmlformats.org/drawingml/2006/main" noGrp="1"/>
          </p:cNvSpPr>
          <p:nvPr/>
        </p:nvSpPr>
        <p:spPr>
          <a:xfrm xmlns:a="http://schemas.openxmlformats.org/drawingml/2006/main">
            <a:off x="8267700" y="27241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24" name="">
            <a:extLst xmlns:a="http://schemas.openxmlformats.org/drawingml/2006/main">
              <a:ext uri="{FF2B5EF4-FFF2-40B4-BE49-F238E27FC236}">
                <a16:creationId xmlns:a16="http://schemas.microsoft.com/office/drawing/2014/main" id="{543EBF89-F1BE-4A93-91A4-8D32F7EADE1B}"/>
              </a:ext>
            </a:extLst>
          </p:cNvPr>
          <p:cNvSpPr>
            <a:spLocks xmlns:a="http://schemas.openxmlformats.org/drawingml/2006/main" noGrp="1"/>
          </p:cNvSpPr>
          <p:nvPr/>
        </p:nvSpPr>
        <p:spPr>
          <a:xfrm xmlns:a="http://schemas.openxmlformats.org/drawingml/2006/main">
            <a:off x="8782050" y="27051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1828"/>
                </a:solidFill>
                <a:latin typeface="Arial"/>
                <a:ea typeface="Arial"/>
                <a:cs typeface="Arial"/>
              </a:defRPr>
            </a:pPr>
            <a:r>
              <a:rPr sz="1350" b="1">
                <a:solidFill>
                  <a:srgbClr val="101828"/>
                </a:solidFill>
                <a:latin typeface="Arial"/>
                <a:ea typeface="Arial"/>
                <a:cs typeface="Arial"/>
              </a:rPr>
              <a:t>Select two compute candidates</a:t>
            </a:r>
          </a:p>
        </p:txBody>
      </p:sp>
      <p:sp>
        <p:nvSpPr>
          <p:cNvPr id="25" name="">
            <a:extLst xmlns:a="http://schemas.openxmlformats.org/drawingml/2006/main">
              <a:ext uri="{FF2B5EF4-FFF2-40B4-BE49-F238E27FC236}">
                <a16:creationId xmlns:a16="http://schemas.microsoft.com/office/drawing/2014/main" id="{89749DF8-F894-4D47-B1CC-B0C64AF9F851}"/>
              </a:ext>
            </a:extLst>
          </p:cNvPr>
          <p:cNvSpPr>
            <a:spLocks xmlns:a="http://schemas.openxmlformats.org/drawingml/2006/main" noGrp="1"/>
          </p:cNvSpPr>
          <p:nvPr/>
        </p:nvSpPr>
        <p:spPr>
          <a:xfrm xmlns:a="http://schemas.openxmlformats.org/drawingml/2006/main">
            <a:off x="8267700" y="3333750"/>
            <a:ext cx="361950" cy="3619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26" name="">
            <a:extLst xmlns:a="http://schemas.openxmlformats.org/drawingml/2006/main">
              <a:ext uri="{FF2B5EF4-FFF2-40B4-BE49-F238E27FC236}">
                <a16:creationId xmlns:a16="http://schemas.microsoft.com/office/drawing/2014/main" id="{B628668D-9493-4136-893C-C2D3B6370DC2}"/>
              </a:ext>
            </a:extLst>
          </p:cNvPr>
          <p:cNvSpPr>
            <a:spLocks xmlns:a="http://schemas.openxmlformats.org/drawingml/2006/main" noGrp="1"/>
          </p:cNvSpPr>
          <p:nvPr/>
        </p:nvSpPr>
        <p:spPr>
          <a:xfrm xmlns:a="http://schemas.openxmlformats.org/drawingml/2006/main">
            <a:off x="8267700" y="33337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27" name="">
            <a:extLst xmlns:a="http://schemas.openxmlformats.org/drawingml/2006/main">
              <a:ext uri="{FF2B5EF4-FFF2-40B4-BE49-F238E27FC236}">
                <a16:creationId xmlns:a16="http://schemas.microsoft.com/office/drawing/2014/main" id="{1F28F955-A789-46DC-BADC-1F0B3E36E284}"/>
              </a:ext>
            </a:extLst>
          </p:cNvPr>
          <p:cNvSpPr>
            <a:spLocks xmlns:a="http://schemas.openxmlformats.org/drawingml/2006/main" noGrp="1"/>
          </p:cNvSpPr>
          <p:nvPr/>
        </p:nvSpPr>
        <p:spPr>
          <a:xfrm xmlns:a="http://schemas.openxmlformats.org/drawingml/2006/main">
            <a:off x="8782050" y="33147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1828"/>
                </a:solidFill>
                <a:latin typeface="Arial"/>
                <a:ea typeface="Arial"/>
                <a:cs typeface="Arial"/>
              </a:defRPr>
            </a:pPr>
            <a:r>
              <a:rPr sz="1350" b="1">
                <a:solidFill>
                  <a:srgbClr val="101828"/>
                </a:solidFill>
                <a:latin typeface="Arial"/>
                <a:ea typeface="Arial"/>
                <a:cs typeface="Arial"/>
              </a:rPr>
              <a:t>Run warm and cold latency tests</a:t>
            </a:r>
          </a:p>
        </p:txBody>
      </p:sp>
      <p:sp>
        <p:nvSpPr>
          <p:cNvPr id="28" name="">
            <a:extLst xmlns:a="http://schemas.openxmlformats.org/drawingml/2006/main">
              <a:ext uri="{FF2B5EF4-FFF2-40B4-BE49-F238E27FC236}">
                <a16:creationId xmlns:a16="http://schemas.microsoft.com/office/drawing/2014/main" id="{B8C09EB0-6E36-4AEE-87AB-EE2404CB6AF7}"/>
              </a:ext>
            </a:extLst>
          </p:cNvPr>
          <p:cNvSpPr>
            <a:spLocks xmlns:a="http://schemas.openxmlformats.org/drawingml/2006/main" noGrp="1"/>
          </p:cNvSpPr>
          <p:nvPr/>
        </p:nvSpPr>
        <p:spPr>
          <a:xfrm xmlns:a="http://schemas.openxmlformats.org/drawingml/2006/main">
            <a:off x="8267700" y="3943350"/>
            <a:ext cx="361950" cy="361950"/>
          </a:xfrm>
          <a:prstGeom xmlns:a="http://schemas.openxmlformats.org/drawingml/2006/main" prst="ellipse">
            <a:avLst/>
          </a:prstGeom>
          <a:solidFill xmlns:a="http://schemas.openxmlformats.org/drawingml/2006/main">
            <a:srgbClr val="D18B00"/>
          </a:solidFill>
          <a:ln xmlns:a="http://schemas.openxmlformats.org/drawingml/2006/main" w="0">
            <a:solidFill>
              <a:srgbClr val="D18B00"/>
            </a:solidFill>
            <a:prstDash val="solid"/>
          </a:ln>
        </p:spPr>
      </p:sp>
      <p:sp>
        <p:nvSpPr>
          <p:cNvPr id="29" name="">
            <a:extLst xmlns:a="http://schemas.openxmlformats.org/drawingml/2006/main">
              <a:ext uri="{FF2B5EF4-FFF2-40B4-BE49-F238E27FC236}">
                <a16:creationId xmlns:a16="http://schemas.microsoft.com/office/drawing/2014/main" id="{56CF7518-75E7-4256-B9EF-F02709282D96}"/>
              </a:ext>
            </a:extLst>
          </p:cNvPr>
          <p:cNvSpPr>
            <a:spLocks xmlns:a="http://schemas.openxmlformats.org/drawingml/2006/main" noGrp="1"/>
          </p:cNvSpPr>
          <p:nvPr/>
        </p:nvSpPr>
        <p:spPr>
          <a:xfrm xmlns:a="http://schemas.openxmlformats.org/drawingml/2006/main">
            <a:off x="8267700" y="39433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30" name="">
            <a:extLst xmlns:a="http://schemas.openxmlformats.org/drawingml/2006/main">
              <a:ext uri="{FF2B5EF4-FFF2-40B4-BE49-F238E27FC236}">
                <a16:creationId xmlns:a16="http://schemas.microsoft.com/office/drawing/2014/main" id="{CB078312-781B-40D6-A434-F49964822C04}"/>
              </a:ext>
            </a:extLst>
          </p:cNvPr>
          <p:cNvSpPr>
            <a:spLocks xmlns:a="http://schemas.openxmlformats.org/drawingml/2006/main" noGrp="1"/>
          </p:cNvSpPr>
          <p:nvPr/>
        </p:nvSpPr>
        <p:spPr>
          <a:xfrm xmlns:a="http://schemas.openxmlformats.org/drawingml/2006/main">
            <a:off x="8782050" y="39243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1828"/>
                </a:solidFill>
                <a:latin typeface="Arial"/>
                <a:ea typeface="Arial"/>
                <a:cs typeface="Arial"/>
              </a:defRPr>
            </a:pPr>
            <a:r>
              <a:rPr sz="1350" b="1">
                <a:solidFill>
                  <a:srgbClr val="101828"/>
                </a:solidFill>
                <a:latin typeface="Arial"/>
                <a:ea typeface="Arial"/>
                <a:cs typeface="Arial"/>
              </a:rPr>
              <a:t>Verify User A / User B enforcement</a:t>
            </a:r>
          </a:p>
        </p:txBody>
      </p:sp>
      <p:sp>
        <p:nvSpPr>
          <p:cNvPr id="31" name="">
            <a:extLst xmlns:a="http://schemas.openxmlformats.org/drawingml/2006/main">
              <a:ext uri="{FF2B5EF4-FFF2-40B4-BE49-F238E27FC236}">
                <a16:creationId xmlns:a16="http://schemas.microsoft.com/office/drawing/2014/main" id="{19AAE19D-0F22-4A2E-8081-233A7EAA5FA7}"/>
              </a:ext>
            </a:extLst>
          </p:cNvPr>
          <p:cNvSpPr>
            <a:spLocks xmlns:a="http://schemas.openxmlformats.org/drawingml/2006/main" noGrp="1"/>
          </p:cNvSpPr>
          <p:nvPr/>
        </p:nvSpPr>
        <p:spPr>
          <a:xfrm xmlns:a="http://schemas.openxmlformats.org/drawingml/2006/main">
            <a:off x="8267700" y="4552950"/>
            <a:ext cx="361950" cy="3619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32" name="">
            <a:extLst xmlns:a="http://schemas.openxmlformats.org/drawingml/2006/main">
              <a:ext uri="{FF2B5EF4-FFF2-40B4-BE49-F238E27FC236}">
                <a16:creationId xmlns:a16="http://schemas.microsoft.com/office/drawing/2014/main" id="{4E183644-7433-4A28-BD9B-218E69594879}"/>
              </a:ext>
            </a:extLst>
          </p:cNvPr>
          <p:cNvSpPr>
            <a:spLocks xmlns:a="http://schemas.openxmlformats.org/drawingml/2006/main" noGrp="1"/>
          </p:cNvSpPr>
          <p:nvPr/>
        </p:nvSpPr>
        <p:spPr>
          <a:xfrm xmlns:a="http://schemas.openxmlformats.org/drawingml/2006/main">
            <a:off x="8267700" y="45529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3" name="">
            <a:extLst xmlns:a="http://schemas.openxmlformats.org/drawingml/2006/main">
              <a:ext uri="{FF2B5EF4-FFF2-40B4-BE49-F238E27FC236}">
                <a16:creationId xmlns:a16="http://schemas.microsoft.com/office/drawing/2014/main" id="{6DF87F25-C449-495C-9B68-D7F73C82189C}"/>
              </a:ext>
            </a:extLst>
          </p:cNvPr>
          <p:cNvSpPr>
            <a:spLocks xmlns:a="http://schemas.openxmlformats.org/drawingml/2006/main" noGrp="1"/>
          </p:cNvSpPr>
          <p:nvPr/>
        </p:nvSpPr>
        <p:spPr>
          <a:xfrm xmlns:a="http://schemas.openxmlformats.org/drawingml/2006/main">
            <a:off x="8782050" y="45339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01828"/>
                </a:solidFill>
                <a:latin typeface="Arial"/>
                <a:ea typeface="Arial"/>
                <a:cs typeface="Arial"/>
              </a:defRPr>
            </a:pPr>
            <a:r>
              <a:rPr sz="1350" b="1">
                <a:solidFill>
                  <a:srgbClr val="101828"/>
                </a:solidFill>
                <a:latin typeface="Arial"/>
                <a:ea typeface="Arial"/>
                <a:cs typeface="Arial"/>
              </a:rPr>
              <a:t>Measure concurrency, cost and audit</a:t>
            </a:r>
          </a:p>
        </p:txBody>
      </p:sp>
      <p:sp>
        <p:nvSpPr>
          <p:cNvPr id="34" name="">
            <a:extLst xmlns:a="http://schemas.openxmlformats.org/drawingml/2006/main">
              <a:ext uri="{FF2B5EF4-FFF2-40B4-BE49-F238E27FC236}">
                <a16:creationId xmlns:a16="http://schemas.microsoft.com/office/drawing/2014/main" id="{BC45FDAF-0783-4C03-930C-2E9AB3108E7C}"/>
              </a:ext>
            </a:extLst>
          </p:cNvPr>
          <p:cNvSpPr>
            <a:spLocks xmlns:a="http://schemas.openxmlformats.org/drawingml/2006/main" noGrp="1"/>
          </p:cNvSpPr>
          <p:nvPr/>
        </p:nvSpPr>
        <p:spPr>
          <a:xfrm xmlns:a="http://schemas.openxmlformats.org/drawingml/2006/main">
            <a:off x="1371600" y="5867400"/>
            <a:ext cx="9448800" cy="419100"/>
          </a:xfrm>
          <a:prstGeom xmlns:a="http://schemas.openxmlformats.org/drawingml/2006/main" prst="roundRect">
            <a:avLst>
              <a:gd name="adj" fmla="val 22727"/>
            </a:avLst>
          </a:prstGeom>
          <a:solidFill xmlns:a="http://schemas.openxmlformats.org/drawingml/2006/main">
            <a:srgbClr val="E8F5F2"/>
          </a:solidFill>
          <a:ln xmlns:a="http://schemas.openxmlformats.org/drawingml/2006/main" w="9525">
            <a:solidFill>
              <a:srgbClr val="157A6E"/>
            </a:solidFill>
            <a:prstDash val="solid"/>
          </a:ln>
        </p:spPr>
      </p:sp>
      <p:sp>
        <p:nvSpPr>
          <p:cNvPr id="35" name="">
            <a:extLst xmlns:a="http://schemas.openxmlformats.org/drawingml/2006/main">
              <a:ext uri="{FF2B5EF4-FFF2-40B4-BE49-F238E27FC236}">
                <a16:creationId xmlns:a16="http://schemas.microsoft.com/office/drawing/2014/main" id="{5E51F01A-54B9-4BC4-AD41-B5BC0E83AA29}"/>
              </a:ext>
            </a:extLst>
          </p:cNvPr>
          <p:cNvSpPr>
            <a:spLocks xmlns:a="http://schemas.openxmlformats.org/drawingml/2006/main" noGrp="1"/>
          </p:cNvSpPr>
          <p:nvPr/>
        </p:nvSpPr>
        <p:spPr>
          <a:xfrm xmlns:a="http://schemas.openxmlformats.org/drawingml/2006/main">
            <a:off x="1600200" y="5953125"/>
            <a:ext cx="8991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4372"/>
          </a:bodyPr>
          <a:lstStyle xmlns:a="http://schemas.openxmlformats.org/drawingml/2006/main"/>
          <a:p xmlns:a="http://schemas.openxmlformats.org/drawingml/2006/main">
            <a:pPr algn="ctr">
              <a:defRPr sz="1500" b="1">
                <a:solidFill>
                  <a:srgbClr val="157A6E"/>
                </a:solidFill>
                <a:latin typeface="Arial"/>
                <a:ea typeface="Arial"/>
                <a:cs typeface="Arial"/>
              </a:defRPr>
            </a:pPr>
            <a:r>
              <a:rPr sz="1500" b="1">
                <a:solidFill>
                  <a:srgbClr val="157A6E"/>
                </a:solidFill>
                <a:latin typeface="Arial"/>
                <a:ea typeface="Arial"/>
                <a:cs typeface="Arial"/>
              </a:rPr>
              <a:t>Next step: schedule a time-boxed technical validation with the Unity, IAM, network and AskAlpha owners.</a:t>
            </a:r>
          </a:p>
        </p:txBody>
      </p:sp>
      <p:sp>
        <p:nvSpPr>
          <p:cNvPr id="36" name="">
            <a:extLst xmlns:a="http://schemas.openxmlformats.org/drawingml/2006/main">
              <a:ext uri="{FF2B5EF4-FFF2-40B4-BE49-F238E27FC236}">
                <a16:creationId xmlns:a16="http://schemas.microsoft.com/office/drawing/2014/main" id="{3A5250FC-B64C-4D1E-A00D-ACFE8B50DF5D}"/>
              </a:ext>
            </a:extLst>
          </p:cNvPr>
          <p:cNvSpPr>
            <a:spLocks xmlns:a="http://schemas.openxmlformats.org/drawingml/2006/main" noGrp="1"/>
          </p:cNvSpPr>
          <p:nvPr/>
        </p:nvSpPr>
        <p:spPr>
          <a:xfrm xmlns:a="http://schemas.openxmlformats.org/drawingml/2006/main">
            <a:off x="514350" y="649605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900" b="0">
                <a:solidFill>
                  <a:srgbClr val="667085"/>
                </a:solidFill>
                <a:latin typeface="Arial"/>
                <a:ea typeface="Arial"/>
                <a:cs typeface="Arial"/>
              </a:defRPr>
            </a:pPr>
            <a:r>
              <a:rPr sz="900" b="0">
                <a:solidFill>
                  <a:srgbClr val="667085"/>
                </a:solidFill>
                <a:latin typeface="Arial"/>
                <a:ea typeface="Arial"/>
                <a:cs typeface="Arial"/>
              </a:rPr>
              <a:t>AskAlpha  |  Unity Catalog architecture review  |  Discussion draft</a:t>
            </a:r>
          </a:p>
        </p:txBody>
      </p:sp>
      <p:sp>
        <p:nvSpPr>
          <p:cNvPr id="37" name="">
            <a:extLst xmlns:a="http://schemas.openxmlformats.org/drawingml/2006/main">
              <a:ext uri="{FF2B5EF4-FFF2-40B4-BE49-F238E27FC236}">
                <a16:creationId xmlns:a16="http://schemas.microsoft.com/office/drawing/2014/main" id="{6D37D18C-2477-4C12-97C4-28195696ABF6}"/>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8</a:t>
            </a:r>
          </a:p>
        </p:txBody>
      </p:sp>
    </p:spTree>
    <p:extLst>
      <p:ext uri="{BB962C8B-B14F-4D97-AF65-F5344CB8AC3E}">
        <p14:creationId xmlns:p14="http://schemas.microsoft.com/office/powerpoint/2010/main" val="19404131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2026-08-13T16:35:49.0170000Z</dcterms:created>
  <dcterms:modified xsi:type="dcterms:W3CDTF">2026-08-13T16:35:49.0170000Z</dcterms:modified>
</coreProperties>
</file>