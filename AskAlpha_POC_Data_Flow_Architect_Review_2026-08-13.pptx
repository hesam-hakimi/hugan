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a473fd50a4d99" /><Relationship Type="http://schemas.openxmlformats.org/officeDocument/2006/relationships/extended-properties" Target="/docProps/app.xml" Id="Rcf65d9ac1b3a4c83" /><Relationship Type="http://schemas.openxmlformats.org/officeDocument/2006/relationships/officeDocument" Target="/ppt/presentation.xml" Id="R1bcc971805f8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2bb2baa1c481e"/>
  </p:sldMasterIdLst>
  <p:notesMasterIdLst>
    <p:notesMasterId xmlns:r="http://schemas.openxmlformats.org/officeDocument/2006/relationships" r:id="Rab02641bc3884f15"/>
  </p:notesMasterIdLst>
  <p:sldIdLst>
    <p:sldId xmlns:r="http://schemas.openxmlformats.org/officeDocument/2006/relationships" id="256" r:id="Rd2738f58ff1e4bd4"/>
    <p:sldId xmlns:r="http://schemas.openxmlformats.org/officeDocument/2006/relationships" id="257" r:id="R8b73c909ddd340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88eaf8046c4f58" /><Relationship Type="http://schemas.openxmlformats.org/officeDocument/2006/relationships/slideMaster" Target="/ppt/slideMasters/slideMaster1.xml" Id="R86f2bb2baa1c481e" /><Relationship Type="http://schemas.openxmlformats.org/officeDocument/2006/relationships/notesMaster" Target="/ppt/notesMasters/notesMaster1.xml" Id="Rab02641bc3884f15" /><Relationship Type="http://schemas.openxmlformats.org/officeDocument/2006/relationships/presProps" Target="/ppt/presProps.xml" Id="R215f2fa8e89446ab" /><Relationship Type="http://schemas.openxmlformats.org/officeDocument/2006/relationships/tableStyles" Target="/ppt/tableStyles.xml" Id="R126dd888fb1e4aa3" /><Relationship Type="http://schemas.openxmlformats.org/officeDocument/2006/relationships/slide" Target="/ppt/slides/slide1.xml" Id="Rd2738f58ff1e4bd4" /><Relationship Type="http://schemas.openxmlformats.org/officeDocument/2006/relationships/slide" Target="/ppt/slides/slide2.xml" Id="R8b73c909ddd340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cdc7a661ad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8d5fb0c5e448c7" /><Relationship Type="http://schemas.openxmlformats.org/officeDocument/2006/relationships/notesMaster" Target="/ppt/notesMasters/notesMaster1.xml" Id="R208b7e10f21b43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40de9cf0e4b6c" /><Relationship Type="http://schemas.openxmlformats.org/officeDocument/2006/relationships/notesMaster" Target="/ppt/notesMasters/notesMaster1.xml" Id="R17679e642625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 2 meeting transcript supplied by Hesam, 13 August 2026.</a:t>
            </a:r>
          </a:p>
          <a:p xmlns:a="http://schemas.openxmlformats.org/drawingml/2006/main">
            <a:r>
              <a:t>- AskAlpha POC working context supplied by Hesam in this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Interpretation: This is a logical data-flow view, not a deployment or network topology. The Unity Catalog end-user authorization propagation mechanism is intentionally marked TBD.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 2 meeting transcript supplied by Hesam, 13 August 2026.</a:t>
            </a:r>
          </a:p>
          <a:p xmlns:a="http://schemas.openxmlformats.org/drawingml/2006/main">
            <a:r>
              <a:t>- AskAlpha POC working context supplied by Hesam in this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separates demonstrated POC behavior from production decisions that still require architecture, Unity Catalog, privacy, security and operating-model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92e2fb48a41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e208e9089b4fb3" /><Relationship Type="http://schemas.openxmlformats.org/officeDocument/2006/relationships/slideLayout" Target="/ppt/slideLayouts/slideLayout1.xml" Id="R81353305134645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53305134645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7e2e9f04045d0" /><Relationship Type="http://schemas.openxmlformats.org/officeDocument/2006/relationships/notesSlide" Target="/ppt/notesSlides/notesSlide1.xml" Id="R7786db7631f148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3755aea494063" /><Relationship Type="http://schemas.openxmlformats.org/officeDocument/2006/relationships/notesSlide" Target="/ppt/notesSlides/notesSlide2.xml" Id="Rf6a807707154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DA2D3D-D0DB-450A-9F3C-4A04C61F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1062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AskAlpha</a:t>
            </a: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 separates governed data access from </a:t>
            </a: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4AC55-A212-43F7-9B79-D0BA7897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POC logical flow aligned to the MVP1 target  •  User-triggered  •  Read-only  •  Open decisions identified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51230-7996-483A-B285-F824AA1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43150"/>
            <a:ext cx="542925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3F9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BB201-48F8-4E39-A550-8080A42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276225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7FD8-8BDC-4F4B-9CF1-58C0C4F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ASKALPHA</a:t>
            </a:r>
            <a:r>
              <a:rPr sz="8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 POC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3773-3717-430E-BE44-B8C130F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RAHONA GOVERNED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353EB-7455-42C3-83C1-59446445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2192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ENTERPRISE SERVICES</a:t>
            </a:r>
          </a:p>
        </p:txBody>
      </p:sp>
      <p:sp>
        <p:nvSpPr>
          <p:cNvPr id="8" name="employee-ui-flow">
            <a:extLst xmlns:a="http://schemas.openxmlformats.org/drawingml/2006/main">
              <a:ext uri="{FF2B5EF4-FFF2-40B4-BE49-F238E27FC236}">
                <a16:creationId xmlns:a16="http://schemas.microsoft.com/office/drawing/2014/main" id="{BC05A1C9-D049-4981-AF92-9C01B2D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81350"/>
            <a:ext cx="666750" cy="2667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9" name="ui-agent-flow">
            <a:extLst xmlns:a="http://schemas.openxmlformats.org/drawingml/2006/main">
              <a:ext uri="{FF2B5EF4-FFF2-40B4-BE49-F238E27FC236}">
                <a16:creationId xmlns:a16="http://schemas.microsoft.com/office/drawing/2014/main" id="{A0F7FB2E-E778-4FFD-BFC6-2B04957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0" name="agent-policy-flow">
            <a:extLst xmlns:a="http://schemas.openxmlformats.org/drawingml/2006/main">
              <a:ext uri="{FF2B5EF4-FFF2-40B4-BE49-F238E27FC236}">
                <a16:creationId xmlns:a16="http://schemas.microsoft.com/office/drawing/2014/main" id="{5CA93097-A0A6-49B0-9B72-7C6C7C5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813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4763">
            <a:solidFill>
              <a:srgbClr val="3D8DFF"/>
            </a:solidFill>
            <a:prstDash val="solid"/>
          </a:ln>
        </p:spPr>
      </p:sp>
      <p:sp>
        <p:nvSpPr>
          <p:cNvPr id="11" name="policy-auth-flow">
            <a:extLst xmlns:a="http://schemas.openxmlformats.org/drawingml/2006/main">
              <a:ext uri="{FF2B5EF4-FFF2-40B4-BE49-F238E27FC236}">
                <a16:creationId xmlns:a16="http://schemas.microsoft.com/office/drawing/2014/main" id="{7E273235-8071-4BC7-900F-64F856CB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14675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8B00"/>
          </a:solidFill>
          <a:ln xmlns:a="http://schemas.openxmlformats.org/drawingml/2006/main" w="4763">
            <a:solidFill>
              <a:srgbClr val="D18B00"/>
            </a:solidFill>
            <a:prstDash val="solid"/>
          </a:ln>
        </p:spPr>
      </p:sp>
      <p:sp>
        <p:nvSpPr>
          <p:cNvPr id="12" name="auth-unity-flow">
            <a:extLst xmlns:a="http://schemas.openxmlformats.org/drawingml/2006/main">
              <a:ext uri="{FF2B5EF4-FFF2-40B4-BE49-F238E27FC236}">
                <a16:creationId xmlns:a16="http://schemas.microsoft.com/office/drawing/2014/main" id="{ADD4B297-6997-48BD-B58F-6F5B9D91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8B00"/>
          </a:solidFill>
          <a:ln xmlns:a="http://schemas.openxmlformats.org/drawingml/2006/main" w="4763">
            <a:solidFill>
              <a:srgbClr val="D18B00"/>
            </a:solidFill>
            <a:prstDash val="solid"/>
          </a:ln>
        </p:spPr>
      </p:sp>
      <p:sp>
        <p:nvSpPr>
          <p:cNvPr id="13" name="governed-result-flow">
            <a:extLst xmlns:a="http://schemas.openxmlformats.org/drawingml/2006/main">
              <a:ext uri="{FF2B5EF4-FFF2-40B4-BE49-F238E27FC236}">
                <a16:creationId xmlns:a16="http://schemas.microsoft.com/office/drawing/2014/main" id="{97CAE7BD-DC4A-4635-AA3B-70C96FFB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52875"/>
            <a:ext cx="1619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4763">
            <a:solidFill>
              <a:srgbClr val="6DCBF4"/>
            </a:solidFill>
            <a:prstDash val="solid"/>
          </a:ln>
        </p:spPr>
      </p:sp>
      <p:sp>
        <p:nvSpPr>
          <p:cNvPr id="14" name="identity-flow">
            <a:extLst xmlns:a="http://schemas.openxmlformats.org/drawingml/2006/main">
              <a:ext uri="{FF2B5EF4-FFF2-40B4-BE49-F238E27FC236}">
                <a16:creationId xmlns:a16="http://schemas.microsoft.com/office/drawing/2014/main" id="{F0C9AC19-8D6B-4ADF-ADDE-9655C0B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76450"/>
            <a:ext cx="22860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4763">
            <a:solidFill>
              <a:srgbClr val="D0D5DD"/>
            </a:solidFill>
            <a:prstDash val="solid"/>
          </a:ln>
        </p:spPr>
      </p:sp>
      <p:sp>
        <p:nvSpPr>
          <p:cNvPr id="15" name="ai-flow">
            <a:extLst xmlns:a="http://schemas.openxmlformats.org/drawingml/2006/main">
              <a:ext uri="{FF2B5EF4-FFF2-40B4-BE49-F238E27FC236}">
                <a16:creationId xmlns:a16="http://schemas.microsoft.com/office/drawing/2014/main" id="{483AF920-C2BB-48D7-9220-4C7EB09E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85975"/>
            <a:ext cx="266700" cy="638175"/>
          </a:xfrm>
          <a:prstGeom xmlns:a="http://schemas.openxmlformats.org/drawingml/2006/main" prst="upDown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4763">
            <a:solidFill>
              <a:srgbClr val="D0D5DD"/>
            </a:solidFill>
            <a:prstDash val="solid"/>
          </a:ln>
        </p:spPr>
      </p:sp>
      <p:sp>
        <p:nvSpPr>
          <p:cNvPr id="16" name="delta-flow">
            <a:extLst xmlns:a="http://schemas.openxmlformats.org/drawingml/2006/main">
              <a:ext uri="{FF2B5EF4-FFF2-40B4-BE49-F238E27FC236}">
                <a16:creationId xmlns:a16="http://schemas.microsoft.com/office/drawing/2014/main" id="{711DE504-91BD-49CA-80CE-C8C58479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38575"/>
            <a:ext cx="238125" cy="5334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4763">
            <a:solidFill>
              <a:srgbClr val="D0D5DD"/>
            </a:solidFill>
            <a:prstDash val="solid"/>
          </a:ln>
        </p:spPr>
      </p:sp>
      <p:sp>
        <p:nvSpPr>
          <p:cNvPr id="17" name="trace-flow">
            <a:extLst xmlns:a="http://schemas.openxmlformats.org/drawingml/2006/main">
              <a:ext uri="{FF2B5EF4-FFF2-40B4-BE49-F238E27FC236}">
                <a16:creationId xmlns:a16="http://schemas.microsoft.com/office/drawing/2014/main" id="{746E9CBD-6831-47B5-96C7-CE4272C4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05300"/>
            <a:ext cx="22860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4763">
            <a:solidFill>
              <a:srgbClr val="D0D5DD"/>
            </a:solidFill>
            <a:prstDash val="solid"/>
          </a:ln>
        </p:spPr>
      </p:sp>
      <p:sp>
        <p:nvSpPr>
          <p:cNvPr id="18" name="audit-flow">
            <a:extLst xmlns:a="http://schemas.openxmlformats.org/drawingml/2006/main">
              <a:ext uri="{FF2B5EF4-FFF2-40B4-BE49-F238E27FC236}">
                <a16:creationId xmlns:a16="http://schemas.microsoft.com/office/drawing/2014/main" id="{54A1220E-2644-4E09-8CAD-17EC07F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305300"/>
            <a:ext cx="22860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4763">
            <a:solidFill>
              <a:srgbClr val="D0D5DD"/>
            </a:solidFill>
            <a:prstDash val="solid"/>
          </a:ln>
        </p:spPr>
      </p:sp>
      <p:sp>
        <p:nvSpPr>
          <p:cNvPr id="19" name="employee-surface">
            <a:extLst xmlns:a="http://schemas.openxmlformats.org/drawingml/2006/main">
              <a:ext uri="{FF2B5EF4-FFF2-40B4-BE49-F238E27FC236}">
                <a16:creationId xmlns:a16="http://schemas.microsoft.com/office/drawing/2014/main" id="{79B8CFC3-848B-4C17-A185-9CCAEE4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200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employee-title">
            <a:extLst xmlns:a="http://schemas.openxmlformats.org/drawingml/2006/main">
              <a:ext uri="{FF2B5EF4-FFF2-40B4-BE49-F238E27FC236}">
                <a16:creationId xmlns:a16="http://schemas.microsoft.com/office/drawing/2014/main" id="{431A40D0-4840-4569-BD15-ABD8543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813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21" name="employee-subtitle">
            <a:extLst xmlns:a="http://schemas.openxmlformats.org/drawingml/2006/main">
              <a:ext uri="{FF2B5EF4-FFF2-40B4-BE49-F238E27FC236}">
                <a16:creationId xmlns:a16="http://schemas.microsoft.com/office/drawing/2014/main" id="{6EF95F19-EB5F-44EE-ACCB-6A02359A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Sign in • Ask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Review answer</a:t>
            </a:r>
          </a:p>
        </p:txBody>
      </p:sp>
      <p:sp>
        <p:nvSpPr>
          <p:cNvPr id="22" name="ui-surface">
            <a:extLst xmlns:a="http://schemas.openxmlformats.org/drawingml/2006/main">
              <a:ext uri="{FF2B5EF4-FFF2-40B4-BE49-F238E27FC236}">
                <a16:creationId xmlns:a16="http://schemas.microsoft.com/office/drawing/2014/main" id="{2DDBAC20-2521-4B5E-B878-EA33D2C1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3144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ui-title">
            <a:extLst xmlns:a="http://schemas.openxmlformats.org/drawingml/2006/main">
              <a:ext uri="{FF2B5EF4-FFF2-40B4-BE49-F238E27FC236}">
                <a16:creationId xmlns:a16="http://schemas.microsoft.com/office/drawing/2014/main" id="{66688532-F7B8-4C3B-9D65-ED1BBDD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479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AskAlpha</a:t>
            </a: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 UI</a:t>
            </a:r>
          </a:p>
        </p:txBody>
      </p:sp>
      <p:sp>
        <p:nvSpPr>
          <p:cNvPr id="24" name="ui-subtitle">
            <a:extLst xmlns:a="http://schemas.openxmlformats.org/drawingml/2006/main">
              <a:ext uri="{FF2B5EF4-FFF2-40B4-BE49-F238E27FC236}">
                <a16:creationId xmlns:a16="http://schemas.microsoft.com/office/drawing/2014/main" id="{61CAA8AB-3C09-4785-87B7-30DF5AB2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33725"/>
            <a:ext cx="1085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Validate request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Assemble response</a:t>
            </a:r>
          </a:p>
        </p:txBody>
      </p:sp>
      <p:sp>
        <p:nvSpPr>
          <p:cNvPr id="25" name="agent-surface">
            <a:extLst xmlns:a="http://schemas.openxmlformats.org/drawingml/2006/main">
              <a:ext uri="{FF2B5EF4-FFF2-40B4-BE49-F238E27FC236}">
                <a16:creationId xmlns:a16="http://schemas.microsoft.com/office/drawing/2014/main" id="{6D635E3A-1A4C-4027-87AF-DC8F777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14287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agent-title">
            <a:extLst xmlns:a="http://schemas.openxmlformats.org/drawingml/2006/main">
              <a:ext uri="{FF2B5EF4-FFF2-40B4-BE49-F238E27FC236}">
                <a16:creationId xmlns:a16="http://schemas.microsoft.com/office/drawing/2014/main" id="{A5A81E74-FA1B-4DDB-B7CB-9ADC62E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47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Agent Engine</a:t>
            </a:r>
          </a:p>
        </p:txBody>
      </p:sp>
      <p:sp>
        <p:nvSpPr>
          <p:cNvPr id="27" name="agent-subtitle">
            <a:extLst xmlns:a="http://schemas.openxmlformats.org/drawingml/2006/main">
              <a:ext uri="{FF2B5EF4-FFF2-40B4-BE49-F238E27FC236}">
                <a16:creationId xmlns:a16="http://schemas.microsoft.com/office/drawing/2014/main" id="{0B58AC31-5D3E-4DB0-A7DC-43E4116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33725"/>
            <a:ext cx="1200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Semantic planning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Metadata retrieval</a:t>
            </a:r>
          </a:p>
        </p:txBody>
      </p:sp>
      <p:sp>
        <p:nvSpPr>
          <p:cNvPr id="28" name="guard-surface">
            <a:extLst xmlns:a="http://schemas.openxmlformats.org/drawingml/2006/main">
              <a:ext uri="{FF2B5EF4-FFF2-40B4-BE49-F238E27FC236}">
                <a16:creationId xmlns:a16="http://schemas.microsoft.com/office/drawing/2014/main" id="{1496B935-005A-4268-98AE-A54F56C5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13144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guard-title">
            <a:extLst xmlns:a="http://schemas.openxmlformats.org/drawingml/2006/main">
              <a:ext uri="{FF2B5EF4-FFF2-40B4-BE49-F238E27FC236}">
                <a16:creationId xmlns:a16="http://schemas.microsoft.com/office/drawing/2014/main" id="{86CF0B57-7DC0-45B6-A8CA-F2A41311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479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5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Query Guard</a:t>
            </a:r>
          </a:p>
        </p:txBody>
      </p:sp>
      <p:sp>
        <p:nvSpPr>
          <p:cNvPr id="30" name="guard-subtitle">
            <a:extLst xmlns:a="http://schemas.openxmlformats.org/drawingml/2006/main">
              <a:ext uri="{FF2B5EF4-FFF2-40B4-BE49-F238E27FC236}">
                <a16:creationId xmlns:a16="http://schemas.microsoft.com/office/drawing/2014/main" id="{CB6323E8-78C1-4330-A023-03CADCB3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1085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Authorization • SQL safety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Limits • Read-only</a:t>
            </a:r>
          </a:p>
        </p:txBody>
      </p:sp>
      <p:sp>
        <p:nvSpPr>
          <p:cNvPr id="31" name="identity-surface">
            <a:extLst xmlns:a="http://schemas.openxmlformats.org/drawingml/2006/main">
              <a:ext uri="{FF2B5EF4-FFF2-40B4-BE49-F238E27FC236}">
                <a16:creationId xmlns:a16="http://schemas.microsoft.com/office/drawing/2014/main" id="{0C1A8DAD-2007-4737-AE8D-46B0DE50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19225"/>
            <a:ext cx="14287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32" name="identity-title">
            <a:extLst xmlns:a="http://schemas.openxmlformats.org/drawingml/2006/main">
              <a:ext uri="{FF2B5EF4-FFF2-40B4-BE49-F238E27FC236}">
                <a16:creationId xmlns:a16="http://schemas.microsoft.com/office/drawing/2014/main" id="{5A111EBE-9C33-449C-B6AF-89745311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43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2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Enterprise identity</a:t>
            </a:r>
          </a:p>
        </p:txBody>
      </p:sp>
      <p:sp>
        <p:nvSpPr>
          <p:cNvPr id="33" name="identity-subtitle">
            <a:extLst xmlns:a="http://schemas.openxmlformats.org/drawingml/2006/main">
              <a:ext uri="{FF2B5EF4-FFF2-40B4-BE49-F238E27FC236}">
                <a16:creationId xmlns:a16="http://schemas.microsoft.com/office/drawing/2014/main" id="{D4A910FE-3536-42F8-959E-FC014BEF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2880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Microsoft Entra ID</a:t>
            </a:r>
          </a:p>
        </p:txBody>
      </p:sp>
      <p:sp>
        <p:nvSpPr>
          <p:cNvPr id="34" name="ai-services-surface">
            <a:extLst xmlns:a="http://schemas.openxmlformats.org/drawingml/2006/main">
              <a:ext uri="{FF2B5EF4-FFF2-40B4-BE49-F238E27FC236}">
                <a16:creationId xmlns:a16="http://schemas.microsoft.com/office/drawing/2014/main" id="{3813FDD8-FB95-4107-A48B-6A8F35F5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00175"/>
            <a:ext cx="34290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35" name="ai-services-title">
            <a:extLst xmlns:a="http://schemas.openxmlformats.org/drawingml/2006/main">
              <a:ext uri="{FF2B5EF4-FFF2-40B4-BE49-F238E27FC236}">
                <a16:creationId xmlns:a16="http://schemas.microsoft.com/office/drawing/2014/main" id="{5A0E8489-5FE1-4186-8C99-B7C084FD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240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Metadata &amp; approved AI access</a:t>
            </a:r>
          </a:p>
        </p:txBody>
      </p:sp>
      <p:sp>
        <p:nvSpPr>
          <p:cNvPr id="36" name="ai-services-subtitle">
            <a:extLst xmlns:a="http://schemas.openxmlformats.org/drawingml/2006/main">
              <a:ext uri="{FF2B5EF4-FFF2-40B4-BE49-F238E27FC236}">
                <a16:creationId xmlns:a16="http://schemas.microsoft.com/office/drawing/2014/main" id="{9E18B490-7BC2-4F52-95F3-A766767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8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Azure AI Search  •  Azure OpenAI  •  LLM gateway target path</a:t>
            </a:r>
          </a:p>
        </p:txBody>
      </p:sp>
      <p:sp>
        <p:nvSpPr>
          <p:cNvPr id="37" name="auth-tbd-surface">
            <a:extLst xmlns:a="http://schemas.openxmlformats.org/drawingml/2006/main">
              <a:ext uri="{FF2B5EF4-FFF2-40B4-BE49-F238E27FC236}">
                <a16:creationId xmlns:a16="http://schemas.microsoft.com/office/drawing/2014/main" id="{913BBC77-1B79-4B1F-B283-D5AB40E8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952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D18B00"/>
            </a:solidFill>
            <a:prstDash val="solid"/>
          </a:ln>
        </p:spPr>
      </p:sp>
      <p:sp>
        <p:nvSpPr>
          <p:cNvPr id="38" name="auth-tbd-title">
            <a:extLst xmlns:a="http://schemas.openxmlformats.org/drawingml/2006/main">
              <a:ext uri="{FF2B5EF4-FFF2-40B4-BE49-F238E27FC236}">
                <a16:creationId xmlns:a16="http://schemas.microsoft.com/office/drawing/2014/main" id="{F001EB4C-7C2C-4AFD-8223-3F06C4A2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39" name="auth-tbd-subtitle">
            <a:extLst xmlns:a="http://schemas.openxmlformats.org/drawingml/2006/main">
              <a:ext uri="{FF2B5EF4-FFF2-40B4-BE49-F238E27FC236}">
                <a16:creationId xmlns:a16="http://schemas.microsoft.com/office/drawing/2014/main" id="{58BE8EEA-5B3A-4106-974C-00F0B48A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723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6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User authorization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40" name="unity-surface">
            <a:extLst xmlns:a="http://schemas.openxmlformats.org/drawingml/2006/main">
              <a:ext uri="{FF2B5EF4-FFF2-40B4-BE49-F238E27FC236}">
                <a16:creationId xmlns:a16="http://schemas.microsoft.com/office/drawing/2014/main" id="{F374AD46-E69D-427E-A9DE-E629388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24150"/>
            <a:ext cx="23622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18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unity-title">
            <a:extLst xmlns:a="http://schemas.openxmlformats.org/drawingml/2006/main">
              <a:ext uri="{FF2B5EF4-FFF2-40B4-BE49-F238E27FC236}">
                <a16:creationId xmlns:a16="http://schemas.microsoft.com/office/drawing/2014/main" id="{C88D9AA2-9B58-4495-B613-E1F034B7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479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20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Databricks SQL &amp; Unity Catalog</a:t>
            </a:r>
          </a:p>
        </p:txBody>
      </p:sp>
      <p:sp>
        <p:nvSpPr>
          <p:cNvPr id="42" name="unity-subtitle">
            <a:extLst xmlns:a="http://schemas.openxmlformats.org/drawingml/2006/main">
              <a:ext uri="{FF2B5EF4-FFF2-40B4-BE49-F238E27FC236}">
                <a16:creationId xmlns:a16="http://schemas.microsoft.com/office/drawing/2014/main" id="{69FD56F6-810F-4D7C-B309-B882579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33725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Governed views • row/column controls • masking</a:t>
            </a:r>
          </a:p>
        </p:txBody>
      </p:sp>
      <p:sp>
        <p:nvSpPr>
          <p:cNvPr id="43" name="delta-surface">
            <a:extLst xmlns:a="http://schemas.openxmlformats.org/drawingml/2006/main">
              <a:ext uri="{FF2B5EF4-FFF2-40B4-BE49-F238E27FC236}">
                <a16:creationId xmlns:a16="http://schemas.microsoft.com/office/drawing/2014/main" id="{287D9A61-F82E-4FF4-8D22-52BE6EF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76675"/>
            <a:ext cx="1809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44" name="delta-title">
            <a:extLst xmlns:a="http://schemas.openxmlformats.org/drawingml/2006/main">
              <a:ext uri="{FF2B5EF4-FFF2-40B4-BE49-F238E27FC236}">
                <a16:creationId xmlns:a16="http://schemas.microsoft.com/office/drawing/2014/main" id="{7DA49EC6-99F8-4C15-8DC8-33BC55FE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667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Curated Delta data in ADLS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7035FC-790F-47FE-A577-123CC829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Question / governed answer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964C3-874B-4711-99D7-4F9D2E20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669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D18B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18B00"/>
                </a:solidFill>
                <a:latin typeface="Arial"/>
                <a:ea typeface="Arial"/>
                <a:cs typeface="Arial"/>
              </a:rPr>
              <a:t>Validated query + trusted context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728B16-A56D-4497-A8AE-62BBF328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100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23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23A5A"/>
                </a:solidFill>
                <a:latin typeface="Arial"/>
                <a:ea typeface="Arial"/>
                <a:cs typeface="Arial"/>
              </a:rPr>
              <a:t>Governed, masked result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35101B-1898-42DA-B64E-3959EE3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1476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Identity + group claims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DF0810-7765-44EE-8958-B4D4E8E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812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Metadata / model response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2DB767-B9D5-446A-A4C1-725113B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05400"/>
            <a:ext cx="9525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A1F1E8-D098-4370-84B6-B70E23F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48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CONTROL OUTPUTS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1AC1B4-D4C0-4EA3-93AB-12F9C01C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43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observability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6360A7-7272-4E50-B510-422FF91B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81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Redacted agent and model traces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6BACB7-F657-4CCD-8C68-10F91409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438775"/>
            <a:ext cx="95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804656-AD68-4165-902D-D6B4F370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43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Security &amp; data audit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936C4C-98B8-4921-96C4-529E6959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81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Authentication, authorization and access events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0D7845-78D6-49CA-B3C0-46FEB7EF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438775"/>
            <a:ext cx="95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CB3E7B-ED18-4900-BE37-06D8F35B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43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Usage &amp; cost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EA0AD9-4E36-45BB-B513-81BED73A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816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and data-platform usage signals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41E023-59C0-4878-A17E-AE68979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1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A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A5A"/>
                </a:solidFill>
                <a:latin typeface="Arial"/>
                <a:ea typeface="Arial"/>
                <a:cs typeface="Arial"/>
              </a:rPr>
              <a:t>The model has no direct connection to governed source data.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4DCFC6-49A3-4CE3-8822-FE832304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239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D18B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18B00"/>
                </a:solidFill>
                <a:latin typeface="Arial"/>
                <a:ea typeface="Arial"/>
                <a:cs typeface="Arial"/>
              </a:rPr>
              <a:t>Amber = architecture decision required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A25BE0-AE41-4E45-97F9-059E762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AskAlpha</a:t>
            </a: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POC  |  Logical data flow  |  Draft for architecture review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04D01B-09EF-454F-8FFD-B1E4524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287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C00397-384D-4ACB-8F4F-E1EDFA95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POC validates the answer loop; four production decisions remain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39053-486C-46DE-8904-074E2C06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Architect review should confirm the logical flow and assign owners for the production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D9598-B74F-4105-9337-06807719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714750" cy="4286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75AF7-D316-4E0C-BED6-CB4E611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POC DEMONSTRATES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22535-D43F-4552-A084-0ACDA61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33E91-9ACF-4E8D-8518-E9F6194B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Employee authentication and question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66EA4-3830-444E-A188-B5F5C145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AD557-B050-4128-9061-73236EF9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Metadata-assisted semantic and query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355ED-7223-48DB-88E0-B3D34C2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F16DF-1FA5-4AE0-9389-70051E53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Read-only retrieval through the current Azure SQL / Synapse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ED93B-8D0F-48D7-9D57-905A626F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21E74-C346-4D36-87C0-CCCC658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AI-generated answer with basic traceability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21568-B40B-49DA-A2DA-61BE51F5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24A37-5AB7-4880-80F6-1F66B29A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OUTSIDE POC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247BE-B20B-4903-A6F2-A648676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D5640-0AD5-4F5F-8643-F7EBD10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Production HA/DR, sizing and SLOs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0A2E1-009A-4FA2-8874-44C8053A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06FF0-2BCE-4AB4-8B24-DA33606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Final retention and operating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E3770A-7433-4A33-BE96-AA899359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5E71B-F21E-4EE7-B234-2E43C51C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Kafka, Redis or APIM without a concrete use case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1449F-DD7A-4724-B654-51A54BC3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38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18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18B00"/>
                </a:solidFill>
                <a:latin typeface="Arial"/>
                <a:ea typeface="Arial"/>
                <a:cs typeface="Arial"/>
              </a:rPr>
              <a:t>PRODUCTION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68B09-D617-47E9-959A-C69D6A9A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8B00"/>
          </a:solidFill>
          <a:ln xmlns:a="http://schemas.openxmlformats.org/drawingml/2006/main" w="0">
            <a:solidFill>
              <a:srgbClr val="D18B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6F51C-66C2-46B7-AD59-D96A53F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3A41A-C481-47E4-821E-E6005581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90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Identity &amp; 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D4CAD-3DE8-4780-9BAA-3CDE9B1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81175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Confirm the approved propagation of employee authorization into Unity Catalog.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4BAD9-7DBA-4E8C-A7E8-85CA4BF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2A922-003C-432D-B11F-E354693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CDF03-D5BD-4F5B-9878-D18D064C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A18EB-85D3-411E-9B70-31CCB9B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Metadata lifecycle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B0708-5BC0-4572-A4AC-27146B1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38425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Assign systems of record, ownership, refresh, lineage and conflict handling.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90E8C1-1CF5-4215-9022-2982F1F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2CA2A8-60B3-4E0D-B986-F90D81B9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157A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C7575A-2004-45CB-A88C-7BF4A0D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BC7D5-A036-4749-8697-D654AAF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Privacy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6C915E-45EB-49A1-B2EB-C189569E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95675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Define PII/PCI rules, masking, redaction and permitted trace content.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8C847-7A2D-40B2-B210-0D1E75BE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174E0A-C026-4F14-8552-640DA0A6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5671C4-4FE0-49BF-B633-3DB1F14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A8F1E-A84F-4195-9E63-CC9243C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62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Audit &amp; accountability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67A7B5-3FA9-4987-BBDF-47DE00EF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52925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Confirm the authoritative audit sink, retention, ownership and cost reporting.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9092C9-2FD1-47FA-BB72-AFC1DA4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84553-41DA-461D-B186-B5F0E356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762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C6140A-A207-4877-BCFD-D1D36447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483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ARCHITECT REVIEW REQUESTED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1CAF70-F943-4C61-B00A-E5727A05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769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4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Validate the logical flow and assign owners for the four production gates.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06E6DC-E004-43EA-9291-5445404F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AskAlpha</a:t>
            </a: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POC  |  Logical data flow  |  Draft for architecture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343E44-9C50-4CAA-9AA4-BB56F51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9386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2026-08-13T15:34:30.8870000Z</dcterms:created>
  <dcterms:modified xsi:type="dcterms:W3CDTF">2026-08-13T15:34:30.8870000Z</dcterms:modified>
</coreProperties>
</file>