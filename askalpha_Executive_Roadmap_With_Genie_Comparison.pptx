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9"/>
    <p:sldId id="271" r:id="rId22"/>
    <p:sldId id="272" r:id="rId23"/>
    <p:sldId id="269" r:id="rId20"/>
    <p:sldId id="270" r:id="rId21"/>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MVP 2 now includes targeted enterprise integrations as well as efficiency. Genie, on-premises connectivity and Collibra are proposed workstreams; none is newly claimed as implemented.</a:t>
            </a:r>
          </a:p>
          <a:p/>
          <a:p>
            <a:r>
              <a:t>PRIOR SLIDE CONTEXT (retained where not superseded)</a:t>
            </a:r>
          </a:p>
          <a:p>
            <a:r>
              <a:t>Leadership update. This uses the documented accepted foundation through 2E, the 1 September architecture delta and owner decisions. Existing business-question capability is a bounded working proof of concept. The three-card summary does not imply that the governed business pilot or production rollout has already been approved. No financial return or launch date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Integration discovery can proceed alongside MVP 1; runtime integrations remain gated. The proposed workstreams do not replace approval, privacy or production-readiness obligations.</a:t>
            </a:r>
          </a:p>
          <a:p/>
          <a:p>
            <a:r>
              <a:t>PRIOR SLIDE CONTEXT (retained where not superseded)</a:t>
            </a:r>
          </a:p>
          <a:p>
            <a:r>
              <a:t>The completed column refers to engineering-delivered capability in the governed pilot, not enterprise-wide certification. The next column combines reported in-progress lifecycle work and later planned governance/templates/pilot work. The leadership asks are recommendations, not already approved funding or ownership.</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 additional delivered integration or production capability is asserted. Existing SQL execution support is not evidence of a working on-premises deployment.</a:t>
            </a:r>
          </a:p>
          <a:p/>
          <a:p>
            <a:r>
              <a:t>PRIOR SLIDE CONTEXT (retained where not superseded)</a:t>
            </a:r>
          </a:p>
          <a:p>
            <a:r>
              <a:t>Source S1 records one governed pilot dataset, one approved recipe and 199 strictly evidenced governed fields. These are not enterprise-wide coverage or 199 certified metrics. The documented accepted provider-neutral DataSourceAdapter boundary does not mean Databricks or other source integrations are live. Existing metadata-snapshot caching is not distributed result caching. No current repository state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Collibra source-of-record and import contracts should be considered during Phase 2F.3. The runtime Semantic Registry remains the canonical published semantic snapshot. No new Collibra API or network work belongs in the pure Phase 2F.1 evaluator. Existing 2F.1 status remains reported implementation/review with final integration requiring verification.</a:t>
            </a:r>
          </a:p>
          <a:p/>
          <a:p>
            <a:r>
              <a:t>PRIOR SLIDE CONTEXT (retained where not superseded)</a:t>
            </a:r>
          </a:p>
          <a:p>
            <a:r>
              <a:t>The 1 September impact report supersedes older statements that all Phase 2F implementation was not started. It reports 2F.1 implemented and independently reviewed, but merge acceptance remains REVERIFY_REQUIRED. Its lifecycle classifier is default-OFF, classification-only and does not itself activate a production execution policy. The cards show next work (2F.2, 2F.3 and 2F.4), not delivery already achieved. Warn versus block for resolvable governed change is an owner decision; missing authorization and invalid required evidence must still fail closed.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three executive milestones are preserved; the second is renamed Enterprise Integration &amp; Efficiency. This is proposed delivery packaging, not a renumbering of engineering phases. MVP 1 integrates the accepted foundation and pending 2F/2G trust controls. Genie feasibility and on-premises access discovery may run alongside it; Collibra ownership and metadata contracts belong with Phase 2F.3. Targeted runtime integration follows in engineering Phase 3 / proposed MVP 2 only after readiness and value gates. Genie is conditional, not guaranteed. An on-premises connector may move into MVP 1 only if essential to the approved pilot. Efficiency work spans later engineering phases; advanced visualization aligns with Phase 8. No milestone date or deployment is asserted.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The four core-delivery steps remain intact. Parallel work is bounded discovery: one Genie domain comparison, one on-premises source/access feasibility study and one Collibra metadata contract. Do not postpone the SQL-based governed pilot for optional integrations. Return an owner-backed go/no-go recommendation before runtime implementation.</a:t>
            </a:r>
          </a:p>
          <a:p/>
          <a:p>
            <a:r>
              <a:t>PRIOR SLIDE CONTEXT (retained where not superseded)</a:t>
            </a:r>
          </a:p>
          <a:p>
            <a:r>
              <a:t>This is a proposed executive work sequence based on the 1 September impact report, not authorization to change code or a dated plan. Detailed engineering sequence: reverify current baseline; close 2F.2 policy; certified semantic objects in 2F.3; template contracts and deterministic formatting in 2F.4; relationship impact only after governed evidence; hardening; controlled publish/rollback. AI formatting is optional and should stay disabled until approved. Delivery cadence comes from the supplied roadmap and must be agreed against capacity. Core work can proceed while integration approvals are resolved; an unapproved path cannot be used for a production pilot.</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Efficiency is one track within Enterprise Integration &amp; Efficiency. No additional infrastructure or cache product is selected. Early-cache matching must be deterministic before any LLM call, include exact request parameters and authorization context, and validate entry eligibility. If a cache returns only a plan, source execution is still required; only an eligible result hit can skip the data query.</a:t>
            </a:r>
          </a:p>
          <a:p/>
          <a:p>
            <a:r>
              <a:t>PRIOR SLIDE CONTEXT (retained where not superseded)</a:t>
            </a:r>
          </a:p>
          <a:p>
            <a:r>
              <a:t>Two planned caches serve different purposes: an early request/template lookup must use deterministic information available before an AI call; the post-plan result cache may use a semantic plan hash. No current cache delivery is asserted. Safe keys need scope, exact request/template parameters and context, registry/recipe/template/policy/freshness identity and output semantics. Authorization precedes lookup. Cached results must be revalidated for scope and policy where applicable; a source revocation policy must be defined rather than assuming cache access bypasses platform controls. Approximately 5 TB or more is owner-provided planning context, not tested capacity. Monthly curated release is a working direction, not mandatory daily automation.</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three proposed integration workstreams with different roles: Genie provides a candidate analytics route; on-premises connectors extend data access; Collibra provides governed metadata. They are not substitutes for one another. Current SQL support remains unchanged. The three integration scopes are proposed, not active dependencies. Engineering Phase 3 is the integration phase, not executive MVP 3. Provider-native access and approval prerequisites must be verified. No user-permission synchronization is introduced.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Add integration-specific measurement to the pilot scorecard. Compare Genie and direct execution only on equivalent questions, data and permitted scope. For on-premises, include source workload and network impact. For Collibra, measure metadata completeness for the chosen scope, freshness and manual upkeep avoided. Do not claim measured benefits until baselines and tests exist.</a:t>
            </a:r>
          </a:p>
          <a:p/>
          <a:p>
            <a:r>
              <a:t>PRIOR SLIDE CONTEXT (retained where not superseded)</a:t>
            </a:r>
          </a:p>
          <a:p>
            <a:r>
              <a:t>All measures on this slide are recommendations and not achieved outcomes. No measured productivity gain, reporting reduction, adoption or ROI is available in the reviewed evidence. Peak concurrency is to be agreed for aggregate scope; previous use-case estimates must not be presented as validated enterprise capacity. A pilot acceptance test is not a universal guarantee of security or reliability. Existing regulated/scheduled reports continue unless their owners approve rationalization. The pilot complements those reporting channels rather than committing to replacing them.</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new rows explicitly request decisions for Genie, on-premises connectivity and Collibra, not just general platform approval. These are accountable-function proposals; no named owner is assigned by this deck. Core business approval/renewal/change policy, AI privacy, operational targets and release evidence remain required. Do not interpret the six decisions as blanket production approval, an open-ended connector program or a funding commitment. No quantified spend or fixed date is invented. Entity-level application authorization and service-identity access remain the working MVP model with no user-ACL synchronization.</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Planned integration opportunities are now timed, not reclassified as implemented. Genie remains a candidate and may fail its evaluation. On-premises access and Collibra API readiness are not established by the current SQL foundation. Source/version metadata provenance complements the runtime Registry authority; no competing definition store is proposed.</a:t>
            </a:r>
          </a:p>
          <a:p/>
          <a:p>
            <a:r>
              <a:t>PRIOR SLIDE CONTEXT (retained where not superseded)</a:t>
            </a:r>
          </a:p>
          <a:p>
            <a:r>
              <a:t>This status matrix reconciles the historical 26 August current-state record with the 1 September impact report. It does not assign a percentage completion or infer any deployment. 2F.1 evidence concerns a classification-only evaluator, default OFF; this does not mean approved operational policy is active. The design decisions are owner-level working program direction, not blanket enterprise approval. Treat every new provider and optional AI result boundary as separately qualified.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Crosswalk is an executive presentation recommendation, not an approved technical renumbering. Existing engineering roadmap is preserved. Phase 2F.3 defines certified semantic contracts; integrating live Collibra and other provider APIs is separate Phase 3 work. Phase 3 also contains Databricks/provider work and the Genie coexistence boundary. Broader safety/evaluation/performance/self-service phases contribute to executive MVP 2; engineering Phase 8 supports executive MVP 3. Preparatory discovery does not require waiting for the end of MVP 1, but runtime activation still requires the relevant gates. Source evidence remains historical through accepted 2E with a 1 September 2F.1 review. No repository, deployment, service-access or environment check was conducted for this presentation. Vendor docs only support external feature feasibility. Approximately 5 TB or more is a planning context, not a demonstrated capacity.</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not started or approved: assess Genie on one curated Databricks-resident domain using the same golden questions and authorization scopes as the direct path. The API offers an embedding route, but the vendor capability is not evidence of enterprise deployment or answer quality. A Genie request may execute queries; wrapping the returned answer in an application check is not sufficient. With shared workload identity, an approved restricted domain/object boundary or equivalent pre-execution control must enforce the end user’s permitted entity scope. No continuous user-ACL mirror is introduced. Reject or defer the candidate if the chosen provider cannot satisfy that boundary. Compare accuracy, evidence, response time, query cost, model cost, operations and maintainability before recommending rollout. Timing is MVP 1 assessment, conditional MVP 2 implementation via engineering Phase 3.</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sequence: confirm the business question and one required on-premises database during MVP 1; deliver a source-specific read-only adapter and tested connectivity in engineering Phase 3 / MVP 2. A single essential source may be moved into MVP 1 by explicit scope and readiness approval, not by making every on-premises platform a prerequisite. Managed Identity is preferred where actually supported; do not assume all on-premises SQL Server or Oracle systems accept it. IAM must approve the source-appropriate workload identity, secret handling where needed, network and server configuration. Service identity only defines the application envelope; askalpha continues to enforce end-user entity scope before execution. Execute heavy analytical work on an approved source/read replica and return bounded results; assess source workload impact, licenses, network and operations as costs. Databricks federation also supports external SQL Server and Oracle access. The differentiator proposed here is the option of direct execution without a mandatory Databricks intermediary, not a claim that Genie/Databricks cannot access external data or that this route is free.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Collibra boundary: the enterprise owner decides which approved definitions and governance attributes originate in Collibra or another system of record. askalpha publishes a validated, versioned canonical runtime snapshot; it must not become a competing authoring authority for imported definitions. Templates reference semantic IDs and versions, not re-encoded KPIs. The Collibra API/Output Module can retrieve relevant assets, attributes and relationships. Actual enterprise metadata population, API access, authentication, approval and freshness remain to be verified. Contract and ownership work can be included in Phase 2F.3 during MVP 1. Read-only adapter, refresh and operational integration are separate Phase 3 / proposed MVP 2 work; avoid expanding the Phase 2F.1 evaluator. Start with one domain and scheduled/controlled refresh rather than a per-question catalog call. Preserve provenance, reject conflicting required evidence, and define stale/unavailable behavior. This is governance metadata intake, not an ACL synchronization engine, and metadata never grants access.</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AND INTERPRETATION</a:t>
            </a:r>
          </a:p>
          <a:p>
            <a:r>
              <a:t>This slide compares documented askalpha delivery with the published Genie Agents analytical product (formerly Spaces), not Genie Code. Vendor functionality is not evidence that it is approved or deployed in this organization. No new repository, deployment, latency or capacity test was performed for this presentation. The recommendation is an analyst assessment, not an approved procurement decision.</a:t>
            </a:r>
          </a:p>
          <a:p/>
          <a:p>
            <a:r>
              <a:t>HOW TO READ THE FACTORS</a:t>
            </a:r>
          </a:p>
          <a:p>
            <a:r>
              <a:t>1. Delivery and ownership. Internal records document the accepted foundation through Phase 2E: bounded SQL access, entity permissions, versioned registry and plans, one approved recipe and field-change protection. The 1 September architecture review reports Phase 2F.1 implementation/review but leaves final merge and activation subject to re-verification. New integrations and distributed request/result caching are not counted as delivered. Both choices still require semantic preparation, evaluation and operational ownership.</a:t>
            </a:r>
          </a:p>
          <a:p>
            <a:r>
              <a:t>2. Cloud and on-premises. askalpha currently depends on Azure application/model services. A provider-neutral data-access contract does not establish full multi-cloud portability. Direct on-premises adapters are a planned opportunity, with network, supported workload identity, source capacity and read-only scope still to qualify. Genie uses Unity Catalog-registered data, including foreign tables; federation can reach supported external databases without requiring an initial copy of all their data. Databricks and remote-source execution/network costs may both apply. Neither option in this comparison is a fully offline on-premises deployment.</a:t>
            </a:r>
          </a:p>
          <a:p>
            <a:r>
              <a:t>3. Performance. No end-to-end winner is established. Compare p50/p95 time to an accepted answer using the same questions, data snapshot and permissions. Break down authentication, metadata, AI, queue/cold start, SQL and formatting. Separate warm/cold compute and caches. Warehouse startup is not an answer-time SLA.</a:t>
            </a:r>
          </a:p>
          <a:p>
            <a:r>
              <a:t>4. Scale. Approximately 5 TB or more is planning context, not evidence of qualified capacity. Evaluate scanned bytes, result limits, query mix, peak queueing, autoscaling and cost. Thirty signed-in or active users are not necessarily thirty simultaneous queries. Test burst concurrency separately. No table-count or throughput superiority is asserted here.</a:t>
            </a:r>
          </a:p>
          <a:p>
            <a:r>
              <a:t>5. Business meaning and change. askalpha has documented version/dependency checks. Genie also offers curated semantics, trusted SQL, benchmarks and configuration deployment/versioning. Compare answer-level provenance and response to governed changes; do not claim semantic governance or caching is unique to askalpha.</a:t>
            </a:r>
          </a:p>
          <a:p>
            <a:r>
              <a:t>6. Authorization. The owner-selected askalpha MVP keeps end-user entity permissions in the application and source access under a workload identity. It does not mirror every user's source ACL. Genie native user access applies Unity Catalog permissions; a shared-service API route must preserve the user's scope before execution. A prompt instruction or output filtering alone does not establish that isolation. No ACL synchronization project is proposed.</a:t>
            </a:r>
          </a:p>
          <a:p>
            <a:r>
              <a:t>7. Economic fit. Evaluate remaining engineering, maintenance and operations as well as compute and AI. Distinguish native human use from service-principal use. Do not treat temporary promotions, existing source capacity or an API wrapper as permanently free.</a:t>
            </a:r>
          </a:p>
          <a:p/>
          <a:p>
            <a:r>
              <a:t>DECISION TEST</a:t>
            </a:r>
          </a:p>
          <a:p>
            <a:r>
              <a:t>Use a bounded representative pilot, including month-end where relevant. Measure correct/accepted-answer rate, latency, denied-before-execution behavior, source workload, metered AI and SQL costs, and forward support effort. askalpha's proposed differentiator is selective direct multi-platform access and organization-specific control, not a proven advantage on every metric.</a:t>
            </a:r>
          </a:p>
          <a:p/>
          <a:p>
            <a:r>
              <a:t>SOURCES / CHECKED 9 SEPTEMBER 2026</a:t>
            </a:r>
          </a:p>
          <a:p>
            <a:r>
              <a:t>[P1] askalpha accepted current-state record, verification dated 26 August 2026; Library file ID file_00000000794881fdbf5e728f1de30ebd.</a:t>
            </a:r>
          </a:p>
          <a:p>
            <a:r>
              <a:t>[P2] ARCHITECTURE_DELTA_IMPACT_REPORT.md, 1 September 2026; Library file ID file_00000000d9c081f6a266f8bdbf5b513f.</a:t>
            </a:r>
          </a:p>
          <a:p>
            <a:r>
              <a:t>[P3] Attached cost/comparison workbook: askalpha_vs_Genie_Executive_Cost_Model_2026-09-09.xlsx; Comparison and Benchmark_Plan worksheets.</a:t>
            </a:r>
          </a:p>
          <a:p>
            <a:r>
              <a:t>[W1] Genie Agents concepts: https://learn.microsoft.com/en-us/azure/databricks/genie-agents/concepts</a:t>
            </a:r>
          </a:p>
          <a:p>
            <a:r>
              <a:t>[W2] Genie curation and configuration versioning: https://learn.microsoft.com/en-us/azure/databricks/genie-agents/best-practices</a:t>
            </a:r>
          </a:p>
          <a:p>
            <a:r>
              <a:t>[W3] Genie API and identity: https://learn.microsoft.com/en-us/azure/databricks/genie-agents/conversation-api</a:t>
            </a:r>
          </a:p>
          <a:p>
            <a:r>
              <a:t>[W4] External database federation: https://learn.microsoft.com/en-us/azure/databricks/query-federation/</a:t>
            </a:r>
          </a:p>
          <a:p>
            <a:r>
              <a:t>[W5] SQL warehouse behavior/types: https://learn.microsoft.com/en-us/azure/databricks/compute/sql-warehouse/warehouse-types</a:t>
            </a:r>
          </a:p>
          <a:p>
            <a:r>
              <a:t>[W6] Genie billing: https://learn.microsoft.com/en-us/azure/databricks/genie/monitor-cost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CALCULATION METHODOLOGY — READ BEFORE USING AS A BUDGET</a:t>
            </a:r>
          </a:p>
          <a:p>
            <a:r>
              <a:t>All monetary figures are USD per month. This is an illustrative operating subtotal for the standard question-and-answer path, not a supplier quotation, a proven 5-TB design, an actual invoice, or a full TCO. It compares the attached workbook's scenarios without changing its inputs. askalpha and Genie do not necessarily use the same underlying language model. The benchmark is a like-for-like business workload, not claimed model equivalence.</a:t>
            </a:r>
          </a:p>
          <a:p/>
          <a:p>
            <a:r>
              <a:t>1. INPUTS AND EXACT WORKBOOK REFERENCES</a:t>
            </a:r>
          </a:p>
          <a:p>
            <a:r>
              <a:t>Workbook: askalpha_vs_Genie_Executive_Cost_Model_2026-09-09.xlsx.</a:t>
            </a:r>
          </a:p>
          <a:p>
            <a:r>
              <a:t>- Inputs!B5: 10,000 total business questions/month, including repeated questions/follow-ups. This is an assumption, not observed demand or the count of internal API calls.</a:t>
            </a:r>
          </a:p>
          <a:p>
            <a:r>
              <a:t>- Inputs!B6: 5 TB source-data context. Inputs!B7: 30 peak active users. Neither proves hardware sizing, query concurrency or latency.</a:t>
            </a:r>
          </a:p>
          <a:p>
            <a:r>
              <a:t>- Inputs!B8:B10: 22 working days x 10 active hours/day = 220 billed cluster-hours. Count all billed clusters, startup/idle time and scale-out; multiple clusters increase total hours.</a:t>
            </a:r>
          </a:p>
          <a:p>
            <a:r>
              <a:t>- Inputs!B11: $8 effective all-in compute-hour budget. This is a placeholder, NOT a published price for a particular SQL Warehouse SKU, size or Azure region.</a:t>
            </a:r>
          </a:p>
          <a:p>
            <a:r>
              <a:t>- Inputs!B12:B13: 8,000 input tokens and 1,500 billed output tokens per successful uncached business question, aggregated across its model calls. Include reasoning tokens where charged; this is not only the visible answer length.</a:t>
            </a:r>
          </a:p>
          <a:p>
            <a:r>
              <a:t>- Inputs!B14:B15: public OpenAI direct GPT-5.2 API reference prices of $1.75 per million input tokens and $14 per million output tokens, checked 9 September 2026. These are NOT the organization's Azure OpenAI contract, a claim of the active model, or a recommendation to change deployment. Replace with the approved regional deployment rate.</a:t>
            </a:r>
          </a:p>
          <a:p>
            <a:r>
              <a:t>- Inputs!B16: 10% approximate proportional allowance for retries/repair. Replace this with all actual model calls/tokens; a flat allowance is not a measurement.</a:t>
            </a:r>
          </a:p>
          <a:p>
            <a:r>
              <a:t>- Inputs!B17: 0% deployed early-result-cache hit benefit assumed. Existing in-process metadata caching is different. No provider prompt-caching discount or batch discount is assumed.</a:t>
            </a:r>
          </a:p>
          <a:p>
            <a:r>
              <a:t>- Inputs!B18:B20: $250 app/UI/API + $250 search/metadata + $100 registry/audit = $600. These are unverified budgets, not priced HA, WAF, SIEM or DR plans.</a:t>
            </a:r>
          </a:p>
          <a:p>
            <a:r>
              <a:t>- Inputs!B21: $600 hybrid app overhead, held equal for illustration.</a:t>
            </a:r>
          </a:p>
          <a:p>
            <a:r>
              <a:t>- Inputs!B22: $0.05/question is a hypothetical Genie service-principal AI sensitivity input, NOT a Databricks published tariff.</a:t>
            </a:r>
          </a:p>
          <a:p>
            <a:r>
              <a:t>- Inputs!B31: $0 extra askalpha AI/API calls on the hybrid path in the base case. Add actual double-planning/formatting calls when present.</a:t>
            </a:r>
          </a:p>
          <a:p/>
          <a:p>
            <a:r>
              <a:t>2. ASKALPHA MODEL FORMULA</a:t>
            </a:r>
          </a:p>
          <a:p>
            <a:r>
              <a:t>Input cost/question = 8,000 x $1.75 / 1,000,000 = $0.014.</a:t>
            </a:r>
          </a:p>
          <a:p>
            <a:r>
              <a:t>Output cost/question = 1,500 x $14 / 1,000,000 = $0.021.</a:t>
            </a:r>
          </a:p>
          <a:p>
            <a:r>
              <a:t>Base model cost/question = $0.014 + $0.021 = $0.035.</a:t>
            </a:r>
          </a:p>
          <a:p>
            <a:r>
              <a:t>With retry/repair allowance = $0.035 x 1.10 = $0.0385.</a:t>
            </a:r>
          </a:p>
          <a:p>
            <a:r>
              <a:t>Monthly AI = 10,000 x $0.0385 = $385.</a:t>
            </a:r>
          </a:p>
          <a:p>
            <a:r>
              <a:t>Workbook reconciliation: Monthly_Cost!B8 = $385; B13 = $0.0385; B14 = $385.</a:t>
            </a:r>
          </a:p>
          <a:p>
            <a:r>
              <a:t>A complete measured cost substitutes the sum of all charged input/output/tool calls rather than multiplying one nominal request price.</a:t>
            </a:r>
          </a:p>
          <a:p/>
          <a:p>
            <a:r>
              <a:t>3. SHARED COMPUTE AND APPLICATION BUDGETS</a:t>
            </a:r>
          </a:p>
          <a:p>
            <a:r>
              <a:t>Compute = 22 x 10 x $8 = $1,760/month.</a:t>
            </a:r>
          </a:p>
          <a:p>
            <a:r>
              <a:t>App/control = $250 + $250 + $100 = $600/month.</a:t>
            </a:r>
          </a:p>
          <a:p>
            <a:r>
              <a:t>Holding compute constant isolates app/AI arithmetic. It does NOT prove equal query counts, execution time, scan volume or required cluster size across the alternatives. A 5-TB source size is not multiplied by a per-question rate.</a:t>
            </a:r>
          </a:p>
          <a:p/>
          <a:p>
            <a:r>
              <a:t>4. OPTION TOTALS</a:t>
            </a:r>
          </a:p>
          <a:p>
            <a:r>
              <a:t>askalpha direct = $1,760 + $600 + $385 = $2,745/month (Monthly_Cost!B10).</a:t>
            </a:r>
          </a:p>
          <a:p>
            <a:r>
              <a:t>Genie native human UI during the stated promotion = $1,760 query compute + $0 custom app + $0 eligible Genie AI = $1,760/month (Monthly_Cost!C10). Zero custom-app cost is not zero domain curation, governance, support or enterprise cost.</a:t>
            </a:r>
          </a:p>
          <a:p>
            <a:r>
              <a:t>askalpha + Genie service API = $1,760 + $600 + G + H = $2,360 + G + H. G is metered Genie AI; H is any extra hybrid app AI/API cost (assumed zero in the displayed subtotal).</a:t>
            </a:r>
          </a:p>
          <a:p>
            <a:r>
              <a:t>For sensitivity only: G = 10,000 x $0.05 = $500, giving $2,860/month (Monthly_Cost!D10).</a:t>
            </a:r>
          </a:p>
          <a:p>
            <a:r>
              <a:t>Other G scenarios: $100 / $1,500 / $3,000 -&gt; hybrid subtotals $2,460 / $3,860 / $5,360, with all other budgets unchanged.</a:t>
            </a:r>
          </a:p>
          <a:p>
            <a:r>
              <a:t>AI-only parity in this example is G = $385/month, or $0.0385/question, not full-TCO or quality parity.</a:t>
            </a:r>
          </a:p>
          <a:p/>
          <a:p>
            <a:r>
              <a:t>5. GENIE BILLING AND HOW TO REPLACE G</a:t>
            </a:r>
          </a:p>
          <a:p>
            <a:r>
              <a:t>Official policy checked 9 September 2026: eligible human Genie Agents/One use is free through 31 January 2027; service-principal usage is billed. SQL/query compute remains separate. The endpoint alone does not determine eligibility: record the actual run-as identity.</a:t>
            </a:r>
          </a:p>
          <a:p>
            <a:r>
              <a:t>Obtain G from system.billing.usage joined to the valid regional SKU/time/currency in system.billing.list_prices. Filter billing_origin_product='GENIE', usage_metadata.genie.surface='GENIE_AGENTS' and the intended service identities; exclude GENIE_FREE_USAGE. Sum usage_quantity x applicable effective_list unit price, then reconcile contract terms and invoice adjustments. Do not double-apply the temporary 25% billed-usage promotion: the documentation says metered billed usage already includes it. Query-compute records must be budgeted separately without double-counting.</a:t>
            </a:r>
          </a:p>
          <a:p>
            <a:r>
              <a:t>Do not annualize the human promotional zero as a perpetual rate. Price the months after the promotion using then-applicable allowances, observed usage and contract terms. The workbook correctly leaves the full year-one TCO incomplete until missing inputs are supplied.</a:t>
            </a:r>
          </a:p>
          <a:p/>
          <a:p>
            <a:r>
              <a:t>6. EXCLUSIONS, FAIRNESS AND SENSITIVITY</a:t>
            </a:r>
          </a:p>
          <a:p>
            <a:r>
              <a:t>Not included: remaining product/connector engineering, migration, source storage/licensing, private network/egress, security/compliance/MRM, production resiliency, backup/DR, monitoring retention, business curation, support and enterprise overhead. These apply to all three options, in different amounts. Sunk development is not charged again in a forward investment comparison.</a:t>
            </a:r>
          </a:p>
          <a:p>
            <a:r>
              <a:t>TCO = remaining one-time delivery + future runtime + data/semantic preparation + testing/governance + people/operations + network/security/recovery.</a:t>
            </a:r>
          </a:p>
          <a:p>
            <a:r>
              <a:t>An illustrative 40 extra support hours/month x $100/hour = $4,000/month or $48,000/year. This is sensitivity, not actual staffing or a disclosed labor rate.</a:t>
            </a:r>
          </a:p>
          <a:p>
            <a:r>
              <a:t>An illustrative future 50% eligible early-cache hit rate saves only $192.50/month in model cost at this volume; a $200 cache budget would give -$7.50/month token-only savings if compute hours stay unchanged. Do not assume caching reduces an always-on warehouse bill.</a:t>
            </a:r>
          </a:p>
          <a:p>
            <a:r>
              <a:t>For direct on-premises use, the app/model subtotal alone is $985; source compute/licenses, network and adapter work must still be added. It is not a total on-premises cost.</a:t>
            </a:r>
          </a:p>
          <a:p/>
          <a:p>
            <a:r>
              <a:t>7. EXECUTIVE DECISION</a:t>
            </a:r>
          </a:p>
          <a:p>
            <a:r>
              <a:t>Compare full forward cost per correct, accepted answer under a common representative workload. Record warm/cold p50/p95 latency, correctness, burst concurrency, scan cost, service identity, actual tokens/DBUs and support effort. Neither operating subtotal establishes a procurement winner or validates 5-TB performance.</a:t>
            </a:r>
          </a:p>
          <a:p/>
          <a:p>
            <a:r>
              <a:t>SOURCES</a:t>
            </a:r>
          </a:p>
          <a:p>
            <a:r>
              <a:t>[C1] Attached workbook, Inputs, Monthly_Cost, Sensitivity, TCO_Gaps and Sources tabs; prepared 9 September 2026. Values read and arithmetic rechecked for this slide.</a:t>
            </a:r>
          </a:p>
          <a:p>
            <a:r>
              <a:t>[W1] GPT-5.2 public direct API pricing: https://developers.openai.com/api/docs/models/gpt-5.2</a:t>
            </a:r>
          </a:p>
          <a:p>
            <a:r>
              <a:t>[W2] Genie promotion, identities and metered usage: https://learn.microsoft.com/en-us/azure/databricks/genie/monitor-cost</a:t>
            </a:r>
          </a:p>
          <a:p>
            <a:r>
              <a:t>[W3] Query compute is separate from free AI use: https://www.databricks.com/product/pricing/genie</a:t>
            </a:r>
          </a:p>
          <a:p>
            <a:r>
              <a:t>[W4] Genie API identity patterns: https://learn.microsoft.com/en-us/azure/databricks/genie-agents/conversation-api</a:t>
            </a:r>
          </a:p>
          <a:p>
            <a:r>
              <a:t>[P1] Project architecture delta review dated 1 September 2026; planned cache/provider capabilities are not treated as live savings.</a:t>
            </a:r>
          </a:p>
          <a:p>
            <a:r>
              <a:t>Public sources checked 9 September 2026. Finance must replace illustrative compute/app budgets and model reference rates with approved regional/contract values.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23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87722"/>
          </a:solidFill>
          <a:ln w="12700">
            <a:solidFill>
              <a:srgbClr val="B87722"/>
            </a:solidFill>
            <a:prstDash val="solid"/>
          </a:ln>
        </p:spPr>
        <p:txBody>
          <a:bodyPr/>
          <a:p/>
        </p:txBody>
      </p:sp>
      <p:sp>
        <p:nvSpPr>
          <p:cNvPr id="3" name="Shape 1"/>
          <p:cNvSpPr/>
          <p:nvPr/>
        </p:nvSpPr>
        <p:spPr>
          <a:xfrm>
            <a:off x="9052560" y="0"/>
            <a:ext cx="3136392" cy="6858000"/>
          </a:xfrm>
          <a:prstGeom prst="rect">
            <a:avLst/>
          </a:prstGeom>
          <a:solidFill>
            <a:srgbClr val="004B34"/>
          </a:solidFill>
          <a:ln w="12700">
            <a:solidFill>
              <a:srgbClr val="004B34"/>
            </a:solidFill>
            <a:prstDash val="solid"/>
          </a:ln>
        </p:spPr>
        <p:txBody>
          <a:bodyPr/>
          <a:p/>
        </p:txBody>
      </p:sp>
      <p:sp>
        <p:nvSpPr>
          <p:cNvPr id="4" name="Text 2"/>
          <p:cNvSpPr/>
          <p:nvPr/>
        </p:nvSpPr>
        <p:spPr>
          <a:xfrm>
            <a:off x="9582912" y="484632"/>
            <a:ext cx="1938528" cy="502920"/>
          </a:xfrm>
          <a:prstGeom prst="rect">
            <a:avLst/>
          </a:prstGeom>
          <a:noFill/>
          <a:ln/>
        </p:spPr>
        <p:txBody>
          <a:bodyPr wrap="square" lIns="0" tIns="0" rIns="0" bIns="0" rtlCol="0" anchor="ctr"/>
          <a:lstStyle/>
          <a:p>
            <a:pPr algn="r" indent="0" marL="0">
              <a:buNone/>
            </a:pPr>
            <a:r>
              <a:rPr lang="en-US" sz="3000" b="1" dirty="0">
                <a:solidFill>
                  <a:srgbClr val="FFFFFF"/>
                </a:solidFill>
                <a:latin typeface="Arial" pitchFamily="34" charset="0"/>
                <a:ea typeface="Arial" pitchFamily="34" charset="-122"/>
                <a:cs typeface="Arial" pitchFamily="34" charset="-120"/>
              </a:rPr>
              <a:t>askalpha</a:t>
            </a:r>
            <a:endParaRPr lang="en-US" sz="3000" dirty="0"/>
          </a:p>
        </p:txBody>
      </p:sp>
      <p:sp>
        <p:nvSpPr>
          <p:cNvPr id="5" name="Text 3"/>
          <p:cNvSpPr/>
          <p:nvPr/>
        </p:nvSpPr>
        <p:spPr>
          <a:xfrm>
            <a:off x="704088" y="530352"/>
            <a:ext cx="7955280" cy="256032"/>
          </a:xfrm>
          <a:prstGeom prst="rect">
            <a:avLst/>
          </a:prstGeom>
          <a:noFill/>
          <a:ln/>
        </p:spPr>
        <p:txBody>
          <a:bodyPr wrap="square" lIns="0" tIns="0" rIns="0" bIns="0" rtlCol="0" anchor="ctr"/>
          <a:lstStyle/>
          <a:p>
            <a:pPr indent="0" marL="0">
              <a:buNone/>
            </a:pPr>
            <a:r>
              <a:rPr lang="en-US" sz="1200" b="1" spc="200" kern="0" dirty="0">
                <a:solidFill>
                  <a:srgbClr val="C8E4D2"/>
                </a:solidFill>
                <a:latin typeface="Arial" pitchFamily="34" charset="0"/>
                <a:ea typeface="Arial" pitchFamily="34" charset="-122"/>
                <a:cs typeface="Arial" pitchFamily="34" charset="-120"/>
              </a:rPr>
              <a:t>EXECUTIVE DELIVERY UPDATE</a:t>
            </a:r>
            <a:endParaRPr lang="en-US" sz="1200" dirty="0"/>
          </a:p>
        </p:txBody>
      </p:sp>
      <p:sp>
        <p:nvSpPr>
          <p:cNvPr id="6" name="Text 4"/>
          <p:cNvSpPr/>
          <p:nvPr/>
        </p:nvSpPr>
        <p:spPr>
          <a:xfrm>
            <a:off x="704088" y="1344168"/>
            <a:ext cx="10424160" cy="1618488"/>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From working answers</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to governed scale</a:t>
            </a:r>
            <a:endParaRPr lang="en-US" sz="4400" dirty="0"/>
          </a:p>
        </p:txBody>
      </p:sp>
      <p:sp>
        <p:nvSpPr>
          <p:cNvPr id="7" name="Text 5"/>
          <p:cNvSpPr/>
          <p:nvPr/>
        </p:nvSpPr>
        <p:spPr>
          <a:xfrm>
            <a:off x="731520" y="3154680"/>
            <a:ext cx="9966960" cy="411480"/>
          </a:xfrm>
          <a:prstGeom prst="rect">
            <a:avLst/>
          </a:prstGeom>
          <a:noFill/>
          <a:ln/>
        </p:spPr>
        <p:txBody>
          <a:bodyPr wrap="square" lIns="0" tIns="0" rIns="0" bIns="0" rtlCol="0" anchor="ctr"/>
          <a:lstStyle/>
          <a:p>
            <a:pPr indent="0" marL="0">
              <a:buNone/>
            </a:pPr>
            <a:r>
              <a:rPr lang="en-US" sz="2000" dirty="0">
                <a:solidFill>
                  <a:srgbClr val="DBEEE2"/>
                </a:solidFill>
                <a:latin typeface="Arial" pitchFamily="34" charset="0"/>
                <a:ea typeface="Arial" pitchFamily="34" charset="-122"/>
                <a:cs typeface="Arial" pitchFamily="34" charset="-120"/>
              </a:rPr>
              <a:t>Progress delivered. Strategic integrations. Decisions required.</a:t>
            </a:r>
            <a:endParaRPr lang="en-US" sz="2000" dirty="0"/>
          </a:p>
        </p:txBody>
      </p:sp>
      <p:sp>
        <p:nvSpPr>
          <p:cNvPr id="8" name="Shape 6"/>
          <p:cNvSpPr/>
          <p:nvPr/>
        </p:nvSpPr>
        <p:spPr>
          <a:xfrm>
            <a:off x="731520" y="4242816"/>
            <a:ext cx="3401568" cy="1252728"/>
          </a:xfrm>
          <a:prstGeom prst="rect">
            <a:avLst/>
          </a:prstGeom>
          <a:solidFill>
            <a:srgbClr val="096549"/>
          </a:solidFill>
          <a:ln w="8890">
            <a:solidFill>
              <a:srgbClr val="318467"/>
            </a:solidFill>
            <a:prstDash val="solid"/>
          </a:ln>
        </p:spPr>
        <p:txBody>
          <a:bodyPr/>
          <a:p/>
        </p:txBody>
      </p:sp>
      <p:sp>
        <p:nvSpPr>
          <p:cNvPr id="9" name="Text 7"/>
          <p:cNvSpPr/>
          <p:nvPr/>
        </p:nvSpPr>
        <p:spPr>
          <a:xfrm>
            <a:off x="932688"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DELIVERED</a:t>
            </a:r>
            <a:endParaRPr lang="en-US" sz="1100" dirty="0"/>
          </a:p>
        </p:txBody>
      </p:sp>
      <p:sp>
        <p:nvSpPr>
          <p:cNvPr id="10" name="Text 8"/>
          <p:cNvSpPr/>
          <p:nvPr/>
        </p:nvSpPr>
        <p:spPr>
          <a:xfrm>
            <a:off x="932688"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governed SQL</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foundation</a:t>
            </a:r>
            <a:endParaRPr lang="en-US" sz="2100" dirty="0"/>
          </a:p>
        </p:txBody>
      </p:sp>
      <p:sp>
        <p:nvSpPr>
          <p:cNvPr id="11" name="Shape 9"/>
          <p:cNvSpPr/>
          <p:nvPr/>
        </p:nvSpPr>
        <p:spPr>
          <a:xfrm>
            <a:off x="4407408" y="4242816"/>
            <a:ext cx="3401568" cy="1252728"/>
          </a:xfrm>
          <a:prstGeom prst="rect">
            <a:avLst/>
          </a:prstGeom>
          <a:solidFill>
            <a:srgbClr val="096549"/>
          </a:solidFill>
          <a:ln w="8890">
            <a:solidFill>
              <a:srgbClr val="318467"/>
            </a:solidFill>
            <a:prstDash val="solid"/>
          </a:ln>
        </p:spPr>
        <p:txBody>
          <a:bodyPr/>
          <a:p/>
        </p:txBody>
      </p:sp>
      <p:sp>
        <p:nvSpPr>
          <p:cNvPr id="12" name="Text 10"/>
          <p:cNvSpPr/>
          <p:nvPr/>
        </p:nvSpPr>
        <p:spPr>
          <a:xfrm>
            <a:off x="4608576"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NEXT</a:t>
            </a:r>
            <a:endParaRPr lang="en-US" sz="1100" dirty="0"/>
          </a:p>
        </p:txBody>
      </p:sp>
      <p:sp>
        <p:nvSpPr>
          <p:cNvPr id="13" name="Text 11"/>
          <p:cNvSpPr/>
          <p:nvPr/>
        </p:nvSpPr>
        <p:spPr>
          <a:xfrm>
            <a:off x="4608576"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controlled</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business pilot</a:t>
            </a:r>
            <a:endParaRPr lang="en-US" sz="2100" dirty="0"/>
          </a:p>
        </p:txBody>
      </p:sp>
      <p:sp>
        <p:nvSpPr>
          <p:cNvPr id="14" name="Shape 12"/>
          <p:cNvSpPr/>
          <p:nvPr/>
        </p:nvSpPr>
        <p:spPr>
          <a:xfrm>
            <a:off x="8083296" y="4242816"/>
            <a:ext cx="3401568" cy="1252728"/>
          </a:xfrm>
          <a:prstGeom prst="rect">
            <a:avLst/>
          </a:prstGeom>
          <a:solidFill>
            <a:srgbClr val="096549"/>
          </a:solidFill>
          <a:ln w="8890">
            <a:solidFill>
              <a:srgbClr val="318467"/>
            </a:solidFill>
            <a:prstDash val="solid"/>
          </a:ln>
        </p:spPr>
        <p:txBody>
          <a:bodyPr/>
          <a:p/>
        </p:txBody>
      </p:sp>
      <p:sp>
        <p:nvSpPr>
          <p:cNvPr id="15" name="Text 13"/>
          <p:cNvSpPr/>
          <p:nvPr/>
        </p:nvSpPr>
        <p:spPr>
          <a:xfrm>
            <a:off x="8284464"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DECIDE</a:t>
            </a:r>
            <a:endParaRPr lang="en-US" sz="1100" dirty="0"/>
          </a:p>
        </p:txBody>
      </p:sp>
      <p:sp>
        <p:nvSpPr>
          <p:cNvPr id="16" name="Text 14"/>
          <p:cNvSpPr/>
          <p:nvPr/>
        </p:nvSpPr>
        <p:spPr>
          <a:xfrm>
            <a:off x="8284464"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Priorities, ownership</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and readiness</a:t>
            </a:r>
          </a:p>
        </p:txBody>
      </p:sp>
      <p:sp>
        <p:nvSpPr>
          <p:cNvPr id="17" name="Shape 15"/>
          <p:cNvSpPr/>
          <p:nvPr/>
        </p:nvSpPr>
        <p:spPr>
          <a:xfrm>
            <a:off x="731520" y="5961888"/>
            <a:ext cx="10744200" cy="0"/>
          </a:xfrm>
          <a:prstGeom prst="line">
            <a:avLst/>
          </a:prstGeom>
          <a:noFill/>
          <a:ln w="10160">
            <a:solidFill>
              <a:srgbClr val="368366"/>
            </a:solidFill>
            <a:prstDash val="solid"/>
          </a:ln>
        </p:spPr>
        <p:txBody>
          <a:bodyPr/>
          <a:p/>
        </p:txBody>
      </p:sp>
      <p:sp>
        <p:nvSpPr>
          <p:cNvPr id="18" name="Text 16"/>
          <p:cNvSpPr/>
          <p:nvPr/>
        </p:nvSpPr>
        <p:spPr>
          <a:xfrm>
            <a:off x="731520" y="6153912"/>
            <a:ext cx="9921240" cy="292608"/>
          </a:xfrm>
          <a:prstGeom prst="rect">
            <a:avLst/>
          </a:prstGeom>
          <a:noFill/>
          <a:ln/>
        </p:spPr>
        <p:txBody>
          <a:bodyPr wrap="square" lIns="0" tIns="0" rIns="0" bIns="0" rtlCol="0" anchor="ctr"/>
          <a:lstStyle/>
          <a:p>
            <a:pPr indent="0" marL="0">
              <a:buNone/>
            </a:pPr>
            <a:r>
              <a:rPr lang="en-US" sz="1600" dirty="0">
                <a:solidFill>
                  <a:srgbClr val="DDEFE3"/>
                </a:solidFill>
                <a:latin typeface="Arial" pitchFamily="34" charset="0"/>
                <a:ea typeface="Arial" pitchFamily="34" charset="-122"/>
                <a:cs typeface="Arial" pitchFamily="34" charset="-120"/>
              </a:rPr>
              <a:t>Foundation &amp; Trust  →  Enterprise Integration &amp; Efficiency  →  Advanced Visualization</a:t>
            </a:r>
            <a:endParaRPr lang="en-US" sz="1500" dirty="0"/>
          </a:p>
        </p:txBody>
      </p:sp>
      <p:sp>
        <p:nvSpPr>
          <p:cNvPr id="19" name="Text 17"/>
          <p:cNvSpPr/>
          <p:nvPr/>
        </p:nvSpPr>
        <p:spPr>
          <a:xfrm>
            <a:off x="9912096" y="6556248"/>
            <a:ext cx="1581912" cy="155448"/>
          </a:xfrm>
          <a:prstGeom prst="rect">
            <a:avLst/>
          </a:prstGeom>
          <a:noFill/>
          <a:ln/>
        </p:spPr>
        <p:txBody>
          <a:bodyPr wrap="square" lIns="0" tIns="0" rIns="0" bIns="0" rtlCol="0" anchor="ctr"/>
          <a:lstStyle/>
          <a:p>
            <a:pPr algn="r" indent="0" marL="0">
              <a:buNone/>
            </a:pPr>
            <a:r>
              <a:rPr lang="en-US" sz="900" dirty="0">
                <a:solidFill>
                  <a:srgbClr val="C2DDCE"/>
                </a:solidFill>
                <a:latin typeface="Arial" pitchFamily="34" charset="0"/>
                <a:ea typeface="Arial" pitchFamily="34" charset="-122"/>
                <a:cs typeface="Arial" pitchFamily="34" charset="-120"/>
              </a:rPr>
              <a:t>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LEADERSHIP BRIEF</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Deliver the trust milestone; prepare targeted integrations.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Keep core delivery moving while clarifying the next sources, services and owners.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S1–S3,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02</a:t>
            </a:r>
            <a:endParaRPr lang="en-US" sz="1050" dirty="0"/>
          </a:p>
        </p:txBody>
      </p:sp>
      <p:sp>
        <p:nvSpPr>
          <p:cNvPr id="12" name="Shape 10"/>
          <p:cNvSpPr/>
          <p:nvPr/>
        </p:nvSpPr>
        <p:spPr>
          <a:xfrm>
            <a:off x="594360" y="2048256"/>
            <a:ext cx="3520440" cy="3511296"/>
          </a:xfrm>
          <a:prstGeom prst="rect">
            <a:avLst/>
          </a:prstGeom>
          <a:solidFill>
            <a:srgbClr val="F4F8F5"/>
          </a:solidFill>
          <a:ln w="10160">
            <a:solidFill>
              <a:srgbClr val="D9E4DD"/>
            </a:solidFill>
            <a:prstDash val="solid"/>
          </a:ln>
        </p:spPr>
        <p:txBody>
          <a:bodyPr/>
          <a:p/>
        </p:txBody>
      </p:sp>
      <p:sp>
        <p:nvSpPr>
          <p:cNvPr id="13" name="Shape 11"/>
          <p:cNvSpPr/>
          <p:nvPr/>
        </p:nvSpPr>
        <p:spPr>
          <a:xfrm>
            <a:off x="594360" y="2048256"/>
            <a:ext cx="3520440" cy="50292"/>
          </a:xfrm>
          <a:prstGeom prst="rect">
            <a:avLst/>
          </a:prstGeom>
          <a:solidFill>
            <a:srgbClr val="00843D"/>
          </a:solidFill>
          <a:ln w="12700">
            <a:solidFill>
              <a:srgbClr val="00843D"/>
            </a:solidFill>
            <a:prstDash val="solid"/>
          </a:ln>
        </p:spPr>
        <p:txBody>
          <a:bodyPr/>
          <a:p/>
        </p:txBody>
      </p:sp>
      <p:sp>
        <p:nvSpPr>
          <p:cNvPr id="14" name="Text 12"/>
          <p:cNvSpPr/>
          <p:nvPr/>
        </p:nvSpPr>
        <p:spPr>
          <a:xfrm>
            <a:off x="795528"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COMPLETED FOUNDATION</a:t>
            </a:r>
            <a:endParaRPr lang="en-US" sz="1010" dirty="0"/>
          </a:p>
        </p:txBody>
      </p:sp>
      <p:sp>
        <p:nvSpPr>
          <p:cNvPr id="15" name="Shape 13"/>
          <p:cNvSpPr/>
          <p:nvPr/>
        </p:nvSpPr>
        <p:spPr>
          <a:xfrm rot="10800000">
            <a:off x="862965" y="2741600"/>
            <a:ext cx="349758" cy="396392"/>
          </a:xfrm>
          <a:prstGeom prst="pentagon">
            <a:avLst/>
          </a:prstGeom>
          <a:solidFill>
            <a:srgbClr val="F4F8F5"/>
          </a:solidFill>
          <a:ln w="19050">
            <a:solidFill>
              <a:srgbClr val="00843D"/>
            </a:solidFill>
            <a:prstDash val="solid"/>
          </a:ln>
        </p:spPr>
        <p:txBody>
          <a:bodyPr/>
          <a:p/>
        </p:txBody>
      </p:sp>
      <p:sp>
        <p:nvSpPr>
          <p:cNvPr id="16" name="Shape 14"/>
          <p:cNvSpPr/>
          <p:nvPr/>
        </p:nvSpPr>
        <p:spPr>
          <a:xfrm>
            <a:off x="944575" y="2928137"/>
            <a:ext cx="69952" cy="69952"/>
          </a:xfrm>
          <a:prstGeom prst="line">
            <a:avLst/>
          </a:prstGeom>
          <a:noFill/>
          <a:ln w="22860">
            <a:solidFill>
              <a:srgbClr val="00843D"/>
            </a:solidFill>
            <a:prstDash val="solid"/>
          </a:ln>
        </p:spPr>
        <p:txBody>
          <a:bodyPr/>
          <a:p/>
        </p:txBody>
      </p:sp>
      <p:sp>
        <p:nvSpPr>
          <p:cNvPr id="17" name="Shape 15"/>
          <p:cNvSpPr/>
          <p:nvPr/>
        </p:nvSpPr>
        <p:spPr>
          <a:xfrm>
            <a:off x="1014527" y="2998089"/>
            <a:ext cx="128245" cy="-151562"/>
          </a:xfrm>
          <a:prstGeom prst="line">
            <a:avLst/>
          </a:prstGeom>
          <a:noFill/>
          <a:ln w="22860">
            <a:solidFill>
              <a:srgbClr val="00843D"/>
            </a:solidFill>
            <a:prstDash val="solid"/>
          </a:ln>
        </p:spPr>
        <p:txBody>
          <a:bodyPr/>
          <a:p/>
        </p:txBody>
      </p:sp>
      <p:sp>
        <p:nvSpPr>
          <p:cNvPr id="18" name="Text 16"/>
          <p:cNvSpPr/>
          <p:nvPr/>
        </p:nvSpPr>
        <p:spPr>
          <a:xfrm>
            <a:off x="1426464"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Safer, repeatable</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answers</a:t>
            </a:r>
            <a:endParaRPr lang="en-US" sz="2050" dirty="0"/>
          </a:p>
        </p:txBody>
      </p:sp>
      <p:sp>
        <p:nvSpPr>
          <p:cNvPr id="19" name="Shape 17"/>
          <p:cNvSpPr/>
          <p:nvPr/>
        </p:nvSpPr>
        <p:spPr>
          <a:xfrm>
            <a:off x="813816" y="3767328"/>
            <a:ext cx="45720" cy="45720"/>
          </a:xfrm>
          <a:prstGeom prst="rect">
            <a:avLst/>
          </a:prstGeom>
          <a:solidFill>
            <a:srgbClr val="00843D"/>
          </a:solidFill>
          <a:ln w="12700">
            <a:solidFill>
              <a:srgbClr val="00843D"/>
            </a:solidFill>
            <a:prstDash val="solid"/>
          </a:ln>
        </p:spPr>
        <p:txBody>
          <a:bodyPr/>
          <a:p/>
        </p:txBody>
      </p:sp>
      <p:sp>
        <p:nvSpPr>
          <p:cNvPr id="20" name="Text 18"/>
          <p:cNvSpPr/>
          <p:nvPr/>
        </p:nvSpPr>
        <p:spPr>
          <a:xfrm>
            <a:off x="960120"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Secure, read-only access</a:t>
            </a:r>
            <a:endParaRPr lang="en-US" sz="1600" dirty="0"/>
          </a:p>
        </p:txBody>
      </p:sp>
      <p:sp>
        <p:nvSpPr>
          <p:cNvPr id="21" name="Shape 19"/>
          <p:cNvSpPr/>
          <p:nvPr/>
        </p:nvSpPr>
        <p:spPr>
          <a:xfrm>
            <a:off x="813816" y="4325112"/>
            <a:ext cx="45720" cy="45720"/>
          </a:xfrm>
          <a:prstGeom prst="rect">
            <a:avLst/>
          </a:prstGeom>
          <a:solidFill>
            <a:srgbClr val="00843D"/>
          </a:solidFill>
          <a:ln w="12700">
            <a:solidFill>
              <a:srgbClr val="00843D"/>
            </a:solidFill>
            <a:prstDash val="solid"/>
          </a:ln>
        </p:spPr>
        <p:txBody>
          <a:bodyPr/>
          <a:p/>
        </p:txBody>
      </p:sp>
      <p:sp>
        <p:nvSpPr>
          <p:cNvPr id="22" name="Text 20"/>
          <p:cNvSpPr/>
          <p:nvPr/>
        </p:nvSpPr>
        <p:spPr>
          <a:xfrm>
            <a:off x="960120"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Versioned metadata and validated analytical plans</a:t>
            </a:r>
            <a:endParaRPr lang="en-US" sz="1600" dirty="0"/>
          </a:p>
        </p:txBody>
      </p:sp>
      <p:sp>
        <p:nvSpPr>
          <p:cNvPr id="23" name="Shape 21"/>
          <p:cNvSpPr/>
          <p:nvPr/>
        </p:nvSpPr>
        <p:spPr>
          <a:xfrm>
            <a:off x="813816" y="4882896"/>
            <a:ext cx="45720" cy="45720"/>
          </a:xfrm>
          <a:prstGeom prst="rect">
            <a:avLst/>
          </a:prstGeom>
          <a:solidFill>
            <a:srgbClr val="00843D"/>
          </a:solidFill>
          <a:ln w="12700">
            <a:solidFill>
              <a:srgbClr val="00843D"/>
            </a:solidFill>
            <a:prstDash val="solid"/>
          </a:ln>
        </p:spPr>
        <p:txBody>
          <a:bodyPr/>
          <a:p/>
        </p:txBody>
      </p:sp>
      <p:sp>
        <p:nvSpPr>
          <p:cNvPr id="24" name="Text 22"/>
          <p:cNvSpPr/>
          <p:nvPr/>
        </p:nvSpPr>
        <p:spPr>
          <a:xfrm>
            <a:off x="960120"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One governed calculation with field-change protection</a:t>
            </a:r>
            <a:endParaRPr lang="en-US" sz="1600" dirty="0"/>
          </a:p>
        </p:txBody>
      </p:sp>
      <p:sp>
        <p:nvSpPr>
          <p:cNvPr id="25" name="Shape 23"/>
          <p:cNvSpPr/>
          <p:nvPr/>
        </p:nvSpPr>
        <p:spPr>
          <a:xfrm>
            <a:off x="4334256" y="2048256"/>
            <a:ext cx="3520440" cy="3511296"/>
          </a:xfrm>
          <a:prstGeom prst="rect">
            <a:avLst/>
          </a:prstGeom>
          <a:solidFill>
            <a:srgbClr val="F4F8F5"/>
          </a:solidFill>
          <a:ln w="10160">
            <a:solidFill>
              <a:srgbClr val="D9E4DD"/>
            </a:solidFill>
            <a:prstDash val="solid"/>
          </a:ln>
        </p:spPr>
        <p:txBody>
          <a:bodyPr/>
          <a:p/>
        </p:txBody>
      </p:sp>
      <p:sp>
        <p:nvSpPr>
          <p:cNvPr id="26" name="Shape 24"/>
          <p:cNvSpPr/>
          <p:nvPr/>
        </p:nvSpPr>
        <p:spPr>
          <a:xfrm>
            <a:off x="4334256" y="2048256"/>
            <a:ext cx="3520440" cy="50292"/>
          </a:xfrm>
          <a:prstGeom prst="rect">
            <a:avLst/>
          </a:prstGeom>
          <a:solidFill>
            <a:srgbClr val="B87722"/>
          </a:solidFill>
          <a:ln w="12700">
            <a:solidFill>
              <a:srgbClr val="B87722"/>
            </a:solidFill>
            <a:prstDash val="solid"/>
          </a:ln>
        </p:spPr>
        <p:txBody>
          <a:bodyPr/>
          <a:p/>
        </p:txBody>
      </p:sp>
      <p:sp>
        <p:nvSpPr>
          <p:cNvPr id="27" name="Text 25"/>
          <p:cNvSpPr/>
          <p:nvPr/>
        </p:nvSpPr>
        <p:spPr>
          <a:xfrm>
            <a:off x="4535424" y="2267712"/>
            <a:ext cx="3017520" cy="201168"/>
          </a:xfrm>
          <a:prstGeom prst="rect">
            <a:avLst/>
          </a:prstGeom>
          <a:noFill/>
          <a:ln/>
        </p:spPr>
        <p:txBody>
          <a:bodyPr wrap="square" lIns="0" tIns="0" rIns="0" bIns="0" rtlCol="0" anchor="ctr"/>
          <a:lstStyle/>
          <a:p>
            <a:pPr indent="0" marL="0">
              <a:buNone/>
            </a:pPr>
            <a:r>
              <a:rPr lang="en-US" sz="1010" b="1" spc="50" kern="0" dirty="0">
                <a:solidFill>
                  <a:srgbClr val="B87722"/>
                </a:solidFill>
                <a:latin typeface="Arial" pitchFamily="34" charset="0"/>
                <a:ea typeface="Arial" pitchFamily="34" charset="-122"/>
                <a:cs typeface="Arial" pitchFamily="34" charset="-120"/>
              </a:rPr>
              <a:t>IN DELIVERY / NEXT</a:t>
            </a:r>
            <a:endParaRPr lang="en-US" sz="1010" dirty="0"/>
          </a:p>
        </p:txBody>
      </p:sp>
      <p:sp>
        <p:nvSpPr>
          <p:cNvPr id="28" name="Shape 26"/>
          <p:cNvSpPr/>
          <p:nvPr/>
        </p:nvSpPr>
        <p:spPr>
          <a:xfrm>
            <a:off x="4579544" y="2788234"/>
            <a:ext cx="174879" cy="314782"/>
          </a:xfrm>
          <a:prstGeom prst="rect">
            <a:avLst/>
          </a:prstGeom>
          <a:solidFill>
            <a:srgbClr val="FFFFFF"/>
          </a:solidFill>
          <a:ln w="15240">
            <a:solidFill>
              <a:srgbClr val="00843D"/>
            </a:solidFill>
            <a:prstDash val="solid"/>
          </a:ln>
        </p:spPr>
        <p:txBody>
          <a:bodyPr/>
          <a:p/>
        </p:txBody>
      </p:sp>
      <p:sp>
        <p:nvSpPr>
          <p:cNvPr id="29" name="Shape 27"/>
          <p:cNvSpPr/>
          <p:nvPr/>
        </p:nvSpPr>
        <p:spPr>
          <a:xfrm>
            <a:off x="4789399" y="2788234"/>
            <a:ext cx="174879" cy="314782"/>
          </a:xfrm>
          <a:prstGeom prst="rect">
            <a:avLst/>
          </a:prstGeom>
          <a:solidFill>
            <a:srgbClr val="FFFFFF"/>
          </a:solidFill>
          <a:ln w="15240">
            <a:solidFill>
              <a:srgbClr val="00843D"/>
            </a:solidFill>
            <a:prstDash val="solid"/>
          </a:ln>
        </p:spPr>
        <p:txBody>
          <a:bodyPr/>
          <a:p/>
        </p:txBody>
      </p:sp>
      <p:sp>
        <p:nvSpPr>
          <p:cNvPr id="30" name="Shape 28"/>
          <p:cNvSpPr/>
          <p:nvPr/>
        </p:nvSpPr>
        <p:spPr>
          <a:xfrm>
            <a:off x="4777740" y="2776576"/>
            <a:ext cx="0" cy="349758"/>
          </a:xfrm>
          <a:prstGeom prst="line">
            <a:avLst/>
          </a:prstGeom>
          <a:noFill/>
          <a:ln w="20320">
            <a:solidFill>
              <a:srgbClr val="00843D"/>
            </a:solidFill>
            <a:prstDash val="solid"/>
          </a:ln>
        </p:spPr>
        <p:txBody>
          <a:bodyPr/>
          <a:p/>
        </p:txBody>
      </p:sp>
      <p:sp>
        <p:nvSpPr>
          <p:cNvPr id="31" name="Shape 29"/>
          <p:cNvSpPr/>
          <p:nvPr/>
        </p:nvSpPr>
        <p:spPr>
          <a:xfrm>
            <a:off x="4626178" y="2858186"/>
            <a:ext cx="81610" cy="0"/>
          </a:xfrm>
          <a:prstGeom prst="line">
            <a:avLst/>
          </a:prstGeom>
          <a:noFill/>
          <a:ln w="20320">
            <a:solidFill>
              <a:srgbClr val="00843D"/>
            </a:solidFill>
            <a:prstDash val="solid"/>
          </a:ln>
        </p:spPr>
        <p:txBody>
          <a:bodyPr/>
          <a:p/>
        </p:txBody>
      </p:sp>
      <p:sp>
        <p:nvSpPr>
          <p:cNvPr id="32" name="Shape 30"/>
          <p:cNvSpPr/>
          <p:nvPr/>
        </p:nvSpPr>
        <p:spPr>
          <a:xfrm>
            <a:off x="4836033" y="2858186"/>
            <a:ext cx="93269" cy="0"/>
          </a:xfrm>
          <a:prstGeom prst="line">
            <a:avLst/>
          </a:prstGeom>
          <a:noFill/>
          <a:ln w="20320">
            <a:solidFill>
              <a:srgbClr val="00843D"/>
            </a:solidFill>
            <a:prstDash val="solid"/>
          </a:ln>
        </p:spPr>
        <p:txBody>
          <a:bodyPr/>
          <a:p/>
        </p:txBody>
      </p:sp>
      <p:sp>
        <p:nvSpPr>
          <p:cNvPr id="33" name="Shape 31"/>
          <p:cNvSpPr/>
          <p:nvPr/>
        </p:nvSpPr>
        <p:spPr>
          <a:xfrm>
            <a:off x="4626178" y="2939796"/>
            <a:ext cx="81610" cy="0"/>
          </a:xfrm>
          <a:prstGeom prst="line">
            <a:avLst/>
          </a:prstGeom>
          <a:noFill/>
          <a:ln w="20320">
            <a:solidFill>
              <a:srgbClr val="00843D"/>
            </a:solidFill>
            <a:prstDash val="solid"/>
          </a:ln>
        </p:spPr>
        <p:txBody>
          <a:bodyPr/>
          <a:p/>
        </p:txBody>
      </p:sp>
      <p:sp>
        <p:nvSpPr>
          <p:cNvPr id="34" name="Shape 32"/>
          <p:cNvSpPr/>
          <p:nvPr/>
        </p:nvSpPr>
        <p:spPr>
          <a:xfrm>
            <a:off x="4836033" y="2939796"/>
            <a:ext cx="93269" cy="0"/>
          </a:xfrm>
          <a:prstGeom prst="line">
            <a:avLst/>
          </a:prstGeom>
          <a:noFill/>
          <a:ln w="20320">
            <a:solidFill>
              <a:srgbClr val="00843D"/>
            </a:solidFill>
            <a:prstDash val="solid"/>
          </a:ln>
        </p:spPr>
        <p:txBody>
          <a:bodyPr/>
          <a:p/>
        </p:txBody>
      </p:sp>
      <p:sp>
        <p:nvSpPr>
          <p:cNvPr id="35" name="Text 33"/>
          <p:cNvSpPr/>
          <p:nvPr/>
        </p:nvSpPr>
        <p:spPr>
          <a:xfrm>
            <a:off x="5166360"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Governed business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readiness</a:t>
            </a:r>
            <a:endParaRPr lang="en-US" sz="2050" dirty="0"/>
          </a:p>
        </p:txBody>
      </p:sp>
      <p:sp>
        <p:nvSpPr>
          <p:cNvPr id="36" name="Shape 34"/>
          <p:cNvSpPr/>
          <p:nvPr/>
        </p:nvSpPr>
        <p:spPr>
          <a:xfrm>
            <a:off x="4553712" y="3767328"/>
            <a:ext cx="45720" cy="45720"/>
          </a:xfrm>
          <a:prstGeom prst="rect">
            <a:avLst/>
          </a:prstGeom>
          <a:solidFill>
            <a:srgbClr val="00843D"/>
          </a:solidFill>
          <a:ln w="12700">
            <a:solidFill>
              <a:srgbClr val="00843D"/>
            </a:solidFill>
            <a:prstDash val="solid"/>
          </a:ln>
        </p:spPr>
        <p:txBody>
          <a:bodyPr/>
          <a:p/>
        </p:txBody>
      </p:sp>
      <p:sp>
        <p:nvSpPr>
          <p:cNvPr id="37" name="Text 35"/>
          <p:cNvSpPr/>
          <p:nvPr/>
        </p:nvSpPr>
        <p:spPr>
          <a:xfrm>
            <a:off x="4700016"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Approval and change policies</a:t>
            </a:r>
            <a:endParaRPr lang="en-US" sz="1600" dirty="0"/>
          </a:p>
        </p:txBody>
      </p:sp>
      <p:sp>
        <p:nvSpPr>
          <p:cNvPr id="38" name="Shape 36"/>
          <p:cNvSpPr/>
          <p:nvPr/>
        </p:nvSpPr>
        <p:spPr>
          <a:xfrm>
            <a:off x="4553712" y="4325112"/>
            <a:ext cx="45720" cy="45720"/>
          </a:xfrm>
          <a:prstGeom prst="rect">
            <a:avLst/>
          </a:prstGeom>
          <a:solidFill>
            <a:srgbClr val="00843D"/>
          </a:solidFill>
          <a:ln w="12700">
            <a:solidFill>
              <a:srgbClr val="00843D"/>
            </a:solidFill>
            <a:prstDash val="solid"/>
          </a:ln>
        </p:spPr>
        <p:txBody>
          <a:bodyPr/>
          <a:p/>
        </p:txBody>
      </p:sp>
      <p:sp>
        <p:nvSpPr>
          <p:cNvPr id="39" name="Text 37"/>
          <p:cNvSpPr/>
          <p:nvPr/>
        </p:nvSpPr>
        <p:spPr>
          <a:xfrm>
            <a:off x="4700016"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Certified definitions and consistent output templates</a:t>
            </a:r>
            <a:endParaRPr lang="en-US" sz="1600" dirty="0"/>
          </a:p>
        </p:txBody>
      </p:sp>
      <p:sp>
        <p:nvSpPr>
          <p:cNvPr id="40" name="Shape 38"/>
          <p:cNvSpPr/>
          <p:nvPr/>
        </p:nvSpPr>
        <p:spPr>
          <a:xfrm>
            <a:off x="4553712" y="4882896"/>
            <a:ext cx="45720" cy="45720"/>
          </a:xfrm>
          <a:prstGeom prst="rect">
            <a:avLst/>
          </a:prstGeom>
          <a:solidFill>
            <a:srgbClr val="00843D"/>
          </a:solidFill>
          <a:ln w="12700">
            <a:solidFill>
              <a:srgbClr val="00843D"/>
            </a:solidFill>
            <a:prstDash val="solid"/>
          </a:ln>
        </p:spPr>
        <p:txBody>
          <a:bodyPr/>
          <a:p/>
        </p:txBody>
      </p:sp>
      <p:sp>
        <p:nvSpPr>
          <p:cNvPr id="41" name="Text 39"/>
          <p:cNvSpPr/>
          <p:nvPr/>
        </p:nvSpPr>
        <p:spPr>
          <a:xfrm>
            <a:off x="4700016"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Controlled pilot and integration discovery</a:t>
            </a:r>
            <a:endParaRPr lang="en-US" sz="1600" dirty="0"/>
          </a:p>
        </p:txBody>
      </p:sp>
      <p:sp>
        <p:nvSpPr>
          <p:cNvPr id="42" name="Shape 40"/>
          <p:cNvSpPr/>
          <p:nvPr/>
        </p:nvSpPr>
        <p:spPr>
          <a:xfrm>
            <a:off x="8074152" y="2048256"/>
            <a:ext cx="3520440" cy="3511296"/>
          </a:xfrm>
          <a:prstGeom prst="rect">
            <a:avLst/>
          </a:prstGeom>
          <a:solidFill>
            <a:srgbClr val="F4F8F5"/>
          </a:solidFill>
          <a:ln w="10160">
            <a:solidFill>
              <a:srgbClr val="D9E4DD"/>
            </a:solidFill>
            <a:prstDash val="solid"/>
          </a:ln>
        </p:spPr>
        <p:txBody>
          <a:bodyPr/>
          <a:p/>
        </p:txBody>
      </p:sp>
      <p:sp>
        <p:nvSpPr>
          <p:cNvPr id="43" name="Shape 41"/>
          <p:cNvSpPr/>
          <p:nvPr/>
        </p:nvSpPr>
        <p:spPr>
          <a:xfrm>
            <a:off x="8074152" y="2048256"/>
            <a:ext cx="3520440" cy="50292"/>
          </a:xfrm>
          <a:prstGeom prst="rect">
            <a:avLst/>
          </a:prstGeom>
          <a:solidFill>
            <a:srgbClr val="00843D"/>
          </a:solidFill>
          <a:ln w="12700">
            <a:solidFill>
              <a:srgbClr val="00843D"/>
            </a:solidFill>
            <a:prstDash val="solid"/>
          </a:ln>
        </p:spPr>
        <p:txBody>
          <a:bodyPr/>
          <a:p/>
        </p:txBody>
      </p:sp>
      <p:sp>
        <p:nvSpPr>
          <p:cNvPr id="44" name="Text 42"/>
          <p:cNvSpPr/>
          <p:nvPr/>
        </p:nvSpPr>
        <p:spPr>
          <a:xfrm>
            <a:off x="8275320"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LEADERSHIP ASK</a:t>
            </a:r>
            <a:endParaRPr lang="en-US" sz="1010" dirty="0"/>
          </a:p>
        </p:txBody>
      </p:sp>
      <p:sp>
        <p:nvSpPr>
          <p:cNvPr id="45" name="Shape 43"/>
          <p:cNvSpPr/>
          <p:nvPr/>
        </p:nvSpPr>
        <p:spPr>
          <a:xfrm>
            <a:off x="8517636" y="2799893"/>
            <a:ext cx="-151562" cy="233172"/>
          </a:xfrm>
          <a:prstGeom prst="line">
            <a:avLst/>
          </a:prstGeom>
          <a:noFill/>
          <a:ln w="20320">
            <a:solidFill>
              <a:srgbClr val="00843D"/>
            </a:solidFill>
            <a:prstDash val="solid"/>
          </a:ln>
        </p:spPr>
        <p:txBody>
          <a:bodyPr/>
          <a:p/>
        </p:txBody>
      </p:sp>
      <p:sp>
        <p:nvSpPr>
          <p:cNvPr id="46" name="Shape 44"/>
          <p:cNvSpPr/>
          <p:nvPr/>
        </p:nvSpPr>
        <p:spPr>
          <a:xfrm>
            <a:off x="8517636" y="2799893"/>
            <a:ext cx="151562" cy="233172"/>
          </a:xfrm>
          <a:prstGeom prst="line">
            <a:avLst/>
          </a:prstGeom>
          <a:noFill/>
          <a:ln w="20320">
            <a:solidFill>
              <a:srgbClr val="00843D"/>
            </a:solidFill>
            <a:prstDash val="solid"/>
          </a:ln>
        </p:spPr>
        <p:txBody>
          <a:bodyPr/>
          <a:p/>
        </p:txBody>
      </p:sp>
      <p:sp>
        <p:nvSpPr>
          <p:cNvPr id="47" name="Shape 45"/>
          <p:cNvSpPr/>
          <p:nvPr/>
        </p:nvSpPr>
        <p:spPr>
          <a:xfrm>
            <a:off x="8366074" y="3033065"/>
            <a:ext cx="303124" cy="0"/>
          </a:xfrm>
          <a:prstGeom prst="line">
            <a:avLst/>
          </a:prstGeom>
          <a:noFill/>
          <a:ln w="20320">
            <a:solidFill>
              <a:srgbClr val="00843D"/>
            </a:solidFill>
            <a:prstDash val="solid"/>
          </a:ln>
        </p:spPr>
        <p:txBody>
          <a:bodyPr/>
          <a:p/>
        </p:txBody>
      </p:sp>
      <p:sp>
        <p:nvSpPr>
          <p:cNvPr id="48" name="Shape 46"/>
          <p:cNvSpPr/>
          <p:nvPr/>
        </p:nvSpPr>
        <p:spPr>
          <a:xfrm>
            <a:off x="8447684" y="2718283"/>
            <a:ext cx="139903" cy="139903"/>
          </a:xfrm>
          <a:prstGeom prst="ellipse">
            <a:avLst/>
          </a:prstGeom>
          <a:solidFill>
            <a:srgbClr val="EAF4EE"/>
          </a:solidFill>
          <a:ln w="17780">
            <a:solidFill>
              <a:srgbClr val="00843D"/>
            </a:solidFill>
            <a:prstDash val="solid"/>
          </a:ln>
        </p:spPr>
        <p:txBody>
          <a:bodyPr/>
          <a:p/>
        </p:txBody>
      </p:sp>
      <p:sp>
        <p:nvSpPr>
          <p:cNvPr id="49" name="Shape 47"/>
          <p:cNvSpPr/>
          <p:nvPr/>
        </p:nvSpPr>
        <p:spPr>
          <a:xfrm>
            <a:off x="8296123" y="2974772"/>
            <a:ext cx="139903" cy="139903"/>
          </a:xfrm>
          <a:prstGeom prst="ellipse">
            <a:avLst/>
          </a:prstGeom>
          <a:solidFill>
            <a:srgbClr val="EAF4EE"/>
          </a:solidFill>
          <a:ln w="17780">
            <a:solidFill>
              <a:srgbClr val="00843D"/>
            </a:solidFill>
            <a:prstDash val="solid"/>
          </a:ln>
        </p:spPr>
        <p:txBody>
          <a:bodyPr/>
          <a:p/>
        </p:txBody>
      </p:sp>
      <p:sp>
        <p:nvSpPr>
          <p:cNvPr id="50" name="Shape 48"/>
          <p:cNvSpPr/>
          <p:nvPr/>
        </p:nvSpPr>
        <p:spPr>
          <a:xfrm>
            <a:off x="8599246" y="2974772"/>
            <a:ext cx="139903" cy="139903"/>
          </a:xfrm>
          <a:prstGeom prst="ellipse">
            <a:avLst/>
          </a:prstGeom>
          <a:solidFill>
            <a:srgbClr val="EAF4EE"/>
          </a:solidFill>
          <a:ln w="17780">
            <a:solidFill>
              <a:srgbClr val="00843D"/>
            </a:solidFill>
            <a:prstDash val="solid"/>
          </a:ln>
        </p:spPr>
        <p:txBody>
          <a:bodyPr/>
          <a:p/>
        </p:txBody>
      </p:sp>
      <p:sp>
        <p:nvSpPr>
          <p:cNvPr id="51" name="Text 49"/>
          <p:cNvSpPr/>
          <p:nvPr/>
        </p:nvSpPr>
        <p:spPr>
          <a:xfrm>
            <a:off x="8906256"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Close the decisions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that unlock delivery</a:t>
            </a:r>
            <a:endParaRPr lang="en-US" sz="2050" dirty="0"/>
          </a:p>
        </p:txBody>
      </p:sp>
      <p:sp>
        <p:nvSpPr>
          <p:cNvPr id="52" name="Shape 50"/>
          <p:cNvSpPr/>
          <p:nvPr/>
        </p:nvSpPr>
        <p:spPr>
          <a:xfrm>
            <a:off x="8293608" y="3767328"/>
            <a:ext cx="45720" cy="45720"/>
          </a:xfrm>
          <a:prstGeom prst="rect">
            <a:avLst/>
          </a:prstGeom>
          <a:solidFill>
            <a:srgbClr val="00843D"/>
          </a:solidFill>
          <a:ln w="12700">
            <a:solidFill>
              <a:srgbClr val="00843D"/>
            </a:solidFill>
            <a:prstDash val="solid"/>
          </a:ln>
        </p:spPr>
        <p:txBody>
          <a:bodyPr/>
          <a:p/>
        </p:txBody>
      </p:sp>
      <p:sp>
        <p:nvSpPr>
          <p:cNvPr id="53" name="Text 51"/>
          <p:cNvSpPr/>
          <p:nvPr/>
        </p:nvSpPr>
        <p:spPr>
          <a:xfrm>
            <a:off x="8439912"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Pilot scope and accountable owners</a:t>
            </a:r>
            <a:endParaRPr lang="en-US" sz="1600" dirty="0"/>
          </a:p>
        </p:txBody>
      </p:sp>
      <p:sp>
        <p:nvSpPr>
          <p:cNvPr id="54" name="Shape 52"/>
          <p:cNvSpPr/>
          <p:nvPr/>
        </p:nvSpPr>
        <p:spPr>
          <a:xfrm>
            <a:off x="8293608" y="4325112"/>
            <a:ext cx="45720" cy="45720"/>
          </a:xfrm>
          <a:prstGeom prst="rect">
            <a:avLst/>
          </a:prstGeom>
          <a:solidFill>
            <a:srgbClr val="00843D"/>
          </a:solidFill>
          <a:ln w="12700">
            <a:solidFill>
              <a:srgbClr val="00843D"/>
            </a:solidFill>
            <a:prstDash val="solid"/>
          </a:ln>
        </p:spPr>
        <p:txBody>
          <a:bodyPr/>
          <a:p/>
        </p:txBody>
      </p:sp>
      <p:sp>
        <p:nvSpPr>
          <p:cNvPr id="55" name="Text 53"/>
          <p:cNvSpPr/>
          <p:nvPr/>
        </p:nvSpPr>
        <p:spPr>
          <a:xfrm>
            <a:off x="8439912"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Genie, on-premises and Collibra priorities</a:t>
            </a:r>
            <a:endParaRPr lang="en-US" sz="1600" dirty="0"/>
          </a:p>
        </p:txBody>
      </p:sp>
      <p:sp>
        <p:nvSpPr>
          <p:cNvPr id="56" name="Shape 54"/>
          <p:cNvSpPr/>
          <p:nvPr/>
        </p:nvSpPr>
        <p:spPr>
          <a:xfrm>
            <a:off x="8293608" y="4882896"/>
            <a:ext cx="45720" cy="45720"/>
          </a:xfrm>
          <a:prstGeom prst="rect">
            <a:avLst/>
          </a:prstGeom>
          <a:solidFill>
            <a:srgbClr val="00843D"/>
          </a:solidFill>
          <a:ln w="12700">
            <a:solidFill>
              <a:srgbClr val="00843D"/>
            </a:solidFill>
            <a:prstDash val="solid"/>
          </a:ln>
        </p:spPr>
        <p:txBody>
          <a:bodyPr/>
          <a:p/>
        </p:txBody>
      </p:sp>
      <p:sp>
        <p:nvSpPr>
          <p:cNvPr id="57" name="Text 55"/>
          <p:cNvSpPr/>
          <p:nvPr/>
        </p:nvSpPr>
        <p:spPr>
          <a:xfrm>
            <a:off x="8439912"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Value, privacy and operating gates</a:t>
            </a:r>
            <a:endParaRPr lang="en-US" sz="1600" dirty="0"/>
          </a:p>
        </p:txBody>
      </p:sp>
      <p:sp>
        <p:nvSpPr>
          <p:cNvPr id="58" name="Shape 5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59" name="Shape 5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60" name="Text 5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RECOMMENDATION</a:t>
            </a:r>
            <a:endParaRPr lang="en-US" sz="950" dirty="0"/>
          </a:p>
        </p:txBody>
      </p:sp>
      <p:sp>
        <p:nvSpPr>
          <p:cNvPr id="61" name="Text 59"/>
          <p:cNvSpPr/>
          <p:nvPr/>
        </p:nvSpPr>
        <p:spPr>
          <a:xfrm>
            <a:off x="2596896" y="5907024"/>
            <a:ext cx="8778240" cy="35661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Complete the core pilot; qualify integrations before committing to wider rollout.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DELIVERED FOUNDATION</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Completed work makes the pilot safer and repeatable.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Documented delivery through Phase 2E; verification recorded on 26 August 2026.</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 S2, 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03</a:t>
            </a:r>
            <a:endParaRPr lang="en-US" sz="1050" dirty="0"/>
          </a:p>
        </p:txBody>
      </p:sp>
      <p:sp>
        <p:nvSpPr>
          <p:cNvPr id="12" name="Shape 10"/>
          <p:cNvSpPr/>
          <p:nvPr/>
        </p:nvSpPr>
        <p:spPr>
          <a:xfrm>
            <a:off x="594360" y="2039112"/>
            <a:ext cx="11000232" cy="338328"/>
          </a:xfrm>
          <a:prstGeom prst="rect">
            <a:avLst/>
          </a:prstGeom>
          <a:solidFill>
            <a:srgbClr val="005238"/>
          </a:solidFill>
          <a:ln w="12700">
            <a:solidFill>
              <a:srgbClr val="005238"/>
            </a:solidFill>
            <a:prstDash val="solid"/>
          </a:ln>
        </p:spPr>
        <p:txBody>
          <a:bodyPr/>
          <a:p/>
        </p:txBody>
      </p:sp>
      <p:sp>
        <p:nvSpPr>
          <p:cNvPr id="13" name="Text 11"/>
          <p:cNvSpPr/>
          <p:nvPr/>
        </p:nvSpPr>
        <p:spPr>
          <a:xfrm>
            <a:off x="740664" y="2093976"/>
            <a:ext cx="1956816"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CAPABILITY</a:t>
            </a:r>
            <a:endParaRPr lang="en-US" sz="1000" dirty="0"/>
          </a:p>
        </p:txBody>
      </p:sp>
      <p:sp>
        <p:nvSpPr>
          <p:cNvPr id="14" name="Text 12"/>
          <p:cNvSpPr/>
          <p:nvPr/>
        </p:nvSpPr>
        <p:spPr>
          <a:xfrm>
            <a:off x="2953512" y="2093976"/>
            <a:ext cx="475488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WHAT HAS BEEN DELIVERED</a:t>
            </a:r>
            <a:endParaRPr lang="en-US" sz="1000" dirty="0"/>
          </a:p>
        </p:txBody>
      </p:sp>
      <p:sp>
        <p:nvSpPr>
          <p:cNvPr id="15" name="Text 13"/>
          <p:cNvSpPr/>
          <p:nvPr/>
        </p:nvSpPr>
        <p:spPr>
          <a:xfrm>
            <a:off x="7964424" y="2093976"/>
            <a:ext cx="352044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WHY IT MATTERS</a:t>
            </a:r>
            <a:endParaRPr lang="en-US" sz="1000" dirty="0"/>
          </a:p>
        </p:txBody>
      </p:sp>
      <p:sp>
        <p:nvSpPr>
          <p:cNvPr id="16" name="Shape 14"/>
          <p:cNvSpPr/>
          <p:nvPr/>
        </p:nvSpPr>
        <p:spPr>
          <a:xfrm>
            <a:off x="594360" y="2377440"/>
            <a:ext cx="11000232" cy="516636"/>
          </a:xfrm>
          <a:prstGeom prst="rect">
            <a:avLst/>
          </a:prstGeom>
          <a:solidFill>
            <a:srgbClr val="F4F8F5"/>
          </a:solidFill>
          <a:ln w="12700">
            <a:solidFill>
              <a:srgbClr val="F4F8F5"/>
            </a:solidFill>
            <a:prstDash val="solid"/>
          </a:ln>
        </p:spPr>
        <p:txBody>
          <a:bodyPr/>
          <a:p/>
        </p:txBody>
      </p:sp>
      <p:sp>
        <p:nvSpPr>
          <p:cNvPr id="17" name="Text 15"/>
          <p:cNvSpPr/>
          <p:nvPr/>
        </p:nvSpPr>
        <p:spPr>
          <a:xfrm>
            <a:off x="740664" y="2427732"/>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Secure access</a:t>
            </a:r>
            <a:endParaRPr lang="en-US" sz="1500" dirty="0"/>
          </a:p>
        </p:txBody>
      </p:sp>
      <p:sp>
        <p:nvSpPr>
          <p:cNvPr id="18" name="Text 16"/>
          <p:cNvSpPr/>
          <p:nvPr/>
        </p:nvSpPr>
        <p:spPr>
          <a:xfrm>
            <a:off x="2953512" y="2427732"/>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Authenticated users, entity permissions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and bounded read-only queries.</a:t>
            </a:r>
            <a:endParaRPr lang="en-US" sz="1440" dirty="0"/>
          </a:p>
        </p:txBody>
      </p:sp>
      <p:sp>
        <p:nvSpPr>
          <p:cNvPr id="19" name="Text 17"/>
          <p:cNvSpPr/>
          <p:nvPr/>
        </p:nvSpPr>
        <p:spPr>
          <a:xfrm>
            <a:off x="7964424" y="2427732"/>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Constrains access and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protects source data.</a:t>
            </a:r>
            <a:endParaRPr lang="en-US" sz="1440" dirty="0"/>
          </a:p>
        </p:txBody>
      </p:sp>
      <p:sp>
        <p:nvSpPr>
          <p:cNvPr id="20" name="Shape 18"/>
          <p:cNvSpPr/>
          <p:nvPr/>
        </p:nvSpPr>
        <p:spPr>
          <a:xfrm>
            <a:off x="594360" y="2894076"/>
            <a:ext cx="11000232" cy="0"/>
          </a:xfrm>
          <a:prstGeom prst="line">
            <a:avLst/>
          </a:prstGeom>
          <a:noFill/>
          <a:ln w="6985">
            <a:solidFill>
              <a:srgbClr val="D9E4DD"/>
            </a:solidFill>
            <a:prstDash val="solid"/>
          </a:ln>
        </p:spPr>
        <p:txBody>
          <a:bodyPr/>
          <a:p/>
        </p:txBody>
      </p:sp>
      <p:sp>
        <p:nvSpPr>
          <p:cNvPr id="21" name="Shape 19"/>
          <p:cNvSpPr/>
          <p:nvPr/>
        </p:nvSpPr>
        <p:spPr>
          <a:xfrm>
            <a:off x="594360" y="2894076"/>
            <a:ext cx="11000232" cy="516636"/>
          </a:xfrm>
          <a:prstGeom prst="rect">
            <a:avLst/>
          </a:prstGeom>
          <a:solidFill>
            <a:srgbClr val="FFFFFF"/>
          </a:solidFill>
          <a:ln w="12700">
            <a:solidFill>
              <a:srgbClr val="FFFFFF"/>
            </a:solidFill>
            <a:prstDash val="solid"/>
          </a:ln>
        </p:spPr>
        <p:txBody>
          <a:bodyPr/>
          <a:p/>
        </p:txBody>
      </p:sp>
      <p:sp>
        <p:nvSpPr>
          <p:cNvPr id="22" name="Text 20"/>
          <p:cNvSpPr/>
          <p:nvPr/>
        </p:nvSpPr>
        <p:spPr>
          <a:xfrm>
            <a:off x="740664" y="2944368"/>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Governed planning</a:t>
            </a:r>
            <a:endParaRPr lang="en-US" sz="1500" dirty="0"/>
          </a:p>
        </p:txBody>
      </p:sp>
      <p:sp>
        <p:nvSpPr>
          <p:cNvPr id="23" name="Text 21"/>
          <p:cNvSpPr/>
          <p:nvPr/>
        </p:nvSpPr>
        <p:spPr>
          <a:xfrm>
            <a:off x="2953512" y="2944368"/>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Versioned metadata and validation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of selected data and fields.</a:t>
            </a:r>
            <a:endParaRPr lang="en-US" sz="1440" dirty="0"/>
          </a:p>
        </p:txBody>
      </p:sp>
      <p:sp>
        <p:nvSpPr>
          <p:cNvPr id="24" name="Text 22"/>
          <p:cNvSpPr/>
          <p:nvPr/>
        </p:nvSpPr>
        <p:spPr>
          <a:xfrm>
            <a:off x="7964424" y="2944368"/>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Provides a reviewable basis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for the answer.</a:t>
            </a:r>
            <a:endParaRPr lang="en-US" sz="1440" dirty="0"/>
          </a:p>
        </p:txBody>
      </p:sp>
      <p:sp>
        <p:nvSpPr>
          <p:cNvPr id="25" name="Shape 23"/>
          <p:cNvSpPr/>
          <p:nvPr/>
        </p:nvSpPr>
        <p:spPr>
          <a:xfrm>
            <a:off x="594360" y="3410712"/>
            <a:ext cx="11000232" cy="0"/>
          </a:xfrm>
          <a:prstGeom prst="line">
            <a:avLst/>
          </a:prstGeom>
          <a:noFill/>
          <a:ln w="6985">
            <a:solidFill>
              <a:srgbClr val="D9E4DD"/>
            </a:solidFill>
            <a:prstDash val="solid"/>
          </a:ln>
        </p:spPr>
        <p:txBody>
          <a:bodyPr/>
          <a:p/>
        </p:txBody>
      </p:sp>
      <p:sp>
        <p:nvSpPr>
          <p:cNvPr id="26" name="Shape 24"/>
          <p:cNvSpPr/>
          <p:nvPr/>
        </p:nvSpPr>
        <p:spPr>
          <a:xfrm>
            <a:off x="594360" y="3410712"/>
            <a:ext cx="11000232" cy="516636"/>
          </a:xfrm>
          <a:prstGeom prst="rect">
            <a:avLst/>
          </a:prstGeom>
          <a:solidFill>
            <a:srgbClr val="F4F8F5"/>
          </a:solidFill>
          <a:ln w="12700">
            <a:solidFill>
              <a:srgbClr val="F4F8F5"/>
            </a:solidFill>
            <a:prstDash val="solid"/>
          </a:ln>
        </p:spPr>
        <p:txBody>
          <a:bodyPr/>
          <a:p/>
        </p:txBody>
      </p:sp>
      <p:sp>
        <p:nvSpPr>
          <p:cNvPr id="27" name="Text 25"/>
          <p:cNvSpPr/>
          <p:nvPr/>
        </p:nvSpPr>
        <p:spPr>
          <a:xfrm>
            <a:off x="740664" y="3461004"/>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Repeatable logic</a:t>
            </a:r>
            <a:endParaRPr lang="en-US" sz="1500" dirty="0"/>
          </a:p>
        </p:txBody>
      </p:sp>
      <p:sp>
        <p:nvSpPr>
          <p:cNvPr id="28" name="Text 26"/>
          <p:cNvSpPr/>
          <p:nvPr/>
        </p:nvSpPr>
        <p:spPr>
          <a:xfrm>
            <a:off x="2953512" y="3461004"/>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One approved calculation pilot</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using governed dependencies.</a:t>
            </a:r>
            <a:endParaRPr lang="en-US" sz="1440" dirty="0"/>
          </a:p>
        </p:txBody>
      </p:sp>
      <p:sp>
        <p:nvSpPr>
          <p:cNvPr id="29" name="Text 27"/>
          <p:cNvSpPr/>
          <p:nvPr/>
        </p:nvSpPr>
        <p:spPr>
          <a:xfrm>
            <a:off x="7964424" y="3461004"/>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Reduces improvisation in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important business logic.</a:t>
            </a:r>
            <a:endParaRPr lang="en-US" sz="1440" dirty="0"/>
          </a:p>
        </p:txBody>
      </p:sp>
      <p:sp>
        <p:nvSpPr>
          <p:cNvPr id="30" name="Shape 28"/>
          <p:cNvSpPr/>
          <p:nvPr/>
        </p:nvSpPr>
        <p:spPr>
          <a:xfrm>
            <a:off x="594360" y="3927348"/>
            <a:ext cx="11000232" cy="0"/>
          </a:xfrm>
          <a:prstGeom prst="line">
            <a:avLst/>
          </a:prstGeom>
          <a:noFill/>
          <a:ln w="6985">
            <a:solidFill>
              <a:srgbClr val="D9E4DD"/>
            </a:solidFill>
            <a:prstDash val="solid"/>
          </a:ln>
        </p:spPr>
        <p:txBody>
          <a:bodyPr/>
          <a:p/>
        </p:txBody>
      </p:sp>
      <p:sp>
        <p:nvSpPr>
          <p:cNvPr id="31" name="Shape 29"/>
          <p:cNvSpPr/>
          <p:nvPr/>
        </p:nvSpPr>
        <p:spPr>
          <a:xfrm>
            <a:off x="594360" y="3927348"/>
            <a:ext cx="11000232" cy="516636"/>
          </a:xfrm>
          <a:prstGeom prst="rect">
            <a:avLst/>
          </a:prstGeom>
          <a:solidFill>
            <a:srgbClr val="FFFFFF"/>
          </a:solidFill>
          <a:ln w="12700">
            <a:solidFill>
              <a:srgbClr val="FFFFFF"/>
            </a:solidFill>
            <a:prstDash val="solid"/>
          </a:ln>
        </p:spPr>
        <p:txBody>
          <a:bodyPr/>
          <a:p/>
        </p:txBody>
      </p:sp>
      <p:sp>
        <p:nvSpPr>
          <p:cNvPr id="32" name="Text 30"/>
          <p:cNvSpPr/>
          <p:nvPr/>
        </p:nvSpPr>
        <p:spPr>
          <a:xfrm>
            <a:off x="740664" y="3977640"/>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Change protection</a:t>
            </a:r>
            <a:endParaRPr lang="en-US" sz="1500" dirty="0"/>
          </a:p>
        </p:txBody>
      </p:sp>
      <p:sp>
        <p:nvSpPr>
          <p:cNvPr id="33" name="Text 31"/>
          <p:cNvSpPr/>
          <p:nvPr/>
        </p:nvSpPr>
        <p:spPr>
          <a:xfrm>
            <a:off x="2953512" y="3977640"/>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Checks for missing or materially</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changed required field evidence.</a:t>
            </a:r>
            <a:endParaRPr lang="en-US" sz="1440" dirty="0"/>
          </a:p>
        </p:txBody>
      </p:sp>
      <p:sp>
        <p:nvSpPr>
          <p:cNvPr id="34" name="Text 32"/>
          <p:cNvSpPr/>
          <p:nvPr/>
        </p:nvSpPr>
        <p:spPr>
          <a:xfrm>
            <a:off x="7964424" y="3977640"/>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Stops affected answers rather</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than silently using invalid inputs.</a:t>
            </a:r>
            <a:endParaRPr lang="en-US" sz="1440" dirty="0"/>
          </a:p>
        </p:txBody>
      </p:sp>
      <p:sp>
        <p:nvSpPr>
          <p:cNvPr id="35" name="Shape 33"/>
          <p:cNvSpPr/>
          <p:nvPr/>
        </p:nvSpPr>
        <p:spPr>
          <a:xfrm>
            <a:off x="594360" y="4443984"/>
            <a:ext cx="11000232" cy="0"/>
          </a:xfrm>
          <a:prstGeom prst="line">
            <a:avLst/>
          </a:prstGeom>
          <a:noFill/>
          <a:ln w="6985">
            <a:solidFill>
              <a:srgbClr val="D9E4DD"/>
            </a:solidFill>
            <a:prstDash val="solid"/>
          </a:ln>
        </p:spPr>
        <p:txBody>
          <a:bodyPr/>
          <a:p/>
        </p:txBody>
      </p:sp>
      <p:sp>
        <p:nvSpPr>
          <p:cNvPr id="36" name="Shape 34"/>
          <p:cNvSpPr/>
          <p:nvPr/>
        </p:nvSpPr>
        <p:spPr>
          <a:xfrm>
            <a:off x="594360" y="4443984"/>
            <a:ext cx="11000232" cy="516636"/>
          </a:xfrm>
          <a:prstGeom prst="rect">
            <a:avLst/>
          </a:prstGeom>
          <a:solidFill>
            <a:srgbClr val="F4F8F5"/>
          </a:solidFill>
          <a:ln w="12700">
            <a:solidFill>
              <a:srgbClr val="F4F8F5"/>
            </a:solidFill>
            <a:prstDash val="solid"/>
          </a:ln>
        </p:spPr>
        <p:txBody>
          <a:bodyPr/>
          <a:p/>
        </p:txBody>
      </p:sp>
      <p:sp>
        <p:nvSpPr>
          <p:cNvPr id="37" name="Text 35"/>
          <p:cNvSpPr/>
          <p:nvPr/>
        </p:nvSpPr>
        <p:spPr>
          <a:xfrm>
            <a:off x="740664" y="4494276"/>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Platform flexibility</a:t>
            </a:r>
            <a:endParaRPr lang="en-US" sz="1500" dirty="0"/>
          </a:p>
        </p:txBody>
      </p:sp>
      <p:sp>
        <p:nvSpPr>
          <p:cNvPr id="38" name="Text 36"/>
          <p:cNvSpPr/>
          <p:nvPr/>
        </p:nvSpPr>
        <p:spPr>
          <a:xfrm>
            <a:off x="2953512" y="4494276"/>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 source-adapter boundary around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the current SQL execution path.</a:t>
            </a:r>
            <a:endParaRPr lang="en-US" sz="1440" dirty="0"/>
          </a:p>
        </p:txBody>
      </p:sp>
      <p:sp>
        <p:nvSpPr>
          <p:cNvPr id="39" name="Text 37"/>
          <p:cNvSpPr/>
          <p:nvPr/>
        </p:nvSpPr>
        <p:spPr>
          <a:xfrm>
            <a:off x="7964424" y="4494276"/>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Preserves the core when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approved sources are added.</a:t>
            </a:r>
            <a:endParaRPr lang="en-US" sz="1440" dirty="0"/>
          </a:p>
        </p:txBody>
      </p:sp>
      <p:sp>
        <p:nvSpPr>
          <p:cNvPr id="40" name="Shape 38"/>
          <p:cNvSpPr/>
          <p:nvPr/>
        </p:nvSpPr>
        <p:spPr>
          <a:xfrm>
            <a:off x="594360" y="4960620"/>
            <a:ext cx="11000232" cy="0"/>
          </a:xfrm>
          <a:prstGeom prst="line">
            <a:avLst/>
          </a:prstGeom>
          <a:noFill/>
          <a:ln w="6985">
            <a:solidFill>
              <a:srgbClr val="D9E4DD"/>
            </a:solidFill>
            <a:prstDash val="solid"/>
          </a:ln>
        </p:spPr>
        <p:txBody>
          <a:bodyPr/>
          <a:p/>
        </p:txBody>
      </p:sp>
      <p:sp>
        <p:nvSpPr>
          <p:cNvPr id="41" name="Text 39"/>
          <p:cNvSpPr/>
          <p:nvPr/>
        </p:nvSpPr>
        <p:spPr>
          <a:xfrm>
            <a:off x="731520"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2" name="Text 40"/>
          <p:cNvSpPr/>
          <p:nvPr/>
        </p:nvSpPr>
        <p:spPr>
          <a:xfrm>
            <a:off x="1636776"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governed pilot dataset</a:t>
            </a:r>
            <a:endParaRPr lang="en-US" sz="1380" dirty="0"/>
          </a:p>
        </p:txBody>
      </p:sp>
      <p:sp>
        <p:nvSpPr>
          <p:cNvPr id="43" name="Text 41"/>
          <p:cNvSpPr/>
          <p:nvPr/>
        </p:nvSpPr>
        <p:spPr>
          <a:xfrm>
            <a:off x="4443984"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4" name="Text 42"/>
          <p:cNvSpPr/>
          <p:nvPr/>
        </p:nvSpPr>
        <p:spPr>
          <a:xfrm>
            <a:off x="5349240"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approved calculation</a:t>
            </a:r>
            <a:endParaRPr lang="en-US" sz="1380" dirty="0"/>
          </a:p>
        </p:txBody>
      </p:sp>
      <p:sp>
        <p:nvSpPr>
          <p:cNvPr id="45" name="Text 43"/>
          <p:cNvSpPr/>
          <p:nvPr/>
        </p:nvSpPr>
        <p:spPr>
          <a:xfrm>
            <a:off x="8156448"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199</a:t>
            </a:r>
            <a:endParaRPr lang="en-US" sz="3000" dirty="0"/>
          </a:p>
        </p:txBody>
      </p:sp>
      <p:sp>
        <p:nvSpPr>
          <p:cNvPr id="46" name="Text 44"/>
          <p:cNvSpPr/>
          <p:nvPr/>
        </p:nvSpPr>
        <p:spPr>
          <a:xfrm>
            <a:off x="9061704"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evidenced field definitions</a:t>
            </a:r>
            <a:endParaRPr lang="en-US" sz="1380" dirty="0"/>
          </a:p>
        </p:txBody>
      </p:sp>
      <p:sp>
        <p:nvSpPr>
          <p:cNvPr id="47" name="Shape 45"/>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8" name="Shape 46"/>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9" name="Text 47"/>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SCOPE MATTERS</a:t>
            </a:r>
            <a:endParaRPr lang="en-US" sz="950" dirty="0"/>
          </a:p>
        </p:txBody>
      </p:sp>
      <p:sp>
        <p:nvSpPr>
          <p:cNvPr id="50" name="Text 48"/>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These are accepted pilot capabilities—not a claim of enterprise production rollout.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CURRENT DELIVERY FOCUS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Make governed answers operationally manageable.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Extend the accepted foundation without restarting completed work.</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S4</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04</a:t>
            </a:r>
            <a:endParaRPr lang="en-US" sz="1050" dirty="0"/>
          </a:p>
        </p:txBody>
      </p:sp>
      <p:sp>
        <p:nvSpPr>
          <p:cNvPr id="12" name="Shape 10"/>
          <p:cNvSpPr/>
          <p:nvPr/>
        </p:nvSpPr>
        <p:spPr>
          <a:xfrm>
            <a:off x="594360" y="2039112"/>
            <a:ext cx="11000232" cy="576072"/>
          </a:xfrm>
          <a:prstGeom prst="rect">
            <a:avLst/>
          </a:prstGeom>
          <a:solidFill>
            <a:srgbClr val="FBF2E5"/>
          </a:solidFill>
          <a:ln w="7620">
            <a:solidFill>
              <a:srgbClr val="EBD6B4"/>
            </a:solidFill>
            <a:prstDash val="solid"/>
          </a:ln>
        </p:spPr>
        <p:txBody>
          <a:bodyPr/>
          <a:p/>
        </p:txBody>
      </p:sp>
      <p:sp>
        <p:nvSpPr>
          <p:cNvPr id="13" name="Text 11"/>
          <p:cNvSpPr/>
          <p:nvPr/>
        </p:nvSpPr>
        <p:spPr>
          <a:xfrm>
            <a:off x="777240" y="2139696"/>
            <a:ext cx="2999232" cy="228600"/>
          </a:xfrm>
          <a:prstGeom prst="rect">
            <a:avLst/>
          </a:prstGeom>
          <a:noFill/>
          <a:ln/>
        </p:spPr>
        <p:txBody>
          <a:bodyPr wrap="square" lIns="0" tIns="0" rIns="0" bIns="0" rtlCol="0" anchor="ctr"/>
          <a:lstStyle/>
          <a:p>
            <a:pPr indent="0" marL="0">
              <a:buNone/>
            </a:pPr>
            <a:r>
              <a:rPr lang="en-US" sz="1080" b="1" dirty="0">
                <a:solidFill>
                  <a:srgbClr val="B87722"/>
                </a:solidFill>
                <a:latin typeface="Arial" pitchFamily="34" charset="0"/>
                <a:ea typeface="Arial" pitchFamily="34" charset="-122"/>
                <a:cs typeface="Arial" pitchFamily="34" charset="-120"/>
              </a:rPr>
              <a:t>LIFECYCLE CLASSIFICATION</a:t>
            </a:r>
            <a:endParaRPr lang="en-US" sz="1080" dirty="0"/>
          </a:p>
        </p:txBody>
      </p:sp>
      <p:sp>
        <p:nvSpPr>
          <p:cNvPr id="14" name="Text 12"/>
          <p:cNvSpPr/>
          <p:nvPr/>
        </p:nvSpPr>
        <p:spPr>
          <a:xfrm>
            <a:off x="3776472" y="2103120"/>
            <a:ext cx="7589520" cy="384048"/>
          </a:xfrm>
          <a:prstGeom prst="rect">
            <a:avLst/>
          </a:prstGeom>
          <a:noFill/>
          <a:ln/>
        </p:spPr>
        <p:txBody>
          <a:bodyPr wrap="square" lIns="0" tIns="0" rIns="0" bIns="0" rtlCol="0" anchor="ctr"/>
          <a:lstStyle/>
          <a:p>
            <a:pPr indent="0" marL="0">
              <a:buNone/>
            </a:pPr>
            <a:r>
              <a:rPr lang="en-US" sz="1360" dirty="0">
                <a:solidFill>
                  <a:srgbClr val="182425"/>
                </a:solidFill>
                <a:latin typeface="Arial" pitchFamily="34" charset="0"/>
                <a:ea typeface="Arial" pitchFamily="34" charset="-122"/>
                <a:cs typeface="Arial" pitchFamily="34" charset="-120"/>
              </a:rPr>
              <a:t>Implementation and independent-review evidence reported; final integration status to confirm.</a:t>
            </a:r>
            <a:endParaRPr lang="en-US" sz="1360" dirty="0"/>
          </a:p>
        </p:txBody>
      </p:sp>
      <p:sp>
        <p:nvSpPr>
          <p:cNvPr id="15" name="Shape 13"/>
          <p:cNvSpPr/>
          <p:nvPr/>
        </p:nvSpPr>
        <p:spPr>
          <a:xfrm>
            <a:off x="786384" y="2798064"/>
            <a:ext cx="2505456" cy="402336"/>
          </a:xfrm>
          <a:prstGeom prst="rect">
            <a:avLst/>
          </a:prstGeom>
          <a:solidFill>
            <a:srgbClr val="EAF4EE"/>
          </a:solidFill>
          <a:ln w="12700">
            <a:solidFill>
              <a:srgbClr val="EAF4EE"/>
            </a:solidFill>
            <a:prstDash val="solid"/>
          </a:ln>
        </p:spPr>
        <p:txBody>
          <a:bodyPr/>
          <a:p/>
        </p:txBody>
      </p:sp>
      <p:sp>
        <p:nvSpPr>
          <p:cNvPr id="16" name="Text 14"/>
          <p:cNvSpPr/>
          <p:nvPr/>
        </p:nvSpPr>
        <p:spPr>
          <a:xfrm>
            <a:off x="877824" y="2862072"/>
            <a:ext cx="2322576" cy="228600"/>
          </a:xfrm>
          <a:prstGeom prst="rect">
            <a:avLst/>
          </a:prstGeom>
          <a:noFill/>
          <a:ln/>
        </p:spPr>
        <p:txBody>
          <a:bodyPr wrap="square" lIns="0" tIns="0" rIns="0" bIns="0" rtlCol="0" anchor="ctr"/>
          <a:lstStyle/>
          <a:p>
            <a:pPr algn="ctr" indent="0" marL="0">
              <a:buNone/>
            </a:pPr>
            <a:r>
              <a:rPr lang="en-US" sz="1280" b="1" dirty="0">
                <a:solidFill>
                  <a:srgbClr val="005238"/>
                </a:solidFill>
                <a:latin typeface="Arial" pitchFamily="34" charset="0"/>
                <a:ea typeface="Arial" pitchFamily="34" charset="-122"/>
                <a:cs typeface="Arial" pitchFamily="34" charset="-120"/>
              </a:rPr>
              <a:t>VALID</a:t>
            </a:r>
            <a:endParaRPr lang="en-US" sz="1280" dirty="0"/>
          </a:p>
        </p:txBody>
      </p:sp>
      <p:sp>
        <p:nvSpPr>
          <p:cNvPr id="17" name="Shape 15"/>
          <p:cNvSpPr/>
          <p:nvPr/>
        </p:nvSpPr>
        <p:spPr>
          <a:xfrm>
            <a:off x="3557016" y="2798064"/>
            <a:ext cx="2505456" cy="402336"/>
          </a:xfrm>
          <a:prstGeom prst="rect">
            <a:avLst/>
          </a:prstGeom>
          <a:solidFill>
            <a:srgbClr val="FBF2E5"/>
          </a:solidFill>
          <a:ln w="12700">
            <a:solidFill>
              <a:srgbClr val="FBF2E5"/>
            </a:solidFill>
            <a:prstDash val="solid"/>
          </a:ln>
        </p:spPr>
        <p:txBody>
          <a:bodyPr/>
          <a:p/>
        </p:txBody>
      </p:sp>
      <p:sp>
        <p:nvSpPr>
          <p:cNvPr id="18" name="Text 16"/>
          <p:cNvSpPr/>
          <p:nvPr/>
        </p:nvSpPr>
        <p:spPr>
          <a:xfrm>
            <a:off x="3648456" y="2862072"/>
            <a:ext cx="2322576" cy="228600"/>
          </a:xfrm>
          <a:prstGeom prst="rect">
            <a:avLst/>
          </a:prstGeom>
          <a:noFill/>
          <a:ln/>
        </p:spPr>
        <p:txBody>
          <a:bodyPr wrap="square" lIns="0" tIns="0" rIns="0" bIns="0" rtlCol="0" anchor="ctr"/>
          <a:lstStyle/>
          <a:p>
            <a:pPr algn="ctr" indent="0" marL="0">
              <a:buNone/>
            </a:pPr>
            <a:r>
              <a:rPr lang="en-US" sz="1280" b="1" dirty="0">
                <a:solidFill>
                  <a:srgbClr val="B87722"/>
                </a:solidFill>
                <a:latin typeface="Arial" pitchFamily="34" charset="0"/>
                <a:ea typeface="Arial" pitchFamily="34" charset="-122"/>
                <a:cs typeface="Arial" pitchFamily="34" charset="-120"/>
              </a:rPr>
              <a:t>NEEDS REVIEW</a:t>
            </a:r>
            <a:endParaRPr lang="en-US" sz="1280" dirty="0"/>
          </a:p>
        </p:txBody>
      </p:sp>
      <p:sp>
        <p:nvSpPr>
          <p:cNvPr id="19" name="Shape 17"/>
          <p:cNvSpPr/>
          <p:nvPr/>
        </p:nvSpPr>
        <p:spPr>
          <a:xfrm>
            <a:off x="6327648" y="2798064"/>
            <a:ext cx="2505456" cy="402336"/>
          </a:xfrm>
          <a:prstGeom prst="rect">
            <a:avLst/>
          </a:prstGeom>
          <a:solidFill>
            <a:srgbClr val="FBECE7"/>
          </a:solidFill>
          <a:ln w="12700">
            <a:solidFill>
              <a:srgbClr val="FBECE7"/>
            </a:solidFill>
            <a:prstDash val="solid"/>
          </a:ln>
        </p:spPr>
        <p:txBody>
          <a:bodyPr/>
          <a:p/>
        </p:txBody>
      </p:sp>
      <p:sp>
        <p:nvSpPr>
          <p:cNvPr id="20" name="Text 18"/>
          <p:cNvSpPr/>
          <p:nvPr/>
        </p:nvSpPr>
        <p:spPr>
          <a:xfrm>
            <a:off x="6419088" y="2862072"/>
            <a:ext cx="2322576" cy="228600"/>
          </a:xfrm>
          <a:prstGeom prst="rect">
            <a:avLst/>
          </a:prstGeom>
          <a:noFill/>
          <a:ln/>
        </p:spPr>
        <p:txBody>
          <a:bodyPr wrap="square" lIns="0" tIns="0" rIns="0" bIns="0" rtlCol="0" anchor="ctr"/>
          <a:lstStyle/>
          <a:p>
            <a:pPr algn="ctr" indent="0" marL="0">
              <a:buNone/>
            </a:pPr>
            <a:r>
              <a:rPr lang="en-US" sz="1280" b="1" dirty="0">
                <a:solidFill>
                  <a:srgbClr val="9A3F24"/>
                </a:solidFill>
                <a:latin typeface="Arial" pitchFamily="34" charset="0"/>
                <a:ea typeface="Arial" pitchFamily="34" charset="-122"/>
                <a:cs typeface="Arial" pitchFamily="34" charset="-120"/>
              </a:rPr>
              <a:t>BROKEN</a:t>
            </a:r>
            <a:endParaRPr lang="en-US" sz="1280" dirty="0"/>
          </a:p>
        </p:txBody>
      </p:sp>
      <p:sp>
        <p:nvSpPr>
          <p:cNvPr id="21" name="Shape 19"/>
          <p:cNvSpPr/>
          <p:nvPr/>
        </p:nvSpPr>
        <p:spPr>
          <a:xfrm>
            <a:off x="9098280" y="2798064"/>
            <a:ext cx="2505456" cy="402336"/>
          </a:xfrm>
          <a:prstGeom prst="rect">
            <a:avLst/>
          </a:prstGeom>
          <a:solidFill>
            <a:srgbClr val="F4F6F5"/>
          </a:solidFill>
          <a:ln w="12700">
            <a:solidFill>
              <a:srgbClr val="F4F6F5"/>
            </a:solidFill>
            <a:prstDash val="solid"/>
          </a:ln>
        </p:spPr>
        <p:txBody>
          <a:bodyPr/>
          <a:p/>
        </p:txBody>
      </p:sp>
      <p:sp>
        <p:nvSpPr>
          <p:cNvPr id="22" name="Text 20"/>
          <p:cNvSpPr/>
          <p:nvPr/>
        </p:nvSpPr>
        <p:spPr>
          <a:xfrm>
            <a:off x="9189720" y="2862072"/>
            <a:ext cx="2322576" cy="228600"/>
          </a:xfrm>
          <a:prstGeom prst="rect">
            <a:avLst/>
          </a:prstGeom>
          <a:noFill/>
          <a:ln/>
        </p:spPr>
        <p:txBody>
          <a:bodyPr wrap="square" lIns="0" tIns="0" rIns="0" bIns="0" rtlCol="0" anchor="ctr"/>
          <a:lstStyle/>
          <a:p>
            <a:pPr algn="ctr" indent="0" marL="0">
              <a:buNone/>
            </a:pPr>
            <a:r>
              <a:rPr lang="en-US" sz="1280" b="1" dirty="0">
                <a:solidFill>
                  <a:srgbClr val="52635E"/>
                </a:solidFill>
                <a:latin typeface="Arial" pitchFamily="34" charset="0"/>
                <a:ea typeface="Arial" pitchFamily="34" charset="-122"/>
                <a:cs typeface="Arial" pitchFamily="34" charset="-120"/>
              </a:rPr>
              <a:t>NOT APPROVED</a:t>
            </a:r>
            <a:endParaRPr lang="en-US" sz="1280" dirty="0"/>
          </a:p>
        </p:txBody>
      </p:sp>
      <p:sp>
        <p:nvSpPr>
          <p:cNvPr id="23" name="Shape 21"/>
          <p:cNvSpPr/>
          <p:nvPr/>
        </p:nvSpPr>
        <p:spPr>
          <a:xfrm>
            <a:off x="594360" y="3493008"/>
            <a:ext cx="3520440" cy="2084832"/>
          </a:xfrm>
          <a:prstGeom prst="rect">
            <a:avLst/>
          </a:prstGeom>
          <a:solidFill>
            <a:srgbClr val="F4F8F5"/>
          </a:solidFill>
          <a:ln w="8890">
            <a:solidFill>
              <a:srgbClr val="D9E4DD"/>
            </a:solidFill>
            <a:prstDash val="solid"/>
          </a:ln>
        </p:spPr>
        <p:txBody>
          <a:bodyPr/>
          <a:p/>
        </p:txBody>
      </p:sp>
      <p:sp>
        <p:nvSpPr>
          <p:cNvPr id="24" name="Text 22"/>
          <p:cNvSpPr/>
          <p:nvPr/>
        </p:nvSpPr>
        <p:spPr>
          <a:xfrm>
            <a:off x="804672"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01</a:t>
            </a:r>
            <a:endParaRPr lang="en-US" sz="2500" dirty="0"/>
          </a:p>
        </p:txBody>
      </p:sp>
      <p:sp>
        <p:nvSpPr>
          <p:cNvPr id="25" name="Text 23"/>
          <p:cNvSpPr/>
          <p:nvPr/>
        </p:nvSpPr>
        <p:spPr>
          <a:xfrm>
            <a:off x="804672"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Approval &amp; renewal</a:t>
            </a:r>
            <a:endParaRPr lang="en-US" sz="2000" dirty="0"/>
          </a:p>
        </p:txBody>
      </p:sp>
      <p:sp>
        <p:nvSpPr>
          <p:cNvPr id="26" name="Text 24"/>
          <p:cNvSpPr/>
          <p:nvPr/>
        </p:nvSpPr>
        <p:spPr>
          <a:xfrm>
            <a:off x="804672"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Name accountable approvers.</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Define renewal and change rules.</a:t>
            </a:r>
            <a:endParaRPr lang="en-US" sz="1600" dirty="0"/>
          </a:p>
        </p:txBody>
      </p:sp>
      <p:sp>
        <p:nvSpPr>
          <p:cNvPr id="27" name="Shape 25"/>
          <p:cNvSpPr/>
          <p:nvPr/>
        </p:nvSpPr>
        <p:spPr>
          <a:xfrm>
            <a:off x="4334256" y="3493008"/>
            <a:ext cx="3520440" cy="2084832"/>
          </a:xfrm>
          <a:prstGeom prst="rect">
            <a:avLst/>
          </a:prstGeom>
          <a:solidFill>
            <a:srgbClr val="F4F8F5"/>
          </a:solidFill>
          <a:ln w="8890">
            <a:solidFill>
              <a:srgbClr val="D9E4DD"/>
            </a:solidFill>
            <a:prstDash val="solid"/>
          </a:ln>
        </p:spPr>
        <p:txBody>
          <a:bodyPr/>
          <a:p/>
        </p:txBody>
      </p:sp>
      <p:sp>
        <p:nvSpPr>
          <p:cNvPr id="28" name="Text 26"/>
          <p:cNvSpPr/>
          <p:nvPr/>
        </p:nvSpPr>
        <p:spPr>
          <a:xfrm>
            <a:off x="4544568"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02</a:t>
            </a:r>
            <a:endParaRPr lang="en-US" sz="2500" dirty="0"/>
          </a:p>
        </p:txBody>
      </p:sp>
      <p:sp>
        <p:nvSpPr>
          <p:cNvPr id="29" name="Text 27"/>
          <p:cNvSpPr/>
          <p:nvPr/>
        </p:nvSpPr>
        <p:spPr>
          <a:xfrm>
            <a:off x="4544568"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Certified meaning</a:t>
            </a:r>
            <a:endParaRPr lang="en-US" sz="2000" dirty="0"/>
          </a:p>
        </p:txBody>
      </p:sp>
      <p:sp>
        <p:nvSpPr>
          <p:cNvPr id="30" name="Text 28"/>
          <p:cNvSpPr/>
          <p:nvPr/>
        </p:nvSpPr>
        <p:spPr>
          <a:xfrm>
            <a:off x="4544568" y="4645152"/>
            <a:ext cx="3081528" cy="603504"/>
          </a:xfrm>
          <a:prstGeom prst="rect">
            <a:avLst/>
          </a:prstGeom>
          <a:noFill/>
          <a:ln/>
        </p:spPr>
        <p:txBody>
          <a:bodyPr wrap="square" lIns="0" tIns="0" rIns="0" bIns="0" rtlCol="0" anchor="t"/>
          <a:lstStyle/>
          <a:p>
            <a:pPr indent="0" marL="0">
              <a:buNone/>
            </a:pPr>
            <a:r>
              <a:rPr lang="en-US" sz="1550" dirty="0">
                <a:solidFill>
                  <a:srgbClr val="52635E"/>
                </a:solidFill>
                <a:latin typeface="Arial" pitchFamily="34" charset="0"/>
                <a:ea typeface="Arial" pitchFamily="34" charset="-122"/>
                <a:cs typeface="Arial" pitchFamily="34" charset="-120"/>
              </a:rPr>
              <a:t>Agree metric ownership and</a:t>
            </a:r>
            <a:endParaRPr lang="en-US" sz="1600" dirty="0"/>
          </a:p>
          <a:p>
            <a:pPr indent="0" marL="0">
              <a:buNone/>
            </a:pPr>
            <a:r>
              <a:rPr lang="en-US" sz="1550" dirty="0">
                <a:solidFill>
                  <a:srgbClr val="52635E"/>
                </a:solidFill>
                <a:latin typeface="Arial" pitchFamily="34" charset="0"/>
                <a:ea typeface="Arial" pitchFamily="34" charset="-122"/>
                <a:cs typeface="Arial" pitchFamily="34" charset="-120"/>
              </a:rPr>
              <a:t>Collibra metadata boundaries.</a:t>
            </a:r>
          </a:p>
        </p:txBody>
      </p:sp>
      <p:sp>
        <p:nvSpPr>
          <p:cNvPr id="31" name="Shape 29"/>
          <p:cNvSpPr/>
          <p:nvPr/>
        </p:nvSpPr>
        <p:spPr>
          <a:xfrm>
            <a:off x="8074152" y="3493008"/>
            <a:ext cx="3520440" cy="2084832"/>
          </a:xfrm>
          <a:prstGeom prst="rect">
            <a:avLst/>
          </a:prstGeom>
          <a:solidFill>
            <a:srgbClr val="F4F8F5"/>
          </a:solidFill>
          <a:ln w="8890">
            <a:solidFill>
              <a:srgbClr val="D9E4DD"/>
            </a:solidFill>
            <a:prstDash val="solid"/>
          </a:ln>
        </p:spPr>
        <p:txBody>
          <a:bodyPr/>
          <a:p/>
        </p:txBody>
      </p:sp>
      <p:sp>
        <p:nvSpPr>
          <p:cNvPr id="32" name="Text 30"/>
          <p:cNvSpPr/>
          <p:nvPr/>
        </p:nvSpPr>
        <p:spPr>
          <a:xfrm>
            <a:off x="8284464"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03</a:t>
            </a:r>
            <a:endParaRPr lang="en-US" sz="2500" dirty="0"/>
          </a:p>
        </p:txBody>
      </p:sp>
      <p:sp>
        <p:nvSpPr>
          <p:cNvPr id="33" name="Text 31"/>
          <p:cNvSpPr/>
          <p:nvPr/>
        </p:nvSpPr>
        <p:spPr>
          <a:xfrm>
            <a:off x="8284464"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Consistent outputs</a:t>
            </a:r>
            <a:endParaRPr lang="en-US" sz="2000" dirty="0"/>
          </a:p>
        </p:txBody>
      </p:sp>
      <p:sp>
        <p:nvSpPr>
          <p:cNvPr id="34" name="Text 32"/>
          <p:cNvSpPr/>
          <p:nvPr/>
        </p:nvSpPr>
        <p:spPr>
          <a:xfrm>
            <a:off x="8284464"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Use versioned templates and</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fixed formatting rules.</a:t>
            </a:r>
            <a:endParaRPr lang="en-US" sz="1600" dirty="0"/>
          </a:p>
        </p:txBody>
      </p:sp>
      <p:sp>
        <p:nvSpPr>
          <p:cNvPr id="35" name="Shape 33"/>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6" name="Shape 34"/>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7" name="Text 35"/>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DESIGN RULE</a:t>
            </a:r>
            <a:endParaRPr lang="en-US" sz="950" dirty="0"/>
          </a:p>
        </p:txBody>
      </p:sp>
      <p:sp>
        <p:nvSpPr>
          <p:cNvPr id="38" name="Text 36"/>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Templates reference approved definitions; presentation must not change business meaning.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ROADMAP AT A GLANCE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milestones, with enterprise integration made explicit.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MVP 2 expands beyond efficiency; discovery can start alongside the trust milestone.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 proposed sequencing</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05</a:t>
            </a:r>
            <a:endParaRPr lang="en-US" sz="1050" dirty="0"/>
          </a:p>
        </p:txBody>
      </p:sp>
      <p:cxnSp>
        <p:nvCxnSpPr>
          <p:cNvPr id="12" name="Connector 11"/>
          <p:cNvCxnSpPr/>
          <p:nvPr/>
        </p:nvCxnSpPr>
        <p:spPr>
          <a:xfrm>
            <a:off x="914400" y="2523744"/>
            <a:ext cx="10131552" cy="0"/>
          </a:xfrm>
          <a:prstGeom prst="line">
            <a:avLst/>
          </a:prstGeom>
          <a:ln w="19050">
            <a:solidFill>
              <a:srgbClr val="D9E4D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2039112"/>
            <a:ext cx="21945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NOW · IN DELIVERY</a:t>
            </a:r>
          </a:p>
        </p:txBody>
      </p:sp>
      <p:sp>
        <p:nvSpPr>
          <p:cNvPr id="15" name="Oval 14"/>
          <p:cNvSpPr/>
          <p:nvPr/>
        </p:nvSpPr>
        <p:spPr>
          <a:xfrm>
            <a:off x="832104" y="2432304"/>
            <a:ext cx="173736" cy="173736"/>
          </a:xfrm>
          <a:prstGeom prst="ellipse">
            <a:avLst/>
          </a:prstGeom>
          <a:solidFill>
            <a:srgbClr val="B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1</a:t>
            </a:r>
          </a:p>
        </p:txBody>
      </p:sp>
      <p:sp>
        <p:nvSpPr>
          <p:cNvPr id="17" name="TextBox 16"/>
          <p:cNvSpPr txBox="1"/>
          <p:nvPr/>
        </p:nvSpPr>
        <p:spPr>
          <a:xfrm>
            <a:off x="594360"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Foundation</a:t>
            </a:r>
          </a:p>
          <a:p>
            <a:pPr algn="l">
              <a:lnSpc>
                <a:spcPct val="108000"/>
              </a:lnSpc>
              <a:spcBef>
                <a:spcPts val="0"/>
              </a:spcBef>
              <a:spcAft>
                <a:spcPts val="0"/>
              </a:spcAft>
            </a:pPr>
            <a:r>
              <a:rPr sz="2550" b="1">
                <a:solidFill>
                  <a:srgbClr val="182425"/>
                </a:solidFill>
                <a:latin typeface="Arial"/>
              </a:rPr>
              <a:t>&amp; Trust</a:t>
            </a:r>
          </a:p>
        </p:txBody>
      </p:sp>
      <p:sp>
        <p:nvSpPr>
          <p:cNvPr id="18" name="Rectangle 17"/>
          <p:cNvSpPr/>
          <p:nvPr/>
        </p:nvSpPr>
        <p:spPr>
          <a:xfrm>
            <a:off x="594360"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approvals and outputs</a:t>
            </a:r>
          </a:p>
        </p:txBody>
      </p:sp>
      <p:sp>
        <p:nvSpPr>
          <p:cNvPr id="20" name="Rectangle 19"/>
          <p:cNvSpPr/>
          <p:nvPr/>
        </p:nvSpPr>
        <p:spPr>
          <a:xfrm>
            <a:off x="594360"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Qualified core business pilot</a:t>
            </a:r>
          </a:p>
        </p:txBody>
      </p:sp>
      <p:sp>
        <p:nvSpPr>
          <p:cNvPr id="22" name="Rectangle 21"/>
          <p:cNvSpPr/>
          <p:nvPr/>
        </p:nvSpPr>
        <p:spPr>
          <a:xfrm>
            <a:off x="594360"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Integration discovery in parallel</a:t>
            </a:r>
          </a:p>
        </p:txBody>
      </p:sp>
      <p:cxnSp>
        <p:nvCxnSpPr>
          <p:cNvPr id="24" name="Connector 23"/>
          <p:cNvCxnSpPr/>
          <p:nvPr/>
        </p:nvCxnSpPr>
        <p:spPr>
          <a:xfrm>
            <a:off x="594360"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26" name="TextBox 25"/>
          <p:cNvSpPr txBox="1"/>
          <p:nvPr/>
        </p:nvSpPr>
        <p:spPr>
          <a:xfrm>
            <a:off x="1527048"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Pilot and controls accepted</a:t>
            </a:r>
          </a:p>
        </p:txBody>
      </p:sp>
      <p:sp>
        <p:nvSpPr>
          <p:cNvPr id="27" name="Rounded Rectangle 26"/>
          <p:cNvSpPr/>
          <p:nvPr/>
        </p:nvSpPr>
        <p:spPr>
          <a:xfrm>
            <a:off x="4334256"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NEXT · PLANNED</a:t>
            </a:r>
          </a:p>
        </p:txBody>
      </p:sp>
      <p:sp>
        <p:nvSpPr>
          <p:cNvPr id="29" name="Oval 28"/>
          <p:cNvSpPr/>
          <p:nvPr/>
        </p:nvSpPr>
        <p:spPr>
          <a:xfrm>
            <a:off x="4572000"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34256"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2</a:t>
            </a:r>
          </a:p>
        </p:txBody>
      </p:sp>
      <p:sp>
        <p:nvSpPr>
          <p:cNvPr id="31" name="TextBox 30"/>
          <p:cNvSpPr txBox="1"/>
          <p:nvPr/>
        </p:nvSpPr>
        <p:spPr>
          <a:xfrm>
            <a:off x="4334256"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Enterprise Integration</a:t>
            </a:r>
          </a:p>
          <a:p>
            <a:pPr algn="l">
              <a:lnSpc>
                <a:spcPct val="108000"/>
              </a:lnSpc>
              <a:spcBef>
                <a:spcPts val="0"/>
              </a:spcBef>
              <a:spcAft>
                <a:spcPts val="0"/>
              </a:spcAft>
            </a:pPr>
            <a:r>
              <a:rPr sz="2550" b="1">
                <a:solidFill>
                  <a:srgbClr val="182425"/>
                </a:solidFill>
                <a:latin typeface="Arial"/>
              </a:rPr>
              <a:t>&amp; Efficiency</a:t>
            </a:r>
          </a:p>
        </p:txBody>
      </p:sp>
      <p:sp>
        <p:nvSpPr>
          <p:cNvPr id="32" name="Rectangle 31"/>
          <p:cNvSpPr/>
          <p:nvPr/>
        </p:nvSpPr>
        <p:spPr>
          <a:xfrm>
            <a:off x="4334256"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First approved on-premises source</a:t>
            </a:r>
          </a:p>
        </p:txBody>
      </p:sp>
      <p:sp>
        <p:nvSpPr>
          <p:cNvPr id="34" name="Rectangle 33"/>
          <p:cNvSpPr/>
          <p:nvPr/>
        </p:nvSpPr>
        <p:spPr>
          <a:xfrm>
            <a:off x="4334256"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60"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Collibra intake; Genie if qualified</a:t>
            </a:r>
          </a:p>
        </p:txBody>
      </p:sp>
      <p:sp>
        <p:nvSpPr>
          <p:cNvPr id="36" name="Rectangle 35"/>
          <p:cNvSpPr/>
          <p:nvPr/>
        </p:nvSpPr>
        <p:spPr>
          <a:xfrm>
            <a:off x="4334256"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Secure caching; measurable value</a:t>
            </a:r>
          </a:p>
        </p:txBody>
      </p:sp>
      <p:cxnSp>
        <p:nvCxnSpPr>
          <p:cNvPr id="38" name="Connector 37"/>
          <p:cNvCxnSpPr/>
          <p:nvPr/>
        </p:nvCxnSpPr>
        <p:spPr>
          <a:xfrm>
            <a:off x="4334256"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34256"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40" name="TextBox 39"/>
          <p:cNvSpPr txBox="1"/>
          <p:nvPr/>
        </p:nvSpPr>
        <p:spPr>
          <a:xfrm>
            <a:off x="5266944"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Integration and value gates passed</a:t>
            </a:r>
          </a:p>
        </p:txBody>
      </p:sp>
      <p:sp>
        <p:nvSpPr>
          <p:cNvPr id="41" name="Rounded Rectangle 40"/>
          <p:cNvSpPr/>
          <p:nvPr/>
        </p:nvSpPr>
        <p:spPr>
          <a:xfrm>
            <a:off x="8074152"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LATER · PLANNED</a:t>
            </a:r>
          </a:p>
        </p:txBody>
      </p:sp>
      <p:sp>
        <p:nvSpPr>
          <p:cNvPr id="43" name="Oval 42"/>
          <p:cNvSpPr/>
          <p:nvPr/>
        </p:nvSpPr>
        <p:spPr>
          <a:xfrm>
            <a:off x="8311896"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74152"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3</a:t>
            </a:r>
          </a:p>
        </p:txBody>
      </p:sp>
      <p:sp>
        <p:nvSpPr>
          <p:cNvPr id="45" name="TextBox 44"/>
          <p:cNvSpPr txBox="1"/>
          <p:nvPr/>
        </p:nvSpPr>
        <p:spPr>
          <a:xfrm>
            <a:off x="8074152"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Advanced</a:t>
            </a:r>
          </a:p>
          <a:p>
            <a:pPr algn="l">
              <a:lnSpc>
                <a:spcPct val="108000"/>
              </a:lnSpc>
              <a:spcBef>
                <a:spcPts val="0"/>
              </a:spcBef>
              <a:spcAft>
                <a:spcPts val="0"/>
              </a:spcAft>
            </a:pPr>
            <a:r>
              <a:rPr sz="2550" b="1">
                <a:solidFill>
                  <a:srgbClr val="182425"/>
                </a:solidFill>
                <a:latin typeface="Arial"/>
              </a:rPr>
              <a:t>Visualization</a:t>
            </a:r>
          </a:p>
        </p:txBody>
      </p:sp>
      <p:sp>
        <p:nvSpPr>
          <p:cNvPr id="46" name="Rectangle 45"/>
          <p:cNvSpPr/>
          <p:nvPr/>
        </p:nvSpPr>
        <p:spPr>
          <a:xfrm>
            <a:off x="8074152"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0456"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Decision-ready charts and drill-down</a:t>
            </a:r>
          </a:p>
        </p:txBody>
      </p:sp>
      <p:sp>
        <p:nvSpPr>
          <p:cNvPr id="48" name="Rectangle 47"/>
          <p:cNvSpPr/>
          <p:nvPr/>
        </p:nvSpPr>
        <p:spPr>
          <a:xfrm>
            <a:off x="8074152"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0456"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reports and exports</a:t>
            </a:r>
          </a:p>
        </p:txBody>
      </p:sp>
      <p:sp>
        <p:nvSpPr>
          <p:cNvPr id="50" name="Rectangle 49"/>
          <p:cNvSpPr/>
          <p:nvPr/>
        </p:nvSpPr>
        <p:spPr>
          <a:xfrm>
            <a:off x="8074152"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Adoption-led user experience</a:t>
            </a:r>
          </a:p>
        </p:txBody>
      </p:sp>
      <p:cxnSp>
        <p:nvCxnSpPr>
          <p:cNvPr id="52" name="Connector 51"/>
          <p:cNvCxnSpPr/>
          <p:nvPr/>
        </p:nvCxnSpPr>
        <p:spPr>
          <a:xfrm>
            <a:off x="8074152"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074152"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54" name="TextBox 53"/>
          <p:cNvSpPr txBox="1"/>
          <p:nvPr/>
        </p:nvSpPr>
        <p:spPr>
          <a:xfrm>
            <a:off x="9006840"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Safe sharing and adoption proven</a:t>
            </a:r>
          </a:p>
        </p:txBody>
      </p:sp>
      <p:sp>
        <p:nvSpPr>
          <p:cNvPr id="55" name="Rectangle 54"/>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AT EVERY MILESTONE</a:t>
            </a:r>
          </a:p>
        </p:txBody>
      </p:sp>
      <p:sp>
        <p:nvSpPr>
          <p:cNvPr id="58" name="TextBox 57"/>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Security  •  Data trust  •  Answer quality  •  Performance  •  Cost  •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NEXT DELIVERY SEQUENCE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Advance the core and integration discovery in parallel.</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next actions; agree scope, ownership and capacity before setting delivery dates.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06</a:t>
            </a:r>
            <a:endParaRPr lang="en-US" sz="1050" dirty="0"/>
          </a:p>
        </p:txBody>
      </p:sp>
      <p:sp>
        <p:nvSpPr>
          <p:cNvPr id="12" name="Shape 10"/>
          <p:cNvSpPr/>
          <p:nvPr/>
        </p:nvSpPr>
        <p:spPr>
          <a:xfrm>
            <a:off x="594360" y="2212848"/>
            <a:ext cx="2583180" cy="2706624"/>
          </a:xfrm>
          <a:prstGeom prst="rect">
            <a:avLst/>
          </a:prstGeom>
          <a:solidFill>
            <a:srgbClr val="F4F8F5"/>
          </a:solidFill>
          <a:ln w="9525">
            <a:solidFill>
              <a:srgbClr val="D9E4DD"/>
            </a:solidFill>
            <a:prstDash val="solid"/>
          </a:ln>
        </p:spPr>
        <p:txBody>
          <a:bodyPr/>
          <a:p/>
        </p:txBody>
      </p:sp>
      <p:sp>
        <p:nvSpPr>
          <p:cNvPr id="13" name="Shape 11"/>
          <p:cNvSpPr/>
          <p:nvPr/>
        </p:nvSpPr>
        <p:spPr>
          <a:xfrm>
            <a:off x="758952"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14" name="Text 12"/>
          <p:cNvSpPr/>
          <p:nvPr/>
        </p:nvSpPr>
        <p:spPr>
          <a:xfrm>
            <a:off x="832104"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1</a:t>
            </a:r>
            <a:endParaRPr lang="en-US" sz="940" dirty="0"/>
          </a:p>
        </p:txBody>
      </p:sp>
      <p:sp>
        <p:nvSpPr>
          <p:cNvPr id="15" name="Text 13"/>
          <p:cNvSpPr/>
          <p:nvPr/>
        </p:nvSpPr>
        <p:spPr>
          <a:xfrm>
            <a:off x="758952"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Confirm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baseline</a:t>
            </a:r>
            <a:endParaRPr lang="en-US" sz="2100" dirty="0"/>
          </a:p>
        </p:txBody>
      </p:sp>
      <p:sp>
        <p:nvSpPr>
          <p:cNvPr id="16" name="Text 14"/>
          <p:cNvSpPr/>
          <p:nvPr/>
        </p:nvSpPr>
        <p:spPr>
          <a:xfrm>
            <a:off x="758952"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Verify integration evidence and preserve accepted behavior.</a:t>
            </a:r>
            <a:endParaRPr lang="en-US" sz="1460" dirty="0"/>
          </a:p>
        </p:txBody>
      </p:sp>
      <p:sp>
        <p:nvSpPr>
          <p:cNvPr id="17" name="Text 15"/>
          <p:cNvSpPr/>
          <p:nvPr/>
        </p:nvSpPr>
        <p:spPr>
          <a:xfrm>
            <a:off x="758952"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a:t>
            </a:r>
            <a:endParaRPr lang="en-US" sz="860" dirty="0"/>
          </a:p>
        </p:txBody>
      </p:sp>
      <p:sp>
        <p:nvSpPr>
          <p:cNvPr id="18" name="Shape 16"/>
          <p:cNvSpPr/>
          <p:nvPr/>
        </p:nvSpPr>
        <p:spPr>
          <a:xfrm>
            <a:off x="3218688" y="3127248"/>
            <a:ext cx="146304" cy="256032"/>
          </a:xfrm>
          <a:prstGeom prst="chevron">
            <a:avLst/>
          </a:prstGeom>
          <a:solidFill>
            <a:srgbClr val="00843D"/>
          </a:solidFill>
          <a:ln w="12700">
            <a:solidFill>
              <a:srgbClr val="00843D"/>
            </a:solidFill>
            <a:prstDash val="solid"/>
          </a:ln>
        </p:spPr>
        <p:txBody>
          <a:bodyPr/>
          <a:p/>
        </p:txBody>
      </p:sp>
      <p:sp>
        <p:nvSpPr>
          <p:cNvPr id="19" name="Shape 17"/>
          <p:cNvSpPr/>
          <p:nvPr/>
        </p:nvSpPr>
        <p:spPr>
          <a:xfrm>
            <a:off x="3396996" y="2212848"/>
            <a:ext cx="2583180" cy="2706624"/>
          </a:xfrm>
          <a:prstGeom prst="rect">
            <a:avLst/>
          </a:prstGeom>
          <a:solidFill>
            <a:srgbClr val="F4F8F5"/>
          </a:solidFill>
          <a:ln w="9525">
            <a:solidFill>
              <a:srgbClr val="D9E4DD"/>
            </a:solidFill>
            <a:prstDash val="solid"/>
          </a:ln>
        </p:spPr>
        <p:txBody>
          <a:bodyPr/>
          <a:p/>
        </p:txBody>
      </p:sp>
      <p:sp>
        <p:nvSpPr>
          <p:cNvPr id="20" name="Shape 18"/>
          <p:cNvSpPr/>
          <p:nvPr/>
        </p:nvSpPr>
        <p:spPr>
          <a:xfrm>
            <a:off x="3561588"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1" name="Text 19"/>
          <p:cNvSpPr/>
          <p:nvPr/>
        </p:nvSpPr>
        <p:spPr>
          <a:xfrm>
            <a:off x="3634740"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2</a:t>
            </a:r>
            <a:endParaRPr lang="en-US" sz="940" dirty="0"/>
          </a:p>
        </p:txBody>
      </p:sp>
      <p:sp>
        <p:nvSpPr>
          <p:cNvPr id="22" name="Text 20"/>
          <p:cNvSpPr/>
          <p:nvPr/>
        </p:nvSpPr>
        <p:spPr>
          <a:xfrm>
            <a:off x="3561588" y="2843784"/>
            <a:ext cx="2249424" cy="749808"/>
          </a:xfrm>
          <a:prstGeom prst="rect">
            <a:avLst/>
          </a:prstGeom>
          <a:noFill/>
          <a:ln/>
        </p:spPr>
        <p:txBody>
          <a:bodyPr wrap="square" lIns="0" tIns="0" rIns="0" bIns="0" rtlCol="0" anchor="t"/>
          <a:lstStyle/>
          <a:p>
            <a:pPr indent="0" marL="0">
              <a:buNone/>
            </a:pPr>
            <a:r>
              <a:rPr lang="en-US" sz="1950" b="1" dirty="0">
                <a:solidFill>
                  <a:srgbClr val="182425"/>
                </a:solidFill>
                <a:latin typeface="Arial" pitchFamily="34" charset="0"/>
                <a:ea typeface="Arial" pitchFamily="34" charset="-122"/>
                <a:cs typeface="Arial" pitchFamily="34" charset="-120"/>
              </a:rPr>
              <a:t>Approve meaning</a:t>
            </a:r>
            <a:endParaRPr lang="en-US" sz="2100" dirty="0"/>
          </a:p>
          <a:p>
            <a:pPr indent="0" marL="0">
              <a:buNone/>
            </a:pPr>
            <a:r>
              <a:rPr lang="en-US" sz="1950" b="1" dirty="0">
                <a:solidFill>
                  <a:srgbClr val="182425"/>
                </a:solidFill>
                <a:latin typeface="Arial" pitchFamily="34" charset="0"/>
                <a:ea typeface="Arial" pitchFamily="34" charset="-122"/>
                <a:cs typeface="Arial" pitchFamily="34" charset="-120"/>
              </a:rPr>
              <a:t>and change policy</a:t>
            </a:r>
          </a:p>
        </p:txBody>
      </p:sp>
      <p:sp>
        <p:nvSpPr>
          <p:cNvPr id="23" name="Text 21"/>
          <p:cNvSpPr/>
          <p:nvPr/>
        </p:nvSpPr>
        <p:spPr>
          <a:xfrm>
            <a:off x="3561588"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Name semantic owners and define renewal and change rules.</a:t>
            </a:r>
            <a:endParaRPr lang="en-US" sz="1460" dirty="0"/>
          </a:p>
        </p:txBody>
      </p:sp>
      <p:sp>
        <p:nvSpPr>
          <p:cNvPr id="24" name="Text 22"/>
          <p:cNvSpPr/>
          <p:nvPr/>
        </p:nvSpPr>
        <p:spPr>
          <a:xfrm>
            <a:off x="3561588"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PRODUCT + GOVERNANCE</a:t>
            </a:r>
            <a:endParaRPr lang="en-US" sz="860" dirty="0"/>
          </a:p>
        </p:txBody>
      </p:sp>
      <p:sp>
        <p:nvSpPr>
          <p:cNvPr id="25" name="Shape 23"/>
          <p:cNvSpPr/>
          <p:nvPr/>
        </p:nvSpPr>
        <p:spPr>
          <a:xfrm>
            <a:off x="6021324" y="3127248"/>
            <a:ext cx="146304" cy="256032"/>
          </a:xfrm>
          <a:prstGeom prst="chevron">
            <a:avLst/>
          </a:prstGeom>
          <a:solidFill>
            <a:srgbClr val="00843D"/>
          </a:solidFill>
          <a:ln w="12700">
            <a:solidFill>
              <a:srgbClr val="00843D"/>
            </a:solidFill>
            <a:prstDash val="solid"/>
          </a:ln>
        </p:spPr>
        <p:txBody>
          <a:bodyPr/>
          <a:p/>
        </p:txBody>
      </p:sp>
      <p:sp>
        <p:nvSpPr>
          <p:cNvPr id="26" name="Shape 24"/>
          <p:cNvSpPr/>
          <p:nvPr/>
        </p:nvSpPr>
        <p:spPr>
          <a:xfrm>
            <a:off x="6199632" y="2212848"/>
            <a:ext cx="2583180" cy="2706624"/>
          </a:xfrm>
          <a:prstGeom prst="rect">
            <a:avLst/>
          </a:prstGeom>
          <a:solidFill>
            <a:srgbClr val="F4F8F5"/>
          </a:solidFill>
          <a:ln w="9525">
            <a:solidFill>
              <a:srgbClr val="D9E4DD"/>
            </a:solidFill>
            <a:prstDash val="solid"/>
          </a:ln>
        </p:spPr>
        <p:txBody>
          <a:bodyPr/>
          <a:p/>
        </p:txBody>
      </p:sp>
      <p:sp>
        <p:nvSpPr>
          <p:cNvPr id="27" name="Shape 25"/>
          <p:cNvSpPr/>
          <p:nvPr/>
        </p:nvSpPr>
        <p:spPr>
          <a:xfrm>
            <a:off x="6364224"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8" name="Text 26"/>
          <p:cNvSpPr/>
          <p:nvPr/>
        </p:nvSpPr>
        <p:spPr>
          <a:xfrm>
            <a:off x="6437376"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3</a:t>
            </a:r>
            <a:endParaRPr lang="en-US" sz="940" dirty="0"/>
          </a:p>
        </p:txBody>
      </p:sp>
      <p:sp>
        <p:nvSpPr>
          <p:cNvPr id="29" name="Text 27"/>
          <p:cNvSpPr/>
          <p:nvPr/>
        </p:nvSpPr>
        <p:spPr>
          <a:xfrm>
            <a:off x="6364224"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Deliver governed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outputs</a:t>
            </a:r>
            <a:endParaRPr lang="en-US" sz="2100" dirty="0"/>
          </a:p>
        </p:txBody>
      </p:sp>
      <p:sp>
        <p:nvSpPr>
          <p:cNvPr id="30" name="Text 28"/>
          <p:cNvSpPr/>
          <p:nvPr/>
        </p:nvSpPr>
        <p:spPr>
          <a:xfrm>
            <a:off x="6364224"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Use approved definitions and versioned templates.</a:t>
            </a:r>
            <a:endParaRPr lang="en-US" sz="1460" dirty="0"/>
          </a:p>
        </p:txBody>
      </p:sp>
      <p:sp>
        <p:nvSpPr>
          <p:cNvPr id="31" name="Text 29"/>
          <p:cNvSpPr/>
          <p:nvPr/>
        </p:nvSpPr>
        <p:spPr>
          <a:xfrm>
            <a:off x="6364224"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 + DATA OWNERS</a:t>
            </a:r>
            <a:endParaRPr lang="en-US" sz="860" dirty="0"/>
          </a:p>
        </p:txBody>
      </p:sp>
      <p:sp>
        <p:nvSpPr>
          <p:cNvPr id="32" name="Shape 30"/>
          <p:cNvSpPr/>
          <p:nvPr/>
        </p:nvSpPr>
        <p:spPr>
          <a:xfrm>
            <a:off x="8823960" y="3127248"/>
            <a:ext cx="146304" cy="256032"/>
          </a:xfrm>
          <a:prstGeom prst="chevron">
            <a:avLst/>
          </a:prstGeom>
          <a:solidFill>
            <a:srgbClr val="00843D"/>
          </a:solidFill>
          <a:ln w="12700">
            <a:solidFill>
              <a:srgbClr val="00843D"/>
            </a:solidFill>
            <a:prstDash val="solid"/>
          </a:ln>
        </p:spPr>
        <p:txBody>
          <a:bodyPr/>
          <a:p/>
        </p:txBody>
      </p:sp>
      <p:sp>
        <p:nvSpPr>
          <p:cNvPr id="33" name="Shape 31"/>
          <p:cNvSpPr/>
          <p:nvPr/>
        </p:nvSpPr>
        <p:spPr>
          <a:xfrm>
            <a:off x="9002268" y="2212848"/>
            <a:ext cx="2583180" cy="2706624"/>
          </a:xfrm>
          <a:prstGeom prst="rect">
            <a:avLst/>
          </a:prstGeom>
          <a:solidFill>
            <a:srgbClr val="F4F8F5"/>
          </a:solidFill>
          <a:ln w="9525">
            <a:solidFill>
              <a:srgbClr val="D9E4DD"/>
            </a:solidFill>
            <a:prstDash val="solid"/>
          </a:ln>
        </p:spPr>
        <p:txBody>
          <a:bodyPr/>
          <a:p/>
        </p:txBody>
      </p:sp>
      <p:sp>
        <p:nvSpPr>
          <p:cNvPr id="34" name="Shape 32"/>
          <p:cNvSpPr/>
          <p:nvPr/>
        </p:nvSpPr>
        <p:spPr>
          <a:xfrm>
            <a:off x="9166860"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35" name="Text 33"/>
          <p:cNvSpPr/>
          <p:nvPr/>
        </p:nvSpPr>
        <p:spPr>
          <a:xfrm>
            <a:off x="9240012"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4</a:t>
            </a:r>
            <a:endParaRPr lang="en-US" sz="940" dirty="0"/>
          </a:p>
        </p:txBody>
      </p:sp>
      <p:sp>
        <p:nvSpPr>
          <p:cNvPr id="36" name="Text 34"/>
          <p:cNvSpPr/>
          <p:nvPr/>
        </p:nvSpPr>
        <p:spPr>
          <a:xfrm>
            <a:off x="9166860"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Qualify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business pilot</a:t>
            </a:r>
            <a:endParaRPr lang="en-US" sz="2100" dirty="0"/>
          </a:p>
        </p:txBody>
      </p:sp>
      <p:sp>
        <p:nvSpPr>
          <p:cNvPr id="37" name="Text 35"/>
          <p:cNvSpPr/>
          <p:nvPr/>
        </p:nvSpPr>
        <p:spPr>
          <a:xfrm>
            <a:off x="9166860"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Test answer quality, access and operating readiness.</a:t>
            </a:r>
            <a:endParaRPr lang="en-US" sz="1460" dirty="0"/>
          </a:p>
        </p:txBody>
      </p:sp>
      <p:sp>
        <p:nvSpPr>
          <p:cNvPr id="38" name="Text 36"/>
          <p:cNvSpPr/>
          <p:nvPr/>
        </p:nvSpPr>
        <p:spPr>
          <a:xfrm>
            <a:off x="9166860"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BUSINESS + QA + OPERATIONS</a:t>
            </a:r>
            <a:endParaRPr lang="en-US" sz="860" dirty="0"/>
          </a:p>
        </p:txBody>
      </p:sp>
      <p:sp>
        <p:nvSpPr>
          <p:cNvPr id="39" name="Shape 37"/>
          <p:cNvSpPr/>
          <p:nvPr/>
        </p:nvSpPr>
        <p:spPr>
          <a:xfrm>
            <a:off x="594360" y="5175504"/>
            <a:ext cx="11000232" cy="438912"/>
          </a:xfrm>
          <a:prstGeom prst="rect">
            <a:avLst/>
          </a:prstGeom>
          <a:solidFill>
            <a:srgbClr val="EAF4EE"/>
          </a:solidFill>
          <a:ln w="12700">
            <a:solidFill>
              <a:srgbClr val="EAF4EE"/>
            </a:solidFill>
            <a:prstDash val="solid"/>
          </a:ln>
        </p:spPr>
        <p:txBody>
          <a:bodyPr/>
          <a:p/>
        </p:txBody>
      </p:sp>
      <p:sp>
        <p:nvSpPr>
          <p:cNvPr id="40" name="Text 38"/>
          <p:cNvSpPr/>
          <p:nvPr/>
        </p:nvSpPr>
        <p:spPr>
          <a:xfrm>
            <a:off x="786384" y="5285232"/>
            <a:ext cx="1097280" cy="173736"/>
          </a:xfrm>
          <a:prstGeom prst="rect">
            <a:avLst/>
          </a:prstGeom>
          <a:noFill/>
          <a:ln/>
        </p:spPr>
        <p:txBody>
          <a:bodyPr wrap="square" lIns="0" tIns="0" rIns="0" bIns="0" rtlCol="0" anchor="ctr"/>
          <a:lstStyle/>
          <a:p>
            <a:pPr indent="0" marL="0">
              <a:buNone/>
            </a:pPr>
            <a:r>
              <a:rPr lang="en-US" sz="950" b="1" dirty="0">
                <a:solidFill>
                  <a:srgbClr val="005238"/>
                </a:solidFill>
                <a:latin typeface="Arial" pitchFamily="34" charset="0"/>
                <a:ea typeface="Arial" pitchFamily="34" charset="-122"/>
                <a:cs typeface="Arial" pitchFamily="34" charset="-120"/>
              </a:rPr>
              <a:t>IN PARALLEL</a:t>
            </a:r>
            <a:endParaRPr lang="en-US" sz="950" dirty="0"/>
          </a:p>
        </p:txBody>
      </p:sp>
      <p:sp>
        <p:nvSpPr>
          <p:cNvPr id="41" name="Text 39"/>
          <p:cNvSpPr/>
          <p:nvPr/>
        </p:nvSpPr>
        <p:spPr>
          <a:xfrm>
            <a:off x="1920240" y="5248656"/>
            <a:ext cx="9464040" cy="256032"/>
          </a:xfrm>
          <a:prstGeom prst="rect">
            <a:avLst/>
          </a:prstGeom>
          <a:noFill/>
          <a:ln/>
        </p:spPr>
        <p:txBody>
          <a:bodyPr wrap="square" lIns="0" tIns="0" rIns="0" bIns="0" rtlCol="0" anchor="ctr"/>
          <a:lstStyle/>
          <a:p>
            <a:pPr indent="0" marL="0">
              <a:buNone/>
            </a:pPr>
            <a:r>
              <a:rPr lang="en-US" sz="1450" dirty="0">
                <a:solidFill>
                  <a:srgbClr val="52635E"/>
                </a:solidFill>
                <a:latin typeface="Arial" pitchFamily="34" charset="0"/>
                <a:ea typeface="Arial" pitchFamily="34" charset="-122"/>
                <a:cs typeface="Arial" pitchFamily="34" charset="-120"/>
              </a:rPr>
              <a:t>Genie feasibility  •  On-premises access  •  Collibra metadata contract</a:t>
            </a:r>
            <a:endParaRPr lang="en-US" sz="1420" dirty="0"/>
          </a:p>
        </p:txBody>
      </p:sp>
      <p:sp>
        <p:nvSpPr>
          <p:cNvPr id="42" name="Shape 40"/>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3" name="Shape 41"/>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4" name="Text 42"/>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DELIVERY CADENCE</a:t>
            </a:r>
            <a:endParaRPr lang="en-US" sz="950" dirty="0"/>
          </a:p>
        </p:txBody>
      </p:sp>
      <p:sp>
        <p:nvSpPr>
          <p:cNvPr id="45" name="Text 43"/>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Two-week working demos proposed; release only when the required gates are met.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MVP 2 · EFFICIENCY TRACK</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Keep performance and cost measurable as coverage grows.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Targeted integration and efficiency are complementary—not automatic capacity commitments.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07</a:t>
            </a:r>
            <a:endParaRPr lang="en-US" sz="1050" dirty="0"/>
          </a:p>
        </p:txBody>
      </p:sp>
      <p:sp>
        <p:nvSpPr>
          <p:cNvPr id="12" name="Shape 10"/>
          <p:cNvSpPr/>
          <p:nvPr/>
        </p:nvSpPr>
        <p:spPr>
          <a:xfrm>
            <a:off x="594360" y="2121408"/>
            <a:ext cx="3520440" cy="2560320"/>
          </a:xfrm>
          <a:prstGeom prst="rect">
            <a:avLst/>
          </a:prstGeom>
          <a:solidFill>
            <a:srgbClr val="F4F8F5"/>
          </a:solidFill>
          <a:ln w="8890">
            <a:solidFill>
              <a:srgbClr val="D9E4DD"/>
            </a:solidFill>
            <a:prstDash val="solid"/>
          </a:ln>
        </p:spPr>
        <p:txBody>
          <a:bodyPr/>
          <a:p/>
        </p:txBody>
      </p:sp>
      <p:sp>
        <p:nvSpPr>
          <p:cNvPr id="13" name="Shape 11"/>
          <p:cNvSpPr/>
          <p:nvPr/>
        </p:nvSpPr>
        <p:spPr>
          <a:xfrm>
            <a:off x="594360" y="2121408"/>
            <a:ext cx="3520440" cy="45720"/>
          </a:xfrm>
          <a:prstGeom prst="rect">
            <a:avLst/>
          </a:prstGeom>
          <a:solidFill>
            <a:srgbClr val="00843D"/>
          </a:solidFill>
          <a:ln w="12700">
            <a:solidFill>
              <a:srgbClr val="00843D"/>
            </a:solidFill>
            <a:prstDash val="solid"/>
          </a:ln>
        </p:spPr>
        <p:txBody>
          <a:bodyPr/>
          <a:p/>
        </p:txBody>
      </p:sp>
      <p:sp>
        <p:nvSpPr>
          <p:cNvPr id="14" name="Shape 12"/>
          <p:cNvSpPr/>
          <p:nvPr/>
        </p:nvSpPr>
        <p:spPr>
          <a:xfrm>
            <a:off x="809701" y="2400757"/>
            <a:ext cx="419710" cy="419710"/>
          </a:xfrm>
          <a:prstGeom prst="ellipse">
            <a:avLst/>
          </a:prstGeom>
          <a:solidFill>
            <a:srgbClr val="F4F8F5"/>
          </a:solidFill>
          <a:ln w="17780">
            <a:solidFill>
              <a:srgbClr val="00843D"/>
            </a:solidFill>
            <a:prstDash val="solid"/>
          </a:ln>
        </p:spPr>
        <p:txBody>
          <a:bodyPr/>
          <a:p/>
        </p:txBody>
      </p:sp>
      <p:sp>
        <p:nvSpPr>
          <p:cNvPr id="15" name="Shape 13"/>
          <p:cNvSpPr/>
          <p:nvPr/>
        </p:nvSpPr>
        <p:spPr>
          <a:xfrm>
            <a:off x="1019556" y="2470709"/>
            <a:ext cx="0" cy="151562"/>
          </a:xfrm>
          <a:prstGeom prst="line">
            <a:avLst/>
          </a:prstGeom>
          <a:noFill/>
          <a:ln w="24130">
            <a:solidFill>
              <a:srgbClr val="00843D"/>
            </a:solidFill>
            <a:prstDash val="solid"/>
          </a:ln>
        </p:spPr>
        <p:txBody>
          <a:bodyPr/>
          <a:p/>
        </p:txBody>
      </p:sp>
      <p:sp>
        <p:nvSpPr>
          <p:cNvPr id="16" name="Shape 14"/>
          <p:cNvSpPr/>
          <p:nvPr/>
        </p:nvSpPr>
        <p:spPr>
          <a:xfrm>
            <a:off x="1019556" y="2622271"/>
            <a:ext cx="104927" cy="46634"/>
          </a:xfrm>
          <a:prstGeom prst="line">
            <a:avLst/>
          </a:prstGeom>
          <a:noFill/>
          <a:ln w="24130">
            <a:solidFill>
              <a:srgbClr val="00843D"/>
            </a:solidFill>
            <a:prstDash val="solid"/>
          </a:ln>
        </p:spPr>
        <p:txBody>
          <a:bodyPr/>
          <a:p/>
        </p:txBody>
      </p:sp>
      <p:sp>
        <p:nvSpPr>
          <p:cNvPr id="17" name="Text 15"/>
          <p:cNvSpPr/>
          <p:nvPr/>
        </p:nvSpPr>
        <p:spPr>
          <a:xfrm>
            <a:off x="1463040"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Reuse authorized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answers</a:t>
            </a:r>
            <a:endParaRPr lang="en-US" sz="2100" dirty="0"/>
          </a:p>
        </p:txBody>
      </p:sp>
      <p:sp>
        <p:nvSpPr>
          <p:cNvPr id="18" name="Text 16"/>
          <p:cNvSpPr/>
          <p:nvPr/>
        </p:nvSpPr>
        <p:spPr>
          <a:xfrm>
            <a:off x="813816"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Early lookup before AI planning.</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A second cache for precise results.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Only small, bounded payloads.</a:t>
            </a:r>
            <a:endParaRPr lang="en-US" sz="1580" dirty="0"/>
          </a:p>
        </p:txBody>
      </p:sp>
      <p:sp>
        <p:nvSpPr>
          <p:cNvPr id="19" name="Shape 17"/>
          <p:cNvSpPr/>
          <p:nvPr/>
        </p:nvSpPr>
        <p:spPr>
          <a:xfrm>
            <a:off x="4334256" y="2121408"/>
            <a:ext cx="3520440" cy="2560320"/>
          </a:xfrm>
          <a:prstGeom prst="rect">
            <a:avLst/>
          </a:prstGeom>
          <a:solidFill>
            <a:srgbClr val="F4F8F5"/>
          </a:solidFill>
          <a:ln w="8890">
            <a:solidFill>
              <a:srgbClr val="D9E4DD"/>
            </a:solidFill>
            <a:prstDash val="solid"/>
          </a:ln>
        </p:spPr>
        <p:txBody>
          <a:bodyPr/>
          <a:p/>
        </p:txBody>
      </p:sp>
      <p:sp>
        <p:nvSpPr>
          <p:cNvPr id="20" name="Shape 18"/>
          <p:cNvSpPr/>
          <p:nvPr/>
        </p:nvSpPr>
        <p:spPr>
          <a:xfrm>
            <a:off x="4334256" y="2121408"/>
            <a:ext cx="3520440" cy="45720"/>
          </a:xfrm>
          <a:prstGeom prst="rect">
            <a:avLst/>
          </a:prstGeom>
          <a:solidFill>
            <a:srgbClr val="00843D"/>
          </a:solidFill>
          <a:ln w="12700">
            <a:solidFill>
              <a:srgbClr val="00843D"/>
            </a:solidFill>
            <a:prstDash val="solid"/>
          </a:ln>
        </p:spPr>
        <p:txBody>
          <a:bodyPr/>
          <a:p/>
        </p:txBody>
      </p:sp>
      <p:sp>
        <p:nvSpPr>
          <p:cNvPr id="21" name="Shape 19"/>
          <p:cNvSpPr/>
          <p:nvPr/>
        </p:nvSpPr>
        <p:spPr>
          <a:xfrm>
            <a:off x="4572914" y="2657246"/>
            <a:ext cx="361417" cy="128245"/>
          </a:xfrm>
          <a:prstGeom prst="rect">
            <a:avLst/>
          </a:prstGeom>
          <a:solidFill>
            <a:srgbClr val="FFFFFF"/>
          </a:solidFill>
          <a:ln w="15240">
            <a:solidFill>
              <a:srgbClr val="00843D"/>
            </a:solidFill>
            <a:prstDash val="solid"/>
          </a:ln>
        </p:spPr>
        <p:txBody>
          <a:bodyPr/>
          <a:p/>
        </p:txBody>
      </p:sp>
      <p:sp>
        <p:nvSpPr>
          <p:cNvPr id="22" name="Shape 20"/>
          <p:cNvSpPr/>
          <p:nvPr/>
        </p:nvSpPr>
        <p:spPr>
          <a:xfrm>
            <a:off x="4607890" y="2552319"/>
            <a:ext cx="326441" cy="128245"/>
          </a:xfrm>
          <a:prstGeom prst="rect">
            <a:avLst/>
          </a:prstGeom>
          <a:solidFill>
            <a:srgbClr val="EAF4EE"/>
          </a:solidFill>
          <a:ln w="15240">
            <a:solidFill>
              <a:srgbClr val="00843D"/>
            </a:solidFill>
            <a:prstDash val="solid"/>
          </a:ln>
        </p:spPr>
        <p:txBody>
          <a:bodyPr/>
          <a:p/>
        </p:txBody>
      </p:sp>
      <p:sp>
        <p:nvSpPr>
          <p:cNvPr id="23" name="Shape 21"/>
          <p:cNvSpPr/>
          <p:nvPr/>
        </p:nvSpPr>
        <p:spPr>
          <a:xfrm>
            <a:off x="4642866" y="2447392"/>
            <a:ext cx="291465" cy="128245"/>
          </a:xfrm>
          <a:prstGeom prst="rect">
            <a:avLst/>
          </a:prstGeom>
          <a:solidFill>
            <a:srgbClr val="FFFFFF"/>
          </a:solidFill>
          <a:ln w="15240">
            <a:solidFill>
              <a:srgbClr val="00843D"/>
            </a:solidFill>
            <a:prstDash val="solid"/>
          </a:ln>
        </p:spPr>
        <p:txBody>
          <a:bodyPr/>
          <a:p/>
        </p:txBody>
      </p:sp>
      <p:sp>
        <p:nvSpPr>
          <p:cNvPr id="24" name="Text 22"/>
          <p:cNvSpPr/>
          <p:nvPr/>
        </p:nvSpPr>
        <p:spPr>
          <a:xfrm>
            <a:off x="5202936"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Prepare common</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questions</a:t>
            </a:r>
            <a:endParaRPr lang="en-US" sz="2100" dirty="0"/>
          </a:p>
        </p:txBody>
      </p:sp>
      <p:sp>
        <p:nvSpPr>
          <p:cNvPr id="25" name="Text 23"/>
          <p:cNvSpPr/>
          <p:nvPr/>
        </p:nvSpPr>
        <p:spPr>
          <a:xfrm>
            <a:off x="4553712"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Prioritize patterns from usage.</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Curate approved questions and summaries.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Release changes under review.</a:t>
            </a:r>
            <a:endParaRPr lang="en-US" sz="1580" dirty="0"/>
          </a:p>
        </p:txBody>
      </p:sp>
      <p:sp>
        <p:nvSpPr>
          <p:cNvPr id="26" name="Shape 24"/>
          <p:cNvSpPr/>
          <p:nvPr/>
        </p:nvSpPr>
        <p:spPr>
          <a:xfrm>
            <a:off x="8074152" y="2121408"/>
            <a:ext cx="3520440" cy="2560320"/>
          </a:xfrm>
          <a:prstGeom prst="rect">
            <a:avLst/>
          </a:prstGeom>
          <a:solidFill>
            <a:srgbClr val="F4F8F5"/>
          </a:solidFill>
          <a:ln w="8890">
            <a:solidFill>
              <a:srgbClr val="D9E4DD"/>
            </a:solidFill>
            <a:prstDash val="solid"/>
          </a:ln>
        </p:spPr>
        <p:txBody>
          <a:bodyPr/>
          <a:p/>
        </p:txBody>
      </p:sp>
      <p:sp>
        <p:nvSpPr>
          <p:cNvPr id="27" name="Shape 25"/>
          <p:cNvSpPr/>
          <p:nvPr/>
        </p:nvSpPr>
        <p:spPr>
          <a:xfrm>
            <a:off x="8074152" y="2121408"/>
            <a:ext cx="3520440" cy="45720"/>
          </a:xfrm>
          <a:prstGeom prst="rect">
            <a:avLst/>
          </a:prstGeom>
          <a:solidFill>
            <a:srgbClr val="00843D"/>
          </a:solidFill>
          <a:ln w="12700">
            <a:solidFill>
              <a:srgbClr val="00843D"/>
            </a:solidFill>
            <a:prstDash val="solid"/>
          </a:ln>
        </p:spPr>
        <p:txBody>
          <a:bodyPr/>
          <a:p/>
        </p:txBody>
      </p:sp>
      <p:sp>
        <p:nvSpPr>
          <p:cNvPr id="28" name="Shape 26"/>
          <p:cNvSpPr/>
          <p:nvPr/>
        </p:nvSpPr>
        <p:spPr>
          <a:xfrm>
            <a:off x="8289493" y="2400757"/>
            <a:ext cx="419710" cy="419710"/>
          </a:xfrm>
          <a:prstGeom prst="ellipse">
            <a:avLst/>
          </a:prstGeom>
          <a:solidFill>
            <a:srgbClr val="F4F8F5"/>
          </a:solidFill>
          <a:ln w="17780">
            <a:solidFill>
              <a:srgbClr val="00843D"/>
            </a:solidFill>
            <a:prstDash val="solid"/>
          </a:ln>
        </p:spPr>
        <p:txBody>
          <a:bodyPr/>
          <a:p/>
        </p:txBody>
      </p:sp>
      <p:sp>
        <p:nvSpPr>
          <p:cNvPr id="29" name="Shape 27"/>
          <p:cNvSpPr/>
          <p:nvPr/>
        </p:nvSpPr>
        <p:spPr>
          <a:xfrm>
            <a:off x="8382762" y="2610612"/>
            <a:ext cx="81610" cy="81610"/>
          </a:xfrm>
          <a:prstGeom prst="line">
            <a:avLst/>
          </a:prstGeom>
          <a:noFill/>
          <a:ln w="26670">
            <a:solidFill>
              <a:srgbClr val="00843D"/>
            </a:solidFill>
            <a:prstDash val="solid"/>
          </a:ln>
        </p:spPr>
        <p:txBody>
          <a:bodyPr/>
          <a:p/>
        </p:txBody>
      </p:sp>
      <p:sp>
        <p:nvSpPr>
          <p:cNvPr id="30" name="Shape 28"/>
          <p:cNvSpPr/>
          <p:nvPr/>
        </p:nvSpPr>
        <p:spPr>
          <a:xfrm>
            <a:off x="8464372" y="2692222"/>
            <a:ext cx="163220" cy="-174879"/>
          </a:xfrm>
          <a:prstGeom prst="line">
            <a:avLst/>
          </a:prstGeom>
          <a:noFill/>
          <a:ln w="26670">
            <a:solidFill>
              <a:srgbClr val="00843D"/>
            </a:solidFill>
            <a:prstDash val="solid"/>
          </a:ln>
        </p:spPr>
        <p:txBody>
          <a:bodyPr/>
          <a:p/>
        </p:txBody>
      </p:sp>
      <p:sp>
        <p:nvSpPr>
          <p:cNvPr id="31" name="Text 29"/>
          <p:cNvSpPr/>
          <p:nvPr/>
        </p:nvSpPr>
        <p:spPr>
          <a:xfrm>
            <a:off x="8942832"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Publish with</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control</a:t>
            </a:r>
            <a:endParaRPr lang="en-US" sz="2100" dirty="0"/>
          </a:p>
        </p:txBody>
      </p:sp>
      <p:sp>
        <p:nvSpPr>
          <p:cNvPr id="32" name="Text 30"/>
          <p:cNvSpPr/>
          <p:nvPr/>
        </p:nvSpPr>
        <p:spPr>
          <a:xfrm>
            <a:off x="8293608"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Governed onboarding and rollback.</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Named business and data owners.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Visible cost and performance.</a:t>
            </a:r>
            <a:endParaRPr lang="en-US" sz="1580" dirty="0"/>
          </a:p>
        </p:txBody>
      </p:sp>
      <p:sp>
        <p:nvSpPr>
          <p:cNvPr id="33" name="Shape 31"/>
          <p:cNvSpPr/>
          <p:nvPr/>
        </p:nvSpPr>
        <p:spPr>
          <a:xfrm>
            <a:off x="594360" y="4956048"/>
            <a:ext cx="11000232" cy="594360"/>
          </a:xfrm>
          <a:prstGeom prst="rect">
            <a:avLst/>
          </a:prstGeom>
          <a:solidFill>
            <a:srgbClr val="FBF2E5"/>
          </a:solidFill>
          <a:ln w="12700">
            <a:solidFill>
              <a:srgbClr val="FBF2E5"/>
            </a:solidFill>
            <a:prstDash val="solid"/>
          </a:ln>
        </p:spPr>
        <p:txBody>
          <a:bodyPr/>
          <a:p/>
        </p:txBody>
      </p:sp>
      <p:sp>
        <p:nvSpPr>
          <p:cNvPr id="34" name="Text 32"/>
          <p:cNvSpPr/>
          <p:nvPr/>
        </p:nvSpPr>
        <p:spPr>
          <a:xfrm>
            <a:off x="822960" y="5065776"/>
            <a:ext cx="1645920" cy="338328"/>
          </a:xfrm>
          <a:prstGeom prst="rect">
            <a:avLst/>
          </a:prstGeom>
          <a:noFill/>
          <a:ln/>
        </p:spPr>
        <p:txBody>
          <a:bodyPr wrap="square" lIns="0" tIns="0" rIns="0" bIns="0" rtlCol="0" anchor="ctr"/>
          <a:lstStyle/>
          <a:p>
            <a:pPr indent="0" marL="0">
              <a:buNone/>
            </a:pPr>
            <a:r>
              <a:rPr lang="en-US" sz="2800" b="1" dirty="0">
                <a:solidFill>
                  <a:srgbClr val="B87722"/>
                </a:solidFill>
                <a:latin typeface="Arial" pitchFamily="34" charset="0"/>
                <a:ea typeface="Arial" pitchFamily="34" charset="-122"/>
                <a:cs typeface="Arial" pitchFamily="34" charset="-120"/>
              </a:rPr>
              <a:t>~5 TB+</a:t>
            </a:r>
            <a:endParaRPr lang="en-US" sz="2800" dirty="0"/>
          </a:p>
        </p:txBody>
      </p:sp>
      <p:sp>
        <p:nvSpPr>
          <p:cNvPr id="35" name="Text 33"/>
          <p:cNvSpPr/>
          <p:nvPr/>
        </p:nvSpPr>
        <p:spPr>
          <a:xfrm>
            <a:off x="2615184" y="5020056"/>
            <a:ext cx="8705088" cy="448056"/>
          </a:xfrm>
          <a:prstGeom prst="rect">
            <a:avLst/>
          </a:prstGeom>
          <a:noFill/>
          <a:ln/>
        </p:spPr>
        <p:txBody>
          <a:bodyPr wrap="square" lIns="0" tIns="0" rIns="0" bIns="0" rtlCol="0" anchor="ctr"/>
          <a:lstStyle/>
          <a:p>
            <a:pPr indent="0" marL="0">
              <a:buNone/>
            </a:pPr>
            <a:r>
              <a:rPr lang="en-US" sz="1400" dirty="0">
                <a:solidFill>
                  <a:srgbClr val="182425"/>
                </a:solidFill>
                <a:latin typeface="Arial" pitchFamily="34" charset="0"/>
                <a:ea typeface="Arial" pitchFamily="34" charset="-122"/>
                <a:cs typeface="Arial" pitchFamily="34" charset="-120"/>
              </a:rPr>
              <a:t>Source-data planning context—not cache size or proven capacity.</a:t>
            </a:r>
            <a:endParaRPr lang="en-US" sz="1400" dirty="0"/>
          </a:p>
          <a:p>
            <a:pPr indent="0" marL="0">
              <a:buNone/>
            </a:pPr>
            <a:r>
              <a:rPr lang="en-US" sz="1400" dirty="0">
                <a:solidFill>
                  <a:srgbClr val="182425"/>
                </a:solidFill>
                <a:latin typeface="Arial" pitchFamily="34" charset="0"/>
                <a:ea typeface="Arial" pitchFamily="34" charset="-122"/>
                <a:cs typeface="Arial" pitchFamily="34" charset="-120"/>
              </a:rPr>
              <a:t>Keep large queries on the source platform; benchmark representative peak usage.</a:t>
            </a:r>
            <a:endParaRPr lang="en-US" sz="1400" dirty="0"/>
          </a:p>
        </p:txBody>
      </p:sp>
      <p:sp>
        <p:nvSpPr>
          <p:cNvPr id="36" name="Shape 34"/>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7" name="Shape 35"/>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8" name="Text 36"/>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VALUE GATE</a:t>
            </a:r>
            <a:endParaRPr lang="en-US" sz="950" dirty="0"/>
          </a:p>
        </p:txBody>
      </p:sp>
      <p:sp>
        <p:nvSpPr>
          <p:cNvPr id="39" name="Text 37"/>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Measure response time, cost per answer and cache benefit before expanding capacity.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STRATEGIC INTEGRATIONS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integrations address three different business needs.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All have high strategic value; first implementation follows pilot demand and readiness.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08</a:t>
            </a:r>
            <a:endParaRPr lang="en-US" sz="1050" dirty="0"/>
          </a:p>
        </p:txBody>
      </p:sp>
      <p:sp>
        <p:nvSpPr>
          <p:cNvPr id="12" name="Rectangle 11"/>
          <p:cNvSpPr/>
          <p:nvPr/>
        </p:nvSpPr>
        <p:spPr>
          <a:xfrm>
            <a:off x="594360" y="2066543"/>
            <a:ext cx="11000232" cy="384048"/>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67128"/>
            <a:ext cx="1929384"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INTEGRATION</a:t>
            </a:r>
          </a:p>
        </p:txBody>
      </p:sp>
      <p:sp>
        <p:nvSpPr>
          <p:cNvPr id="14" name="TextBox 13"/>
          <p:cNvSpPr txBox="1"/>
          <p:nvPr/>
        </p:nvSpPr>
        <p:spPr>
          <a:xfrm>
            <a:off x="2898648" y="2167128"/>
            <a:ext cx="2816352"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WHY IT MATTERS</a:t>
            </a:r>
          </a:p>
        </p:txBody>
      </p:sp>
      <p:sp>
        <p:nvSpPr>
          <p:cNvPr id="15" name="TextBox 14"/>
          <p:cNvSpPr txBox="1"/>
          <p:nvPr/>
        </p:nvSpPr>
        <p:spPr>
          <a:xfrm>
            <a:off x="5952744" y="2167128"/>
            <a:ext cx="3310128"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PROPOSED TIMING</a:t>
            </a:r>
          </a:p>
        </p:txBody>
      </p:sp>
      <p:sp>
        <p:nvSpPr>
          <p:cNvPr id="16" name="TextBox 15"/>
          <p:cNvSpPr txBox="1"/>
          <p:nvPr/>
        </p:nvSpPr>
        <p:spPr>
          <a:xfrm>
            <a:off x="9500616" y="2167128"/>
            <a:ext cx="1993391"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DECISION REQUIRED</a:t>
            </a:r>
          </a:p>
        </p:txBody>
      </p:sp>
      <p:sp>
        <p:nvSpPr>
          <p:cNvPr id="17" name="Rectangle 16"/>
          <p:cNvSpPr/>
          <p:nvPr/>
        </p:nvSpPr>
        <p:spPr>
          <a:xfrm>
            <a:off x="594360" y="2450592"/>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651760"/>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Databricks</a:t>
            </a:r>
          </a:p>
          <a:p>
            <a:pPr algn="l">
              <a:lnSpc>
                <a:spcPct val="108000"/>
              </a:lnSpc>
              <a:spcBef>
                <a:spcPts val="0"/>
              </a:spcBef>
              <a:spcAft>
                <a:spcPts val="0"/>
              </a:spcAft>
            </a:pPr>
            <a:r>
              <a:rPr sz="1530" b="1">
                <a:solidFill>
                  <a:srgbClr val="005238"/>
                </a:solidFill>
                <a:latin typeface="Arial"/>
              </a:rPr>
              <a:t>Genie</a:t>
            </a:r>
          </a:p>
        </p:txBody>
      </p:sp>
      <p:sp>
        <p:nvSpPr>
          <p:cNvPr id="19" name="TextBox 18"/>
          <p:cNvSpPr txBox="1"/>
          <p:nvPr/>
        </p:nvSpPr>
        <p:spPr>
          <a:xfrm>
            <a:off x="2898648" y="2651760"/>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analytics capability;</a:t>
            </a:r>
          </a:p>
          <a:p>
            <a:pPr algn="l">
              <a:lnSpc>
                <a:spcPct val="108000"/>
              </a:lnSpc>
              <a:spcBef>
                <a:spcPts val="0"/>
              </a:spcBef>
              <a:spcAft>
                <a:spcPts val="0"/>
              </a:spcAft>
            </a:pPr>
            <a:r>
              <a:rPr sz="1530" b="0">
                <a:solidFill>
                  <a:srgbClr val="182425"/>
                </a:solidFill>
                <a:latin typeface="Arial"/>
              </a:rPr>
              <a:t>avoid duplicate development.</a:t>
            </a:r>
          </a:p>
        </p:txBody>
      </p:sp>
      <p:sp>
        <p:nvSpPr>
          <p:cNvPr id="20" name="TextBox 19"/>
          <p:cNvSpPr txBox="1"/>
          <p:nvPr/>
        </p:nvSpPr>
        <p:spPr>
          <a:xfrm>
            <a:off x="5952744" y="2651760"/>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evaluate one domain.</a:t>
            </a:r>
          </a:p>
          <a:p>
            <a:pPr algn="l">
              <a:lnSpc>
                <a:spcPct val="108000"/>
              </a:lnSpc>
              <a:spcBef>
                <a:spcPts val="0"/>
              </a:spcBef>
              <a:spcAft>
                <a:spcPts val="0"/>
              </a:spcAft>
            </a:pPr>
            <a:r>
              <a:rPr sz="1430" b="0">
                <a:solidFill>
                  <a:srgbClr val="182425"/>
                </a:solidFill>
                <a:latin typeface="Arial"/>
              </a:rPr>
              <a:t>MVP 2: integrate if qualified.</a:t>
            </a:r>
          </a:p>
        </p:txBody>
      </p:sp>
      <p:sp>
        <p:nvSpPr>
          <p:cNvPr id="21" name="TextBox 20"/>
          <p:cNvSpPr txBox="1"/>
          <p:nvPr/>
        </p:nvSpPr>
        <p:spPr>
          <a:xfrm>
            <a:off x="9500616" y="2651760"/>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Sponsor a</a:t>
            </a:r>
          </a:p>
          <a:p>
            <a:pPr algn="l">
              <a:lnSpc>
                <a:spcPct val="108000"/>
              </a:lnSpc>
              <a:spcBef>
                <a:spcPts val="0"/>
              </a:spcBef>
              <a:spcAft>
                <a:spcPts val="0"/>
              </a:spcAft>
            </a:pPr>
            <a:r>
              <a:rPr sz="1530" b="0">
                <a:solidFill>
                  <a:srgbClr val="182425"/>
                </a:solidFill>
                <a:latin typeface="Arial"/>
              </a:rPr>
              <a:t>comparative pilot.</a:t>
            </a:r>
          </a:p>
        </p:txBody>
      </p:sp>
      <p:cxnSp>
        <p:nvCxnSpPr>
          <p:cNvPr id="22" name="Connector 21"/>
          <p:cNvCxnSpPr/>
          <p:nvPr/>
        </p:nvCxnSpPr>
        <p:spPr>
          <a:xfrm>
            <a:off x="594360" y="3383280"/>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3383280"/>
            <a:ext cx="11000232" cy="9326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584448"/>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On-premises</a:t>
            </a:r>
          </a:p>
          <a:p>
            <a:pPr algn="l">
              <a:lnSpc>
                <a:spcPct val="108000"/>
              </a:lnSpc>
              <a:spcBef>
                <a:spcPts val="0"/>
              </a:spcBef>
              <a:spcAft>
                <a:spcPts val="0"/>
              </a:spcAft>
            </a:pPr>
            <a:r>
              <a:rPr sz="1530" b="1">
                <a:solidFill>
                  <a:srgbClr val="005238"/>
                </a:solidFill>
                <a:latin typeface="Arial"/>
              </a:rPr>
              <a:t>databases</a:t>
            </a:r>
          </a:p>
        </p:txBody>
      </p:sp>
      <p:sp>
        <p:nvSpPr>
          <p:cNvPr id="25" name="TextBox 24"/>
          <p:cNvSpPr txBox="1"/>
          <p:nvPr/>
        </p:nvSpPr>
        <p:spPr>
          <a:xfrm>
            <a:off x="2898648" y="3584448"/>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Reach selected data without</a:t>
            </a:r>
          </a:p>
          <a:p>
            <a:pPr algn="l">
              <a:lnSpc>
                <a:spcPct val="108000"/>
              </a:lnSpc>
              <a:spcBef>
                <a:spcPts val="0"/>
              </a:spcBef>
              <a:spcAft>
                <a:spcPts val="0"/>
              </a:spcAft>
            </a:pPr>
            <a:r>
              <a:rPr sz="1530" b="0">
                <a:solidFill>
                  <a:srgbClr val="182425"/>
                </a:solidFill>
                <a:latin typeface="Arial"/>
              </a:rPr>
              <a:t>a mandatory cloud migration.</a:t>
            </a:r>
          </a:p>
        </p:txBody>
      </p:sp>
      <p:sp>
        <p:nvSpPr>
          <p:cNvPr id="26" name="TextBox 25"/>
          <p:cNvSpPr txBox="1"/>
          <p:nvPr/>
        </p:nvSpPr>
        <p:spPr>
          <a:xfrm>
            <a:off x="5952744" y="3584448"/>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select source and access path.</a:t>
            </a:r>
          </a:p>
          <a:p>
            <a:pPr algn="l">
              <a:lnSpc>
                <a:spcPct val="108000"/>
              </a:lnSpc>
              <a:spcBef>
                <a:spcPts val="0"/>
              </a:spcBef>
              <a:spcAft>
                <a:spcPts val="0"/>
              </a:spcAft>
            </a:pPr>
            <a:r>
              <a:rPr sz="1430" b="0">
                <a:solidFill>
                  <a:srgbClr val="182425"/>
                </a:solidFill>
                <a:latin typeface="Arial"/>
              </a:rPr>
              <a:t>MVP 2: first targeted connector.</a:t>
            </a:r>
          </a:p>
        </p:txBody>
      </p:sp>
      <p:sp>
        <p:nvSpPr>
          <p:cNvPr id="27" name="TextBox 26"/>
          <p:cNvSpPr txBox="1"/>
          <p:nvPr/>
        </p:nvSpPr>
        <p:spPr>
          <a:xfrm>
            <a:off x="9500616" y="3584448"/>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Name use case</a:t>
            </a:r>
          </a:p>
          <a:p>
            <a:pPr algn="l">
              <a:lnSpc>
                <a:spcPct val="108000"/>
              </a:lnSpc>
              <a:spcBef>
                <a:spcPts val="0"/>
              </a:spcBef>
              <a:spcAft>
                <a:spcPts val="0"/>
              </a:spcAft>
            </a:pPr>
            <a:r>
              <a:rPr sz="1530" b="0">
                <a:solidFill>
                  <a:srgbClr val="182425"/>
                </a:solidFill>
                <a:latin typeface="Arial"/>
              </a:rPr>
              <a:t>and source owner.</a:t>
            </a:r>
          </a:p>
        </p:txBody>
      </p:sp>
      <p:cxnSp>
        <p:nvCxnSpPr>
          <p:cNvPr id="28" name="Connector 27"/>
          <p:cNvCxnSpPr/>
          <p:nvPr/>
        </p:nvCxnSpPr>
        <p:spPr>
          <a:xfrm>
            <a:off x="594360" y="4315968"/>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94360" y="4315968"/>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517136"/>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Collibra</a:t>
            </a:r>
          </a:p>
        </p:txBody>
      </p:sp>
      <p:sp>
        <p:nvSpPr>
          <p:cNvPr id="31" name="TextBox 30"/>
          <p:cNvSpPr txBox="1"/>
          <p:nvPr/>
        </p:nvSpPr>
        <p:spPr>
          <a:xfrm>
            <a:off x="2898648" y="4517136"/>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approved definitions;</a:t>
            </a:r>
          </a:p>
          <a:p>
            <a:pPr algn="l">
              <a:lnSpc>
                <a:spcPct val="108000"/>
              </a:lnSpc>
              <a:spcBef>
                <a:spcPts val="0"/>
              </a:spcBef>
              <a:spcAft>
                <a:spcPts val="0"/>
              </a:spcAft>
            </a:pPr>
            <a:r>
              <a:rPr sz="1530" b="0">
                <a:solidFill>
                  <a:srgbClr val="182425"/>
                </a:solidFill>
                <a:latin typeface="Arial"/>
              </a:rPr>
              <a:t>reduce manual metadata upkeep.</a:t>
            </a:r>
          </a:p>
        </p:txBody>
      </p:sp>
      <p:sp>
        <p:nvSpPr>
          <p:cNvPr id="32" name="TextBox 31"/>
          <p:cNvSpPr txBox="1"/>
          <p:nvPr/>
        </p:nvSpPr>
        <p:spPr>
          <a:xfrm>
            <a:off x="5952744" y="4517136"/>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ownership and metadata contract.</a:t>
            </a:r>
          </a:p>
          <a:p>
            <a:pPr algn="l">
              <a:lnSpc>
                <a:spcPct val="108000"/>
              </a:lnSpc>
              <a:spcBef>
                <a:spcPts val="0"/>
              </a:spcBef>
              <a:spcAft>
                <a:spcPts val="0"/>
              </a:spcAft>
            </a:pPr>
            <a:r>
              <a:rPr sz="1430" b="0">
                <a:solidFill>
                  <a:srgbClr val="182425"/>
                </a:solidFill>
                <a:latin typeface="Arial"/>
              </a:rPr>
              <a:t>MVP 2: read-only ingestion and refresh.</a:t>
            </a:r>
          </a:p>
        </p:txBody>
      </p:sp>
      <p:sp>
        <p:nvSpPr>
          <p:cNvPr id="33" name="TextBox 32"/>
          <p:cNvSpPr txBox="1"/>
          <p:nvPr/>
        </p:nvSpPr>
        <p:spPr>
          <a:xfrm>
            <a:off x="9500616" y="4517136"/>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Assign metadata</a:t>
            </a:r>
          </a:p>
          <a:p>
            <a:pPr algn="l">
              <a:lnSpc>
                <a:spcPct val="108000"/>
              </a:lnSpc>
              <a:spcBef>
                <a:spcPts val="0"/>
              </a:spcBef>
              <a:spcAft>
                <a:spcPts val="0"/>
              </a:spcAft>
            </a:pPr>
            <a:r>
              <a:rPr sz="1530" b="0">
                <a:solidFill>
                  <a:srgbClr val="182425"/>
                </a:solidFill>
                <a:latin typeface="Arial"/>
              </a:rPr>
              <a:t>and API owners.</a:t>
            </a:r>
          </a:p>
        </p:txBody>
      </p:sp>
      <p:cxnSp>
        <p:nvCxnSpPr>
          <p:cNvPr id="34" name="Connector 33"/>
          <p:cNvCxnSpPr/>
          <p:nvPr/>
        </p:nvCxnSpPr>
        <p:spPr>
          <a:xfrm>
            <a:off x="594360" y="5248656"/>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94360" y="5431536"/>
            <a:ext cx="11000232" cy="283464"/>
          </a:xfrm>
          <a:prstGeom prst="rect">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5486400"/>
            <a:ext cx="10698480" cy="164592"/>
          </a:xfrm>
          <a:prstGeom prst="rect">
            <a:avLst/>
          </a:prstGeom>
          <a:noFill/>
        </p:spPr>
        <p:txBody>
          <a:bodyPr wrap="square" lIns="0" rIns="0" tIns="0" bIns="0" anchor="t">
            <a:spAutoFit/>
          </a:bodyPr>
          <a:lstStyle/>
          <a:p>
            <a:pPr algn="l">
              <a:lnSpc>
                <a:spcPct val="108000"/>
              </a:lnSpc>
              <a:spcBef>
                <a:spcPts val="0"/>
              </a:spcBef>
              <a:spcAft>
                <a:spcPts val="0"/>
              </a:spcAft>
            </a:pPr>
            <a:r>
              <a:rPr sz="1080" b="0">
                <a:solidFill>
                  <a:srgbClr val="005238"/>
                </a:solidFill>
                <a:latin typeface="Arial"/>
              </a:rPr>
              <a:t>A required on-premises source may enter MVP 1 only when the approved pilot cannot proceed without it.</a:t>
            </a:r>
          </a:p>
        </p:txBody>
      </p:sp>
      <p:sp>
        <p:nvSpPr>
          <p:cNvPr id="37" name="Rectangle 36"/>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SEQUENCING RULE</a:t>
            </a:r>
          </a:p>
        </p:txBody>
      </p:sp>
      <p:sp>
        <p:nvSpPr>
          <p:cNvPr id="40" name="TextBox 39"/>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Start discovery early; commit to integration only after a bounded business and control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DATABRICKS GENIE · EVALUATE NOW</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Evaluate Genie now; adopt only where it proves value.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Databricks analytics while preserving the askalpha experience and controls.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S7, W1</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09</a:t>
            </a:r>
            <a:endParaRPr lang="en-US" sz="1050" dirty="0"/>
          </a:p>
        </p:txBody>
      </p:sp>
      <p:sp>
        <p:nvSpPr>
          <p:cNvPr id="12" name="Rounded Rectangle 11"/>
          <p:cNvSpPr/>
          <p:nvPr/>
        </p:nvSpPr>
        <p:spPr>
          <a:xfrm>
            <a:off x="594360" y="2048256"/>
            <a:ext cx="2039112"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1856231"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STRATEGIC VALUE</a:t>
            </a:r>
          </a:p>
        </p:txBody>
      </p:sp>
      <p:sp>
        <p:nvSpPr>
          <p:cNvPr id="14" name="Rounded Rectangle 13"/>
          <p:cNvSpPr/>
          <p:nvPr/>
        </p:nvSpPr>
        <p:spPr>
          <a:xfrm>
            <a:off x="2761488" y="2048256"/>
            <a:ext cx="3877056"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2928" y="2098548"/>
            <a:ext cx="3694176"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ASSESS  →  MVP 2: CONDITIONAL</a:t>
            </a:r>
          </a:p>
        </p:txBody>
      </p:sp>
      <p:sp>
        <p:nvSpPr>
          <p:cNvPr id="16" name="TextBox 15"/>
          <p:cNvSpPr txBox="1"/>
          <p:nvPr/>
        </p:nvSpPr>
        <p:spPr>
          <a:xfrm>
            <a:off x="7552944" y="2103120"/>
            <a:ext cx="4023360" cy="164592"/>
          </a:xfrm>
          <a:prstGeom prst="rect">
            <a:avLst/>
          </a:prstGeom>
          <a:noFill/>
        </p:spPr>
        <p:txBody>
          <a:bodyPr wrap="square" lIns="0" rIns="0" tIns="0" bIns="0" anchor="t">
            <a:spAutoFit/>
          </a:bodyPr>
          <a:lstStyle/>
          <a:p>
            <a:pPr algn="r">
              <a:lnSpc>
                <a:spcPct val="108000"/>
              </a:lnSpc>
              <a:spcBef>
                <a:spcPts val="0"/>
              </a:spcBef>
              <a:spcAft>
                <a:spcPts val="0"/>
              </a:spcAft>
            </a:pPr>
            <a:r>
              <a:rPr sz="1030" b="1">
                <a:solidFill>
                  <a:srgbClr val="52635E"/>
                </a:solidFill>
                <a:latin typeface="Arial"/>
              </a:rPr>
              <a:t>Engineering integration: Phase 3</a:t>
            </a:r>
          </a:p>
        </p:txBody>
      </p:sp>
      <p:sp>
        <p:nvSpPr>
          <p:cNvPr id="17" name="Rectangle 16"/>
          <p:cNvSpPr/>
          <p:nvPr/>
        </p:nvSpPr>
        <p:spPr>
          <a:xfrm>
            <a:off x="594360"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VALUE</a:t>
            </a:r>
          </a:p>
        </p:txBody>
      </p:sp>
      <p:sp>
        <p:nvSpPr>
          <p:cNvPr id="20" name="Rectangle 19"/>
          <p:cNvSpPr/>
          <p:nvPr/>
        </p:nvSpPr>
        <p:spPr>
          <a:xfrm>
            <a:off x="795528"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Reduce duplicate analytics development.</a:t>
            </a:r>
          </a:p>
        </p:txBody>
      </p:sp>
      <p:sp>
        <p:nvSpPr>
          <p:cNvPr id="22" name="Rectangle 21"/>
          <p:cNvSpPr/>
          <p:nvPr/>
        </p:nvSpPr>
        <p:spPr>
          <a:xfrm>
            <a:off x="795528"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Keep product-level access and audit.</a:t>
            </a:r>
          </a:p>
        </p:txBody>
      </p:sp>
      <p:sp>
        <p:nvSpPr>
          <p:cNvPr id="24" name="Rectangle 23"/>
          <p:cNvSpPr/>
          <p:nvPr/>
        </p:nvSpPr>
        <p:spPr>
          <a:xfrm>
            <a:off x="4334256"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4256"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5424"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FIRST TEST</a:t>
            </a:r>
          </a:p>
        </p:txBody>
      </p:sp>
      <p:sp>
        <p:nvSpPr>
          <p:cNvPr id="27" name="Rectangle 26"/>
          <p:cNvSpPr/>
          <p:nvPr/>
        </p:nvSpPr>
        <p:spPr>
          <a:xfrm>
            <a:off x="4535424"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One curated domain and agreed questions.</a:t>
            </a:r>
          </a:p>
        </p:txBody>
      </p:sp>
      <p:sp>
        <p:nvSpPr>
          <p:cNvPr id="29" name="Rectangle 28"/>
          <p:cNvSpPr/>
          <p:nvPr/>
        </p:nvSpPr>
        <p:spPr>
          <a:xfrm>
            <a:off x="4535424"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728"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Compare direct SQL and Genie end to end.</a:t>
            </a:r>
          </a:p>
        </p:txBody>
      </p:sp>
      <p:sp>
        <p:nvSpPr>
          <p:cNvPr id="31" name="Rectangle 30"/>
          <p:cNvSpPr/>
          <p:nvPr/>
        </p:nvSpPr>
        <p:spPr>
          <a:xfrm>
            <a:off x="8074152"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GO / NO-GO GATE</a:t>
            </a:r>
          </a:p>
        </p:txBody>
      </p:sp>
      <p:sp>
        <p:nvSpPr>
          <p:cNvPr id="34" name="Rectangle 33"/>
          <p:cNvSpPr/>
          <p:nvPr/>
        </p:nvSpPr>
        <p:spPr>
          <a:xfrm>
            <a:off x="8275320"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21624"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Quality and pre-execution access isolation.</a:t>
            </a:r>
          </a:p>
        </p:txBody>
      </p:sp>
      <p:sp>
        <p:nvSpPr>
          <p:cNvPr id="36" name="Rectangle 35"/>
          <p:cNvSpPr/>
          <p:nvPr/>
        </p:nvSpPr>
        <p:spPr>
          <a:xfrm>
            <a:off x="8275320"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21624"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Latency, total cost and support ownership.</a:t>
            </a:r>
          </a:p>
        </p:txBody>
      </p:sp>
      <p:sp>
        <p:nvSpPr>
          <p:cNvPr id="38" name="Rectangle 37"/>
          <p:cNvSpPr/>
          <p:nvPr/>
        </p:nvSpPr>
        <p:spPr>
          <a:xfrm>
            <a:off x="594360" y="4773168"/>
            <a:ext cx="31363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4864608"/>
            <a:ext cx="28986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askalpha</a:t>
            </a:r>
          </a:p>
        </p:txBody>
      </p:sp>
      <p:sp>
        <p:nvSpPr>
          <p:cNvPr id="40" name="TextBox 39"/>
          <p:cNvSpPr txBox="1"/>
          <p:nvPr/>
        </p:nvSpPr>
        <p:spPr>
          <a:xfrm>
            <a:off x="685800" y="5157216"/>
            <a:ext cx="29535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Access • Semantics • Audit</a:t>
            </a:r>
          </a:p>
        </p:txBody>
      </p:sp>
      <p:sp>
        <p:nvSpPr>
          <p:cNvPr id="41" name="Rectangle 40"/>
          <p:cNvSpPr/>
          <p:nvPr/>
        </p:nvSpPr>
        <p:spPr>
          <a:xfrm>
            <a:off x="4187952" y="4773168"/>
            <a:ext cx="35935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6824" y="4864608"/>
            <a:ext cx="33558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Selected Genie domain</a:t>
            </a:r>
          </a:p>
        </p:txBody>
      </p:sp>
      <p:sp>
        <p:nvSpPr>
          <p:cNvPr id="43" name="TextBox 42"/>
          <p:cNvSpPr txBox="1"/>
          <p:nvPr/>
        </p:nvSpPr>
        <p:spPr>
          <a:xfrm>
            <a:off x="4279392" y="5157216"/>
            <a:ext cx="34107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Candidate analytics provider</a:t>
            </a:r>
          </a:p>
        </p:txBody>
      </p:sp>
      <p:sp>
        <p:nvSpPr>
          <p:cNvPr id="44" name="Rectangle 43"/>
          <p:cNvSpPr/>
          <p:nvPr/>
        </p:nvSpPr>
        <p:spPr>
          <a:xfrm>
            <a:off x="8238744" y="4773168"/>
            <a:ext cx="3355848"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57616" y="4864608"/>
            <a:ext cx="3118104"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Governed data</a:t>
            </a:r>
          </a:p>
        </p:txBody>
      </p:sp>
      <p:sp>
        <p:nvSpPr>
          <p:cNvPr id="46" name="TextBox 45"/>
          <p:cNvSpPr txBox="1"/>
          <p:nvPr/>
        </p:nvSpPr>
        <p:spPr>
          <a:xfrm>
            <a:off x="8330183" y="5157216"/>
            <a:ext cx="3172968"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Approved Databricks data scope</a:t>
            </a:r>
          </a:p>
        </p:txBody>
      </p:sp>
      <p:sp>
        <p:nvSpPr>
          <p:cNvPr id="47" name="Chevron 46"/>
          <p:cNvSpPr/>
          <p:nvPr/>
        </p:nvSpPr>
        <p:spPr>
          <a:xfrm>
            <a:off x="3858768"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7918704"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 y="5559552"/>
            <a:ext cx="10908792" cy="173736"/>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B87722"/>
                </a:solidFill>
                <a:latin typeface="Arial"/>
              </a:rPr>
              <a:t>Release gate: prove end-user scope is enforced before Genie executes—not only when results return.</a:t>
            </a:r>
          </a:p>
        </p:txBody>
      </p:sp>
      <p:sp>
        <p:nvSpPr>
          <p:cNvPr id="50" name="Rectangle 49"/>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53" name="TextBox 52"/>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Sponsor one measured comparison; do not make Genie a dependency of the core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ON-PREMISES DATA · BUSINESS-LED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independence with one on-premises use case.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reach approved data in place without forcing every request through Databricks.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S5, S7, W2</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12</a:t>
            </a:r>
            <a:endParaRPr lang="en-US" sz="1050" dirty="0"/>
          </a:p>
        </p:txBody>
      </p:sp>
      <p:sp>
        <p:nvSpPr>
          <p:cNvPr id="12" name="Rounded Rectangle 11"/>
          <p:cNvSpPr/>
          <p:nvPr/>
        </p:nvSpPr>
        <p:spPr>
          <a:xfrm>
            <a:off x="594360" y="2048256"/>
            <a:ext cx="2395728"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1284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VALUE · DEMAND-LED</a:t>
            </a:r>
          </a:p>
        </p:txBody>
      </p:sp>
      <p:sp>
        <p:nvSpPr>
          <p:cNvPr id="14" name="Rounded Rectangle 13"/>
          <p:cNvSpPr/>
          <p:nvPr/>
        </p:nvSpPr>
        <p:spPr>
          <a:xfrm>
            <a:off x="3136392" y="2048256"/>
            <a:ext cx="42519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27832" y="2098548"/>
            <a:ext cx="406908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DISCOVER  →  MVP 2: FIRST SOURCE</a:t>
            </a:r>
          </a:p>
        </p:txBody>
      </p:sp>
      <p:sp>
        <p:nvSpPr>
          <p:cNvPr id="16" name="Rectangle 15"/>
          <p:cNvSpPr/>
          <p:nvPr/>
        </p:nvSpPr>
        <p:spPr>
          <a:xfrm>
            <a:off x="594360" y="2633472"/>
            <a:ext cx="4809744" cy="296265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34640"/>
            <a:ext cx="4325112"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A TARGETED DIRECT PATH</a:t>
            </a:r>
          </a:p>
        </p:txBody>
      </p:sp>
      <p:sp>
        <p:nvSpPr>
          <p:cNvPr id="18" name="Rectangle 17"/>
          <p:cNvSpPr/>
          <p:nvPr/>
        </p:nvSpPr>
        <p:spPr>
          <a:xfrm>
            <a:off x="1042415" y="33009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33741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askalpha</a:t>
            </a:r>
          </a:p>
        </p:txBody>
      </p:sp>
      <p:sp>
        <p:nvSpPr>
          <p:cNvPr id="20" name="TextBox 19"/>
          <p:cNvSpPr txBox="1"/>
          <p:nvPr/>
        </p:nvSpPr>
        <p:spPr>
          <a:xfrm>
            <a:off x="1170432" y="3611879"/>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User scope + governed question</a:t>
            </a:r>
          </a:p>
        </p:txBody>
      </p:sp>
      <p:sp>
        <p:nvSpPr>
          <p:cNvPr id="21" name="Rectangle 20"/>
          <p:cNvSpPr/>
          <p:nvPr/>
        </p:nvSpPr>
        <p:spPr>
          <a:xfrm>
            <a:off x="1042415" y="39867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40599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Source adapter</a:t>
            </a:r>
          </a:p>
        </p:txBody>
      </p:sp>
      <p:sp>
        <p:nvSpPr>
          <p:cNvPr id="23" name="TextBox 22"/>
          <p:cNvSpPr txBox="1"/>
          <p:nvPr/>
        </p:nvSpPr>
        <p:spPr>
          <a:xfrm>
            <a:off x="1170432" y="42976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Approved network + service identity</a:t>
            </a:r>
          </a:p>
        </p:txBody>
      </p:sp>
      <p:sp>
        <p:nvSpPr>
          <p:cNvPr id="24" name="Rectangle 23"/>
          <p:cNvSpPr/>
          <p:nvPr/>
        </p:nvSpPr>
        <p:spPr>
          <a:xfrm>
            <a:off x="1042415" y="46725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0432" y="47457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One on-premises source</a:t>
            </a:r>
          </a:p>
        </p:txBody>
      </p:sp>
      <p:sp>
        <p:nvSpPr>
          <p:cNvPr id="26" name="TextBox 25"/>
          <p:cNvSpPr txBox="1"/>
          <p:nvPr/>
        </p:nvSpPr>
        <p:spPr>
          <a:xfrm>
            <a:off x="1170432" y="49834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Read-only views • bounded queries</a:t>
            </a:r>
          </a:p>
        </p:txBody>
      </p:sp>
      <p:sp>
        <p:nvSpPr>
          <p:cNvPr id="27" name="Down Arrow 26"/>
          <p:cNvSpPr/>
          <p:nvPr/>
        </p:nvSpPr>
        <p:spPr>
          <a:xfrm>
            <a:off x="2926080" y="38587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2926080" y="45445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358384"/>
            <a:ext cx="4334256" cy="155448"/>
          </a:xfrm>
          <a:prstGeom prst="rect">
            <a:avLst/>
          </a:prstGeom>
          <a:noFill/>
        </p:spPr>
        <p:txBody>
          <a:bodyPr wrap="square" lIns="0" rIns="0" tIns="0" bIns="0" anchor="t">
            <a:spAutoFit/>
          </a:bodyPr>
          <a:lstStyle/>
          <a:p>
            <a:pPr algn="l">
              <a:lnSpc>
                <a:spcPct val="108000"/>
              </a:lnSpc>
              <a:spcBef>
                <a:spcPts val="0"/>
              </a:spcBef>
              <a:spcAft>
                <a:spcPts val="0"/>
              </a:spcAft>
            </a:pPr>
            <a:r>
              <a:rPr sz="1019" b="0">
                <a:solidFill>
                  <a:srgbClr val="52635E"/>
                </a:solidFill>
                <a:latin typeface="Arial"/>
              </a:rPr>
              <a:t>Illustrative target; not a confirmed live connection.</a:t>
            </a:r>
          </a:p>
        </p:txBody>
      </p:sp>
      <p:sp>
        <p:nvSpPr>
          <p:cNvPr id="30" name="TextBox 29"/>
          <p:cNvSpPr txBox="1"/>
          <p:nvPr/>
        </p:nvSpPr>
        <p:spPr>
          <a:xfrm>
            <a:off x="5733288" y="27523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01</a:t>
            </a:r>
          </a:p>
        </p:txBody>
      </p:sp>
      <p:sp>
        <p:nvSpPr>
          <p:cNvPr id="31" name="TextBox 30"/>
          <p:cNvSpPr txBox="1"/>
          <p:nvPr/>
        </p:nvSpPr>
        <p:spPr>
          <a:xfrm>
            <a:off x="6409944" y="27157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Select the first source</a:t>
            </a:r>
          </a:p>
        </p:txBody>
      </p:sp>
      <p:sp>
        <p:nvSpPr>
          <p:cNvPr id="32" name="TextBox 31"/>
          <p:cNvSpPr txBox="1"/>
          <p:nvPr/>
        </p:nvSpPr>
        <p:spPr>
          <a:xfrm>
            <a:off x="6409944" y="31089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One SQL Server or Oracle use case—not all databases.</a:t>
            </a:r>
          </a:p>
        </p:txBody>
      </p:sp>
      <p:cxnSp>
        <p:nvCxnSpPr>
          <p:cNvPr id="33" name="Connector 32"/>
          <p:cNvCxnSpPr/>
          <p:nvPr/>
        </p:nvCxnSpPr>
        <p:spPr>
          <a:xfrm>
            <a:off x="5742432" y="35112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733288" y="36667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02</a:t>
            </a:r>
          </a:p>
        </p:txBody>
      </p:sp>
      <p:sp>
        <p:nvSpPr>
          <p:cNvPr id="35" name="TextBox 34"/>
          <p:cNvSpPr txBox="1"/>
          <p:nvPr/>
        </p:nvSpPr>
        <p:spPr>
          <a:xfrm>
            <a:off x="6409944" y="36301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Approve access and workload</a:t>
            </a:r>
          </a:p>
        </p:txBody>
      </p:sp>
      <p:sp>
        <p:nvSpPr>
          <p:cNvPr id="36" name="TextBox 35"/>
          <p:cNvSpPr txBox="1"/>
          <p:nvPr/>
        </p:nvSpPr>
        <p:spPr>
          <a:xfrm>
            <a:off x="6409944" y="40233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Validate network, service identity and source capacity.</a:t>
            </a:r>
          </a:p>
        </p:txBody>
      </p:sp>
      <p:cxnSp>
        <p:nvCxnSpPr>
          <p:cNvPr id="37" name="Connector 36"/>
          <p:cNvCxnSpPr/>
          <p:nvPr/>
        </p:nvCxnSpPr>
        <p:spPr>
          <a:xfrm>
            <a:off x="5742432" y="44256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733288" y="45811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03</a:t>
            </a:r>
          </a:p>
        </p:txBody>
      </p:sp>
      <p:sp>
        <p:nvSpPr>
          <p:cNvPr id="39" name="TextBox 38"/>
          <p:cNvSpPr txBox="1"/>
          <p:nvPr/>
        </p:nvSpPr>
        <p:spPr>
          <a:xfrm>
            <a:off x="6409944" y="45445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Prove the operating model</a:t>
            </a:r>
          </a:p>
        </p:txBody>
      </p:sp>
      <p:sp>
        <p:nvSpPr>
          <p:cNvPr id="40" name="TextBox 39"/>
          <p:cNvSpPr txBox="1"/>
          <p:nvPr/>
        </p:nvSpPr>
        <p:spPr>
          <a:xfrm>
            <a:off x="6409944" y="49377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Bound queries; test peak load, cost and safe failure.</a:t>
            </a:r>
          </a:p>
        </p:txBody>
      </p:sp>
      <p:sp>
        <p:nvSpPr>
          <p:cNvPr id="41" name="TextBox 40"/>
          <p:cNvSpPr txBox="1"/>
          <p:nvPr/>
        </p:nvSpPr>
        <p:spPr>
          <a:xfrm>
            <a:off x="5742432" y="5513832"/>
            <a:ext cx="5852160" cy="246888"/>
          </a:xfrm>
          <a:prstGeom prst="rect">
            <a:avLst/>
          </a:prstGeom>
          <a:noFill/>
        </p:spPr>
        <p:txBody>
          <a:bodyPr wrap="square" lIns="0" rIns="0" tIns="0" bIns="0" anchor="t">
            <a:spAutoFit/>
          </a:bodyPr>
          <a:lstStyle/>
          <a:p>
            <a:pPr algn="l">
              <a:lnSpc>
                <a:spcPct val="108000"/>
              </a:lnSpc>
              <a:spcBef>
                <a:spcPts val="0"/>
              </a:spcBef>
              <a:spcAft>
                <a:spcPts val="0"/>
              </a:spcAft>
            </a:pPr>
            <a:r>
              <a:rPr sz="1050" b="1">
                <a:solidFill>
                  <a:srgbClr val="B87722"/>
                </a:solidFill>
                <a:latin typeface="Arial"/>
              </a:rPr>
              <a:t>Existing SQL support does not prove on-premises connectivity. Source and network costs still apply.</a:t>
            </a:r>
          </a:p>
        </p:txBody>
      </p:sp>
      <p:sp>
        <p:nvSpPr>
          <p:cNvPr id="42" name="Rectangle 4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5" name="TextBox 4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Choose the first source and accountable owner; bring it forward only if the pilot requires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COLLIBRA · GOVERNED METADATA REUSE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Reuse definitions without creating a competing catalog.</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approved meaning, ownership and classifications as the data estate grows.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 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13</a:t>
            </a:r>
            <a:endParaRPr lang="en-US" sz="1050" dirty="0"/>
          </a:p>
        </p:txBody>
      </p:sp>
      <p:sp>
        <p:nvSpPr>
          <p:cNvPr id="12" name="Rounded Rectangle 11"/>
          <p:cNvSpPr/>
          <p:nvPr/>
        </p:nvSpPr>
        <p:spPr>
          <a:xfrm>
            <a:off x="594360" y="2048256"/>
            <a:ext cx="246888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8600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GOVERNANCE VALUE</a:t>
            </a:r>
          </a:p>
        </p:txBody>
      </p:sp>
      <p:sp>
        <p:nvSpPr>
          <p:cNvPr id="14" name="Rounded Rectangle 13"/>
          <p:cNvSpPr/>
          <p:nvPr/>
        </p:nvSpPr>
        <p:spPr>
          <a:xfrm>
            <a:off x="3191256" y="2048256"/>
            <a:ext cx="5321808"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82696" y="2098548"/>
            <a:ext cx="513892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CONTRACT  →  MVP 2: READ-ONLY INTEGRATION</a:t>
            </a:r>
          </a:p>
        </p:txBody>
      </p:sp>
      <p:sp>
        <p:nvSpPr>
          <p:cNvPr id="16" name="Rectangle 15"/>
          <p:cNvSpPr/>
          <p:nvPr/>
        </p:nvSpPr>
        <p:spPr>
          <a:xfrm>
            <a:off x="594360"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Collibra</a:t>
            </a:r>
          </a:p>
        </p:txBody>
      </p:sp>
      <p:sp>
        <p:nvSpPr>
          <p:cNvPr id="18" name="TextBox 17"/>
          <p:cNvSpPr txBox="1"/>
          <p:nvPr/>
        </p:nvSpPr>
        <p:spPr>
          <a:xfrm>
            <a:off x="740664"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Approved metadata</a:t>
            </a:r>
          </a:p>
          <a:p>
            <a:pPr algn="ctr">
              <a:lnSpc>
                <a:spcPct val="108000"/>
              </a:lnSpc>
              <a:spcBef>
                <a:spcPts val="0"/>
              </a:spcBef>
              <a:spcAft>
                <a:spcPts val="0"/>
              </a:spcAft>
            </a:pPr>
            <a:r>
              <a:rPr sz="1420" b="0">
                <a:solidFill>
                  <a:srgbClr val="52635E"/>
                </a:solidFill>
                <a:latin typeface="Arial"/>
              </a:rPr>
              <a:t>and named owners</a:t>
            </a:r>
          </a:p>
        </p:txBody>
      </p:sp>
      <p:sp>
        <p:nvSpPr>
          <p:cNvPr id="19" name="Chevron 18"/>
          <p:cNvSpPr/>
          <p:nvPr/>
        </p:nvSpPr>
        <p:spPr>
          <a:xfrm>
            <a:off x="3163824"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65576"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Validate &amp; map</a:t>
            </a:r>
          </a:p>
        </p:txBody>
      </p:sp>
      <p:sp>
        <p:nvSpPr>
          <p:cNvPr id="22" name="TextBox 21"/>
          <p:cNvSpPr txBox="1"/>
          <p:nvPr/>
        </p:nvSpPr>
        <p:spPr>
          <a:xfrm>
            <a:off x="3611880"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Check evidence;</a:t>
            </a:r>
          </a:p>
          <a:p>
            <a:pPr algn="ctr">
              <a:lnSpc>
                <a:spcPct val="108000"/>
              </a:lnSpc>
              <a:spcBef>
                <a:spcPts val="0"/>
              </a:spcBef>
              <a:spcAft>
                <a:spcPts val="0"/>
              </a:spcAft>
            </a:pPr>
            <a:r>
              <a:rPr sz="1420" b="0">
                <a:solidFill>
                  <a:srgbClr val="52635E"/>
                </a:solidFill>
                <a:latin typeface="Arial"/>
              </a:rPr>
              <a:t>publish under review</a:t>
            </a:r>
          </a:p>
        </p:txBody>
      </p:sp>
      <p:sp>
        <p:nvSpPr>
          <p:cNvPr id="23" name="Chevron 22"/>
          <p:cNvSpPr/>
          <p:nvPr/>
        </p:nvSpPr>
        <p:spPr>
          <a:xfrm>
            <a:off x="6035040"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2688336"/>
            <a:ext cx="2414016" cy="1179576"/>
          </a:xfrm>
          <a:prstGeom prst="rect">
            <a:avLst/>
          </a:prstGeom>
          <a:solidFill>
            <a:srgbClr val="E9F3ED"/>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Semantic Registry</a:t>
            </a:r>
          </a:p>
        </p:txBody>
      </p:sp>
      <p:sp>
        <p:nvSpPr>
          <p:cNvPr id="26" name="TextBox 25"/>
          <p:cNvSpPr txBox="1"/>
          <p:nvPr/>
        </p:nvSpPr>
        <p:spPr>
          <a:xfrm>
            <a:off x="6483096"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Versioned runtime</a:t>
            </a:r>
          </a:p>
          <a:p>
            <a:pPr algn="ctr">
              <a:lnSpc>
                <a:spcPct val="108000"/>
              </a:lnSpc>
              <a:spcBef>
                <a:spcPts val="0"/>
              </a:spcBef>
              <a:spcAft>
                <a:spcPts val="0"/>
              </a:spcAft>
            </a:pPr>
            <a:r>
              <a:rPr sz="1420" b="0">
                <a:solidFill>
                  <a:srgbClr val="52635E"/>
                </a:solidFill>
                <a:latin typeface="Arial"/>
              </a:rPr>
              <a:t>semantic snapshot</a:t>
            </a:r>
          </a:p>
        </p:txBody>
      </p:sp>
      <p:sp>
        <p:nvSpPr>
          <p:cNvPr id="27" name="Chevron 26"/>
          <p:cNvSpPr/>
          <p:nvPr/>
        </p:nvSpPr>
        <p:spPr>
          <a:xfrm>
            <a:off x="8906256"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08008" y="2688336"/>
            <a:ext cx="2386584"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45168" y="2871216"/>
            <a:ext cx="2112264"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Plans &amp; templates</a:t>
            </a:r>
          </a:p>
        </p:txBody>
      </p:sp>
      <p:sp>
        <p:nvSpPr>
          <p:cNvPr id="30" name="TextBox 29"/>
          <p:cNvSpPr txBox="1"/>
          <p:nvPr/>
        </p:nvSpPr>
        <p:spPr>
          <a:xfrm>
            <a:off x="9354312" y="3328416"/>
            <a:ext cx="2093976"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Reference approved</a:t>
            </a:r>
          </a:p>
          <a:p>
            <a:pPr algn="ctr">
              <a:lnSpc>
                <a:spcPct val="108000"/>
              </a:lnSpc>
              <a:spcBef>
                <a:spcPts val="0"/>
              </a:spcBef>
              <a:spcAft>
                <a:spcPts val="0"/>
              </a:spcAft>
            </a:pPr>
            <a:r>
              <a:rPr sz="1420" b="0">
                <a:solidFill>
                  <a:srgbClr val="52635E"/>
                </a:solidFill>
                <a:latin typeface="Arial"/>
              </a:rPr>
              <a:t>IDs and versions</a:t>
            </a:r>
          </a:p>
        </p:txBody>
      </p:sp>
      <p:sp>
        <p:nvSpPr>
          <p:cNvPr id="31" name="TextBox 30"/>
          <p:cNvSpPr txBox="1"/>
          <p:nvPr/>
        </p:nvSpPr>
        <p:spPr>
          <a:xfrm>
            <a:off x="713232" y="4014215"/>
            <a:ext cx="10789920" cy="210312"/>
          </a:xfrm>
          <a:prstGeom prst="rect">
            <a:avLst/>
          </a:prstGeom>
          <a:noFill/>
        </p:spPr>
        <p:txBody>
          <a:bodyPr wrap="square" lIns="0" rIns="0" tIns="0" bIns="0" anchor="t">
            <a:spAutoFit/>
          </a:bodyPr>
          <a:lstStyle/>
          <a:p>
            <a:pPr algn="l">
              <a:lnSpc>
                <a:spcPct val="108000"/>
              </a:lnSpc>
              <a:spcBef>
                <a:spcPts val="0"/>
              </a:spcBef>
              <a:spcAft>
                <a:spcPts val="0"/>
              </a:spcAft>
            </a:pPr>
            <a:r>
              <a:rPr sz="1240" b="1">
                <a:solidFill>
                  <a:srgbClr val="005238"/>
                </a:solidFill>
                <a:latin typeface="Arial"/>
              </a:rPr>
              <a:t>Read-only metadata intake; not analytical-data movement and not a per-question API dependency.</a:t>
            </a:r>
          </a:p>
        </p:txBody>
      </p:sp>
      <p:sp>
        <p:nvSpPr>
          <p:cNvPr id="32" name="Rectangle 31"/>
          <p:cNvSpPr/>
          <p:nvPr/>
        </p:nvSpPr>
        <p:spPr>
          <a:xfrm>
            <a:off x="594360"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AGREE IN MVP 1</a:t>
            </a:r>
          </a:p>
        </p:txBody>
      </p:sp>
      <p:sp>
        <p:nvSpPr>
          <p:cNvPr id="34" name="TextBox 33"/>
          <p:cNvSpPr txBox="1"/>
          <p:nvPr/>
        </p:nvSpPr>
        <p:spPr>
          <a:xfrm>
            <a:off x="758952"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Owners and approved scope</a:t>
            </a:r>
          </a:p>
        </p:txBody>
      </p:sp>
      <p:sp>
        <p:nvSpPr>
          <p:cNvPr id="35" name="TextBox 34"/>
          <p:cNvSpPr txBox="1"/>
          <p:nvPr/>
        </p:nvSpPr>
        <p:spPr>
          <a:xfrm>
            <a:off x="758952"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Assign definition owners;</a:t>
            </a:r>
          </a:p>
          <a:p>
            <a:pPr algn="l">
              <a:lnSpc>
                <a:spcPct val="108000"/>
              </a:lnSpc>
              <a:spcBef>
                <a:spcPts val="0"/>
              </a:spcBef>
              <a:spcAft>
                <a:spcPts val="0"/>
              </a:spcAft>
            </a:pPr>
            <a:r>
              <a:rPr sz="1350" b="0">
                <a:solidFill>
                  <a:srgbClr val="52635E"/>
                </a:solidFill>
                <a:latin typeface="Arial"/>
              </a:rPr>
              <a:t>agree mapping and freshness.</a:t>
            </a:r>
          </a:p>
        </p:txBody>
      </p:sp>
      <p:sp>
        <p:nvSpPr>
          <p:cNvPr id="36" name="Rectangle 35"/>
          <p:cNvSpPr/>
          <p:nvPr/>
        </p:nvSpPr>
        <p:spPr>
          <a:xfrm>
            <a:off x="4334256"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DELIVER IN MVP 2</a:t>
            </a:r>
          </a:p>
        </p:txBody>
      </p:sp>
      <p:sp>
        <p:nvSpPr>
          <p:cNvPr id="38" name="TextBox 37"/>
          <p:cNvSpPr txBox="1"/>
          <p:nvPr/>
        </p:nvSpPr>
        <p:spPr>
          <a:xfrm>
            <a:off x="4498848"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Read-only metadata intake</a:t>
            </a:r>
          </a:p>
        </p:txBody>
      </p:sp>
      <p:sp>
        <p:nvSpPr>
          <p:cNvPr id="39" name="TextBox 38"/>
          <p:cNvSpPr txBox="1"/>
          <p:nvPr/>
        </p:nvSpPr>
        <p:spPr>
          <a:xfrm>
            <a:off x="4498848"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Validate and publish snapshots;</a:t>
            </a:r>
          </a:p>
          <a:p>
            <a:pPr algn="l">
              <a:lnSpc>
                <a:spcPct val="108000"/>
              </a:lnSpc>
              <a:spcBef>
                <a:spcPts val="0"/>
              </a:spcBef>
              <a:spcAft>
                <a:spcPts val="0"/>
              </a:spcAft>
            </a:pPr>
            <a:r>
              <a:rPr sz="1350" b="0">
                <a:solidFill>
                  <a:srgbClr val="52635E"/>
                </a:solidFill>
                <a:latin typeface="Arial"/>
              </a:rPr>
              <a:t>monitor refresh failures.</a:t>
            </a:r>
          </a:p>
        </p:txBody>
      </p:sp>
      <p:sp>
        <p:nvSpPr>
          <p:cNvPr id="40" name="Rectangle 39"/>
          <p:cNvSpPr/>
          <p:nvPr/>
        </p:nvSpPr>
        <p:spPr>
          <a:xfrm>
            <a:off x="8074152"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38744"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KEEP OWNERSHIP CLEAR</a:t>
            </a:r>
          </a:p>
        </p:txBody>
      </p:sp>
      <p:sp>
        <p:nvSpPr>
          <p:cNvPr id="42" name="TextBox 41"/>
          <p:cNvSpPr txBox="1"/>
          <p:nvPr/>
        </p:nvSpPr>
        <p:spPr>
          <a:xfrm>
            <a:off x="8238744"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One runtime semantic contract</a:t>
            </a:r>
          </a:p>
        </p:txBody>
      </p:sp>
      <p:sp>
        <p:nvSpPr>
          <p:cNvPr id="43" name="TextBox 42"/>
          <p:cNvSpPr txBox="1"/>
          <p:nvPr/>
        </p:nvSpPr>
        <p:spPr>
          <a:xfrm>
            <a:off x="8238744"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Preserve source and version;</a:t>
            </a:r>
          </a:p>
          <a:p>
            <a:pPr algn="l">
              <a:lnSpc>
                <a:spcPct val="108000"/>
              </a:lnSpc>
              <a:spcBef>
                <a:spcPts val="0"/>
              </a:spcBef>
              <a:spcAft>
                <a:spcPts val="0"/>
              </a:spcAft>
            </a:pPr>
            <a:r>
              <a:rPr sz="1350" b="0">
                <a:solidFill>
                  <a:srgbClr val="52635E"/>
                </a:solidFill>
                <a:latin typeface="Arial"/>
              </a:rPr>
              <a:t>templates only reference them.</a:t>
            </a:r>
          </a:p>
        </p:txBody>
      </p:sp>
      <p:sp>
        <p:nvSpPr>
          <p:cNvPr id="44" name="Rectangle 43"/>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7" name="TextBox 46"/>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Confirm metadata and API owners. Metadata integration is not user-permission synchronization.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PILOT SUCCESS MEASURES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business and integration value before wider rollout.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Use the same approved questions and access scope for comparative tests.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14</a:t>
            </a:r>
            <a:endParaRPr lang="en-US" sz="1050" dirty="0"/>
          </a:p>
        </p:txBody>
      </p:sp>
      <p:sp>
        <p:nvSpPr>
          <p:cNvPr id="12" name="Shape 10"/>
          <p:cNvSpPr/>
          <p:nvPr/>
        </p:nvSpPr>
        <p:spPr>
          <a:xfrm>
            <a:off x="594360" y="2075688"/>
            <a:ext cx="2916936" cy="3447288"/>
          </a:xfrm>
          <a:prstGeom prst="rect">
            <a:avLst/>
          </a:prstGeom>
          <a:solidFill>
            <a:srgbClr val="005238"/>
          </a:solidFill>
          <a:ln w="12700">
            <a:solidFill>
              <a:srgbClr val="005238"/>
            </a:solidFill>
            <a:prstDash val="solid"/>
          </a:ln>
        </p:spPr>
        <p:txBody>
          <a:bodyPr/>
          <a:p/>
        </p:txBody>
      </p:sp>
      <p:sp>
        <p:nvSpPr>
          <p:cNvPr id="13" name="Text 11"/>
          <p:cNvSpPr/>
          <p:nvPr/>
        </p:nvSpPr>
        <p:spPr>
          <a:xfrm>
            <a:off x="822960" y="2331720"/>
            <a:ext cx="2459736" cy="246888"/>
          </a:xfrm>
          <a:prstGeom prst="rect">
            <a:avLst/>
          </a:prstGeom>
          <a:noFill/>
          <a:ln/>
        </p:spPr>
        <p:txBody>
          <a:bodyPr wrap="square" lIns="0" tIns="0" rIns="0" bIns="0" rtlCol="0" anchor="ctr"/>
          <a:lstStyle/>
          <a:p>
            <a:pPr indent="0" marL="0">
              <a:buNone/>
            </a:pPr>
            <a:r>
              <a:rPr lang="en-US" sz="1100" b="1" spc="100" kern="0" dirty="0">
                <a:solidFill>
                  <a:srgbClr val="BDDFC9"/>
                </a:solidFill>
                <a:latin typeface="Arial" pitchFamily="34" charset="0"/>
                <a:ea typeface="Arial" pitchFamily="34" charset="-122"/>
                <a:cs typeface="Arial" pitchFamily="34" charset="-120"/>
              </a:rPr>
              <a:t>FOCUSED PILOT</a:t>
            </a:r>
            <a:endParaRPr lang="en-US" sz="1100" dirty="0"/>
          </a:p>
        </p:txBody>
      </p:sp>
      <p:sp>
        <p:nvSpPr>
          <p:cNvPr id="14" name="Text 12"/>
          <p:cNvSpPr/>
          <p:nvPr/>
        </p:nvSpPr>
        <p:spPr>
          <a:xfrm>
            <a:off x="822960" y="2816352"/>
            <a:ext cx="2404872" cy="950976"/>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Focused scope.</a:t>
            </a:r>
            <a:endParaRPr lang="en-US" sz="2500" dirty="0"/>
          </a:p>
          <a:p>
            <a:pPr indent="0" marL="0">
              <a:buNone/>
            </a:pPr>
            <a:r>
              <a:rPr lang="en-US" sz="2500" b="1" dirty="0">
                <a:solidFill>
                  <a:srgbClr val="FFFFFF"/>
                </a:solidFill>
                <a:latin typeface="Arial" pitchFamily="34" charset="0"/>
                <a:ea typeface="Arial" pitchFamily="34" charset="-122"/>
                <a:cs typeface="Arial" pitchFamily="34" charset="-120"/>
              </a:rPr>
              <a:t>Measure value.</a:t>
            </a:r>
            <a:endParaRPr lang="en-US" sz="2500" dirty="0"/>
          </a:p>
        </p:txBody>
      </p:sp>
      <p:sp>
        <p:nvSpPr>
          <p:cNvPr id="15" name="Shape 13"/>
          <p:cNvSpPr/>
          <p:nvPr/>
        </p:nvSpPr>
        <p:spPr>
          <a:xfrm>
            <a:off x="850392" y="4041648"/>
            <a:ext cx="45720" cy="45720"/>
          </a:xfrm>
          <a:prstGeom prst="rect">
            <a:avLst/>
          </a:prstGeom>
          <a:solidFill>
            <a:srgbClr val="72BC89"/>
          </a:solidFill>
          <a:ln w="12700">
            <a:solidFill>
              <a:srgbClr val="72BC89"/>
            </a:solidFill>
            <a:prstDash val="solid"/>
          </a:ln>
        </p:spPr>
        <p:txBody>
          <a:bodyPr/>
          <a:p/>
        </p:txBody>
      </p:sp>
      <p:sp>
        <p:nvSpPr>
          <p:cNvPr id="16" name="Text 14"/>
          <p:cNvSpPr/>
          <p:nvPr/>
        </p:nvSpPr>
        <p:spPr>
          <a:xfrm>
            <a:off x="996696" y="3931920"/>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Business sponsor</a:t>
            </a:r>
            <a:endParaRPr lang="en-US" sz="1350" dirty="0"/>
          </a:p>
        </p:txBody>
      </p:sp>
      <p:sp>
        <p:nvSpPr>
          <p:cNvPr id="17" name="Shape 15"/>
          <p:cNvSpPr/>
          <p:nvPr/>
        </p:nvSpPr>
        <p:spPr>
          <a:xfrm>
            <a:off x="850392" y="4352544"/>
            <a:ext cx="45720" cy="45720"/>
          </a:xfrm>
          <a:prstGeom prst="rect">
            <a:avLst/>
          </a:prstGeom>
          <a:solidFill>
            <a:srgbClr val="72BC89"/>
          </a:solidFill>
          <a:ln w="12700">
            <a:solidFill>
              <a:srgbClr val="72BC89"/>
            </a:solidFill>
            <a:prstDash val="solid"/>
          </a:ln>
        </p:spPr>
        <p:txBody>
          <a:bodyPr/>
          <a:p/>
        </p:txBody>
      </p:sp>
      <p:sp>
        <p:nvSpPr>
          <p:cNvPr id="18" name="Text 16"/>
          <p:cNvSpPr/>
          <p:nvPr/>
        </p:nvSpPr>
        <p:spPr>
          <a:xfrm>
            <a:off x="996696" y="4242816"/>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Selected data products</a:t>
            </a:r>
            <a:endParaRPr lang="en-US" sz="1350" dirty="0"/>
          </a:p>
        </p:txBody>
      </p:sp>
      <p:sp>
        <p:nvSpPr>
          <p:cNvPr id="19" name="Shape 17"/>
          <p:cNvSpPr/>
          <p:nvPr/>
        </p:nvSpPr>
        <p:spPr>
          <a:xfrm>
            <a:off x="850392" y="4663440"/>
            <a:ext cx="45720" cy="45720"/>
          </a:xfrm>
          <a:prstGeom prst="rect">
            <a:avLst/>
          </a:prstGeom>
          <a:solidFill>
            <a:srgbClr val="72BC89"/>
          </a:solidFill>
          <a:ln w="12700">
            <a:solidFill>
              <a:srgbClr val="72BC89"/>
            </a:solidFill>
            <a:prstDash val="solid"/>
          </a:ln>
        </p:spPr>
        <p:txBody>
          <a:bodyPr/>
          <a:p/>
        </p:txBody>
      </p:sp>
      <p:sp>
        <p:nvSpPr>
          <p:cNvPr id="20" name="Text 18"/>
          <p:cNvSpPr/>
          <p:nvPr/>
        </p:nvSpPr>
        <p:spPr>
          <a:xfrm>
            <a:off x="996696" y="4553712"/>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Approved test questions</a:t>
            </a:r>
            <a:endParaRPr lang="en-US" sz="1350" dirty="0"/>
          </a:p>
        </p:txBody>
      </p:sp>
      <p:sp>
        <p:nvSpPr>
          <p:cNvPr id="21" name="Shape 19"/>
          <p:cNvSpPr/>
          <p:nvPr/>
        </p:nvSpPr>
        <p:spPr>
          <a:xfrm>
            <a:off x="850392" y="4974336"/>
            <a:ext cx="45720" cy="45720"/>
          </a:xfrm>
          <a:prstGeom prst="rect">
            <a:avLst/>
          </a:prstGeom>
          <a:solidFill>
            <a:srgbClr val="72BC89"/>
          </a:solidFill>
          <a:ln w="12700">
            <a:solidFill>
              <a:srgbClr val="72BC89"/>
            </a:solidFill>
            <a:prstDash val="solid"/>
          </a:ln>
        </p:spPr>
        <p:txBody>
          <a:bodyPr/>
          <a:p/>
        </p:txBody>
      </p:sp>
      <p:sp>
        <p:nvSpPr>
          <p:cNvPr id="22" name="Text 20"/>
          <p:cNvSpPr/>
          <p:nvPr/>
        </p:nvSpPr>
        <p:spPr>
          <a:xfrm>
            <a:off x="996696" y="4864608"/>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Baseline and review date</a:t>
            </a:r>
            <a:endParaRPr lang="en-US" sz="1350" dirty="0"/>
          </a:p>
        </p:txBody>
      </p:sp>
      <p:sp>
        <p:nvSpPr>
          <p:cNvPr id="23" name="Shape 21"/>
          <p:cNvSpPr/>
          <p:nvPr/>
        </p:nvSpPr>
        <p:spPr>
          <a:xfrm>
            <a:off x="3815791" y="2261311"/>
            <a:ext cx="378562" cy="378562"/>
          </a:xfrm>
          <a:prstGeom prst="ellipse">
            <a:avLst/>
          </a:prstGeom>
          <a:solidFill>
            <a:srgbClr val="F4F8F5"/>
          </a:solidFill>
          <a:ln w="17780">
            <a:solidFill>
              <a:srgbClr val="00843D"/>
            </a:solidFill>
            <a:prstDash val="solid"/>
          </a:ln>
        </p:spPr>
        <p:txBody>
          <a:bodyPr/>
          <a:p/>
        </p:txBody>
      </p:sp>
      <p:sp>
        <p:nvSpPr>
          <p:cNvPr id="24" name="Shape 22"/>
          <p:cNvSpPr/>
          <p:nvPr/>
        </p:nvSpPr>
        <p:spPr>
          <a:xfrm>
            <a:off x="4005072" y="2324405"/>
            <a:ext cx="0" cy="136703"/>
          </a:xfrm>
          <a:prstGeom prst="line">
            <a:avLst/>
          </a:prstGeom>
          <a:noFill/>
          <a:ln w="24130">
            <a:solidFill>
              <a:srgbClr val="00843D"/>
            </a:solidFill>
            <a:prstDash val="solid"/>
          </a:ln>
        </p:spPr>
        <p:txBody>
          <a:bodyPr/>
          <a:p/>
        </p:txBody>
      </p:sp>
      <p:sp>
        <p:nvSpPr>
          <p:cNvPr id="25" name="Shape 23"/>
          <p:cNvSpPr/>
          <p:nvPr/>
        </p:nvSpPr>
        <p:spPr>
          <a:xfrm>
            <a:off x="4005072" y="2461108"/>
            <a:ext cx="94640" cy="42062"/>
          </a:xfrm>
          <a:prstGeom prst="line">
            <a:avLst/>
          </a:prstGeom>
          <a:noFill/>
          <a:ln w="24130">
            <a:solidFill>
              <a:srgbClr val="00843D"/>
            </a:solidFill>
            <a:prstDash val="solid"/>
          </a:ln>
        </p:spPr>
        <p:txBody>
          <a:bodyPr/>
          <a:p/>
        </p:txBody>
      </p:sp>
      <p:sp>
        <p:nvSpPr>
          <p:cNvPr id="26" name="Text 24"/>
          <p:cNvSpPr/>
          <p:nvPr/>
        </p:nvSpPr>
        <p:spPr>
          <a:xfrm>
            <a:off x="4407408" y="212140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Business impact</a:t>
            </a:r>
            <a:endParaRPr lang="en-US" sz="1900" dirty="0"/>
          </a:p>
        </p:txBody>
      </p:sp>
      <p:sp>
        <p:nvSpPr>
          <p:cNvPr id="27" name="Text 25"/>
          <p:cNvSpPr/>
          <p:nvPr/>
        </p:nvSpPr>
        <p:spPr>
          <a:xfrm>
            <a:off x="4407408" y="250545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Time to a trusted answer and reporting effort</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compared with the existing process.</a:t>
            </a:r>
            <a:endParaRPr lang="en-US" sz="1530" dirty="0"/>
          </a:p>
        </p:txBody>
      </p:sp>
      <p:sp>
        <p:nvSpPr>
          <p:cNvPr id="28" name="Shape 26"/>
          <p:cNvSpPr/>
          <p:nvPr/>
        </p:nvSpPr>
        <p:spPr>
          <a:xfrm>
            <a:off x="3794760" y="2962656"/>
            <a:ext cx="7781544" cy="0"/>
          </a:xfrm>
          <a:prstGeom prst="line">
            <a:avLst/>
          </a:prstGeom>
          <a:noFill/>
          <a:ln w="10160">
            <a:solidFill>
              <a:srgbClr val="D9E4DD"/>
            </a:solidFill>
            <a:prstDash val="solid"/>
          </a:ln>
        </p:spPr>
        <p:txBody>
          <a:bodyPr/>
          <a:p/>
        </p:txBody>
      </p:sp>
      <p:sp>
        <p:nvSpPr>
          <p:cNvPr id="29" name="Shape 27"/>
          <p:cNvSpPr/>
          <p:nvPr/>
        </p:nvSpPr>
        <p:spPr>
          <a:xfrm>
            <a:off x="3815791" y="3129991"/>
            <a:ext cx="378562" cy="378562"/>
          </a:xfrm>
          <a:prstGeom prst="ellipse">
            <a:avLst/>
          </a:prstGeom>
          <a:solidFill>
            <a:srgbClr val="F4F8F5"/>
          </a:solidFill>
          <a:ln w="17780">
            <a:solidFill>
              <a:srgbClr val="00843D"/>
            </a:solidFill>
            <a:prstDash val="solid"/>
          </a:ln>
        </p:spPr>
        <p:txBody>
          <a:bodyPr/>
          <a:p/>
        </p:txBody>
      </p:sp>
      <p:sp>
        <p:nvSpPr>
          <p:cNvPr id="30" name="Shape 28"/>
          <p:cNvSpPr/>
          <p:nvPr/>
        </p:nvSpPr>
        <p:spPr>
          <a:xfrm>
            <a:off x="3899916" y="3319272"/>
            <a:ext cx="73609" cy="73609"/>
          </a:xfrm>
          <a:prstGeom prst="line">
            <a:avLst/>
          </a:prstGeom>
          <a:noFill/>
          <a:ln w="26670">
            <a:solidFill>
              <a:srgbClr val="00843D"/>
            </a:solidFill>
            <a:prstDash val="solid"/>
          </a:ln>
        </p:spPr>
        <p:txBody>
          <a:bodyPr/>
          <a:p/>
        </p:txBody>
      </p:sp>
      <p:sp>
        <p:nvSpPr>
          <p:cNvPr id="31" name="Shape 29"/>
          <p:cNvSpPr/>
          <p:nvPr/>
        </p:nvSpPr>
        <p:spPr>
          <a:xfrm>
            <a:off x="3973525" y="3392881"/>
            <a:ext cx="147218" cy="-157734"/>
          </a:xfrm>
          <a:prstGeom prst="line">
            <a:avLst/>
          </a:prstGeom>
          <a:noFill/>
          <a:ln w="26670">
            <a:solidFill>
              <a:srgbClr val="00843D"/>
            </a:solidFill>
            <a:prstDash val="solid"/>
          </a:ln>
        </p:spPr>
        <p:txBody>
          <a:bodyPr/>
          <a:p/>
        </p:txBody>
      </p:sp>
      <p:sp>
        <p:nvSpPr>
          <p:cNvPr id="32" name="Text 30"/>
          <p:cNvSpPr/>
          <p:nvPr/>
        </p:nvSpPr>
        <p:spPr>
          <a:xfrm>
            <a:off x="4407408" y="299008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Answer quality</a:t>
            </a:r>
            <a:endParaRPr lang="en-US" sz="1900" dirty="0"/>
          </a:p>
        </p:txBody>
      </p:sp>
      <p:sp>
        <p:nvSpPr>
          <p:cNvPr id="33" name="Text 31"/>
          <p:cNvSpPr/>
          <p:nvPr/>
        </p:nvSpPr>
        <p:spPr>
          <a:xfrm>
            <a:off x="4407408" y="337413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Agreement with approved results; preserve</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values, dates, sources and warnings.</a:t>
            </a:r>
            <a:endParaRPr lang="en-US" sz="1530" dirty="0"/>
          </a:p>
        </p:txBody>
      </p:sp>
      <p:sp>
        <p:nvSpPr>
          <p:cNvPr id="34" name="Shape 32"/>
          <p:cNvSpPr/>
          <p:nvPr/>
        </p:nvSpPr>
        <p:spPr>
          <a:xfrm>
            <a:off x="3794760" y="3831336"/>
            <a:ext cx="7781544" cy="0"/>
          </a:xfrm>
          <a:prstGeom prst="line">
            <a:avLst/>
          </a:prstGeom>
          <a:noFill/>
          <a:ln w="10160">
            <a:solidFill>
              <a:srgbClr val="D9E4DD"/>
            </a:solidFill>
            <a:prstDash val="solid"/>
          </a:ln>
        </p:spPr>
        <p:txBody>
          <a:bodyPr/>
          <a:p/>
        </p:txBody>
      </p:sp>
      <p:sp>
        <p:nvSpPr>
          <p:cNvPr id="35" name="Shape 33"/>
          <p:cNvSpPr/>
          <p:nvPr/>
        </p:nvSpPr>
        <p:spPr>
          <a:xfrm rot="10800000">
            <a:off x="3847338" y="4009187"/>
            <a:ext cx="315468" cy="357530"/>
          </a:xfrm>
          <a:prstGeom prst="pentagon">
            <a:avLst/>
          </a:prstGeom>
          <a:solidFill>
            <a:srgbClr val="F4F8F5"/>
          </a:solidFill>
          <a:ln w="19050">
            <a:solidFill>
              <a:srgbClr val="00843D"/>
            </a:solidFill>
            <a:prstDash val="solid"/>
          </a:ln>
        </p:spPr>
        <p:txBody>
          <a:bodyPr/>
          <a:p/>
        </p:txBody>
      </p:sp>
      <p:sp>
        <p:nvSpPr>
          <p:cNvPr id="36" name="Shape 34"/>
          <p:cNvSpPr/>
          <p:nvPr/>
        </p:nvSpPr>
        <p:spPr>
          <a:xfrm>
            <a:off x="3920947" y="4177436"/>
            <a:ext cx="63094" cy="63094"/>
          </a:xfrm>
          <a:prstGeom prst="line">
            <a:avLst/>
          </a:prstGeom>
          <a:noFill/>
          <a:ln w="22860">
            <a:solidFill>
              <a:srgbClr val="00843D"/>
            </a:solidFill>
            <a:prstDash val="solid"/>
          </a:ln>
        </p:spPr>
        <p:txBody>
          <a:bodyPr/>
          <a:p/>
        </p:txBody>
      </p:sp>
      <p:sp>
        <p:nvSpPr>
          <p:cNvPr id="37" name="Shape 35"/>
          <p:cNvSpPr/>
          <p:nvPr/>
        </p:nvSpPr>
        <p:spPr>
          <a:xfrm>
            <a:off x="3984041" y="4240530"/>
            <a:ext cx="115672" cy="-136703"/>
          </a:xfrm>
          <a:prstGeom prst="line">
            <a:avLst/>
          </a:prstGeom>
          <a:noFill/>
          <a:ln w="22860">
            <a:solidFill>
              <a:srgbClr val="00843D"/>
            </a:solidFill>
            <a:prstDash val="solid"/>
          </a:ln>
        </p:spPr>
        <p:txBody>
          <a:bodyPr/>
          <a:p/>
        </p:txBody>
      </p:sp>
      <p:sp>
        <p:nvSpPr>
          <p:cNvPr id="38" name="Text 36"/>
          <p:cNvSpPr/>
          <p:nvPr/>
        </p:nvSpPr>
        <p:spPr>
          <a:xfrm>
            <a:off x="4407408" y="385876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Access &amp; privacy</a:t>
            </a:r>
            <a:endParaRPr lang="en-US" sz="1900" dirty="0"/>
          </a:p>
        </p:txBody>
      </p:sp>
      <p:sp>
        <p:nvSpPr>
          <p:cNvPr id="39" name="Text 37"/>
          <p:cNvSpPr/>
          <p:nvPr/>
        </p:nvSpPr>
        <p:spPr>
          <a:xfrm>
            <a:off x="4407408" y="424281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No unauthorized disclosure in the agreed tests;</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use only approved model payloads.</a:t>
            </a:r>
            <a:endParaRPr lang="en-US" sz="1530" dirty="0"/>
          </a:p>
        </p:txBody>
      </p:sp>
      <p:sp>
        <p:nvSpPr>
          <p:cNvPr id="40" name="Shape 38"/>
          <p:cNvSpPr/>
          <p:nvPr/>
        </p:nvSpPr>
        <p:spPr>
          <a:xfrm>
            <a:off x="3794760" y="4700016"/>
            <a:ext cx="7781544" cy="0"/>
          </a:xfrm>
          <a:prstGeom prst="line">
            <a:avLst/>
          </a:prstGeom>
          <a:noFill/>
          <a:ln w="10160">
            <a:solidFill>
              <a:srgbClr val="D9E4DD"/>
            </a:solidFill>
            <a:prstDash val="solid"/>
          </a:ln>
        </p:spPr>
        <p:txBody>
          <a:bodyPr/>
          <a:p/>
        </p:txBody>
      </p:sp>
      <p:sp>
        <p:nvSpPr>
          <p:cNvPr id="41" name="Shape 39"/>
          <p:cNvSpPr/>
          <p:nvPr/>
        </p:nvSpPr>
        <p:spPr>
          <a:xfrm>
            <a:off x="3836822" y="4888382"/>
            <a:ext cx="0" cy="336499"/>
          </a:xfrm>
          <a:prstGeom prst="line">
            <a:avLst/>
          </a:prstGeom>
          <a:noFill/>
          <a:ln w="20320">
            <a:solidFill>
              <a:srgbClr val="00843D"/>
            </a:solidFill>
            <a:prstDash val="solid"/>
          </a:ln>
        </p:spPr>
        <p:txBody>
          <a:bodyPr/>
          <a:p/>
        </p:txBody>
      </p:sp>
      <p:sp>
        <p:nvSpPr>
          <p:cNvPr id="42" name="Shape 40"/>
          <p:cNvSpPr/>
          <p:nvPr/>
        </p:nvSpPr>
        <p:spPr>
          <a:xfrm>
            <a:off x="3836822" y="5224882"/>
            <a:ext cx="357530" cy="0"/>
          </a:xfrm>
          <a:prstGeom prst="line">
            <a:avLst/>
          </a:prstGeom>
          <a:noFill/>
          <a:ln w="20320">
            <a:solidFill>
              <a:srgbClr val="00843D"/>
            </a:solidFill>
            <a:prstDash val="solid"/>
          </a:ln>
        </p:spPr>
        <p:txBody>
          <a:bodyPr/>
          <a:p/>
        </p:txBody>
      </p:sp>
      <p:sp>
        <p:nvSpPr>
          <p:cNvPr id="43" name="Shape 41"/>
          <p:cNvSpPr/>
          <p:nvPr/>
        </p:nvSpPr>
        <p:spPr>
          <a:xfrm>
            <a:off x="3889400" y="5077663"/>
            <a:ext cx="63094" cy="126187"/>
          </a:xfrm>
          <a:prstGeom prst="rect">
            <a:avLst/>
          </a:prstGeom>
          <a:solidFill>
            <a:srgbClr val="EAF4EE"/>
          </a:solidFill>
          <a:ln w="12700">
            <a:solidFill>
              <a:srgbClr val="00843D"/>
            </a:solidFill>
            <a:prstDash val="solid"/>
          </a:ln>
        </p:spPr>
        <p:txBody>
          <a:bodyPr/>
          <a:p/>
        </p:txBody>
      </p:sp>
      <p:sp>
        <p:nvSpPr>
          <p:cNvPr id="44" name="Shape 42"/>
          <p:cNvSpPr/>
          <p:nvPr/>
        </p:nvSpPr>
        <p:spPr>
          <a:xfrm>
            <a:off x="4005072" y="5004054"/>
            <a:ext cx="63094" cy="199796"/>
          </a:xfrm>
          <a:prstGeom prst="rect">
            <a:avLst/>
          </a:prstGeom>
          <a:solidFill>
            <a:srgbClr val="EAF4EE"/>
          </a:solidFill>
          <a:ln w="12700">
            <a:solidFill>
              <a:srgbClr val="00843D"/>
            </a:solidFill>
            <a:prstDash val="solid"/>
          </a:ln>
        </p:spPr>
        <p:txBody>
          <a:bodyPr/>
          <a:p/>
        </p:txBody>
      </p:sp>
      <p:sp>
        <p:nvSpPr>
          <p:cNvPr id="45" name="Shape 43"/>
          <p:cNvSpPr/>
          <p:nvPr/>
        </p:nvSpPr>
        <p:spPr>
          <a:xfrm>
            <a:off x="4120744" y="4919929"/>
            <a:ext cx="63094" cy="283921"/>
          </a:xfrm>
          <a:prstGeom prst="rect">
            <a:avLst/>
          </a:prstGeom>
          <a:solidFill>
            <a:srgbClr val="EAF4EE"/>
          </a:solidFill>
          <a:ln w="12700">
            <a:solidFill>
              <a:srgbClr val="00843D"/>
            </a:solidFill>
            <a:prstDash val="solid"/>
          </a:ln>
        </p:spPr>
        <p:txBody>
          <a:bodyPr/>
          <a:p/>
        </p:txBody>
      </p:sp>
      <p:sp>
        <p:nvSpPr>
          <p:cNvPr id="46" name="Text 44"/>
          <p:cNvSpPr/>
          <p:nvPr/>
        </p:nvSpPr>
        <p:spPr>
          <a:xfrm>
            <a:off x="4407408" y="472744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Operational fit</a:t>
            </a:r>
            <a:endParaRPr lang="en-US" sz="1900" dirty="0"/>
          </a:p>
        </p:txBody>
      </p:sp>
      <p:sp>
        <p:nvSpPr>
          <p:cNvPr id="47" name="Text 45"/>
          <p:cNvSpPr/>
          <p:nvPr/>
        </p:nvSpPr>
        <p:spPr>
          <a:xfrm>
            <a:off x="4407408" y="5111496"/>
            <a:ext cx="6894576" cy="457200"/>
          </a:xfrm>
          <a:prstGeom prst="rect">
            <a:avLst/>
          </a:prstGeom>
          <a:noFill/>
          <a:ln/>
        </p:spPr>
        <p:txBody>
          <a:bodyPr wrap="square" lIns="0" tIns="0" rIns="0" bIns="0" rtlCol="0" anchor="ctr"/>
          <a:lstStyle/>
          <a:p>
            <a:pPr indent="0" marL="0">
              <a:buNone/>
            </a:pPr>
            <a:r>
              <a:rPr lang="en-US" sz="1500" dirty="0">
                <a:solidFill>
                  <a:srgbClr val="52635E"/>
                </a:solidFill>
                <a:latin typeface="Arial" pitchFamily="34" charset="0"/>
                <a:ea typeface="Arial" pitchFamily="34" charset="-122"/>
                <a:cs typeface="Arial" pitchFamily="34" charset="-120"/>
              </a:rPr>
              <a:t>Response time, freshness, source impact and total cost</a:t>
            </a:r>
            <a:endParaRPr lang="en-US" sz="1530" dirty="0"/>
          </a:p>
          <a:p>
            <a:pPr indent="0" marL="0">
              <a:buNone/>
            </a:pPr>
            <a:r>
              <a:rPr lang="en-US" sz="1500" dirty="0">
                <a:solidFill>
                  <a:srgbClr val="52635E"/>
                </a:solidFill>
                <a:latin typeface="Arial" pitchFamily="34" charset="0"/>
                <a:ea typeface="Arial" pitchFamily="34" charset="-122"/>
                <a:cs typeface="Arial" pitchFamily="34" charset="-120"/>
              </a:rPr>
              <a:t>for each candidate path under representative peak use.</a:t>
            </a:r>
          </a:p>
        </p:txBody>
      </p:sp>
      <p:sp>
        <p:nvSpPr>
          <p:cNvPr id="48" name="Shape 4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9" name="Shape 4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50" name="Text 4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PILOT EXIT</a:t>
            </a:r>
            <a:endParaRPr lang="en-US" sz="950" dirty="0"/>
          </a:p>
        </p:txBody>
      </p:sp>
      <p:sp>
        <p:nvSpPr>
          <p:cNvPr id="51" name="Text 4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Expand, adjust or pause based on evidence—not on feature count alone.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DECISIONS REQUIRED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Six decisions turn integration options into a delivery plan.</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Confirm the priorities and accountable functions; implementation remains separately gated.</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S3–S7 · proposed decisions</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15</a:t>
            </a:r>
            <a:endParaRPr lang="en-US" sz="1050" dirty="0"/>
          </a:p>
        </p:txBody>
      </p:sp>
      <p:sp>
        <p:nvSpPr>
          <p:cNvPr id="12" name="Rectangle 11"/>
          <p:cNvSpPr/>
          <p:nvPr/>
        </p:nvSpPr>
        <p:spPr>
          <a:xfrm>
            <a:off x="594360" y="2057400"/>
            <a:ext cx="11000232" cy="374904"/>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157984"/>
            <a:ext cx="219456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DECISION</a:t>
            </a:r>
          </a:p>
        </p:txBody>
      </p:sp>
      <p:sp>
        <p:nvSpPr>
          <p:cNvPr id="14" name="TextBox 13"/>
          <p:cNvSpPr txBox="1"/>
          <p:nvPr/>
        </p:nvSpPr>
        <p:spPr>
          <a:xfrm>
            <a:off x="3136392" y="2157984"/>
            <a:ext cx="566928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LEADERSHIP ACTION</a:t>
            </a:r>
          </a:p>
        </p:txBody>
      </p:sp>
      <p:sp>
        <p:nvSpPr>
          <p:cNvPr id="15" name="TextBox 14"/>
          <p:cNvSpPr txBox="1"/>
          <p:nvPr/>
        </p:nvSpPr>
        <p:spPr>
          <a:xfrm>
            <a:off x="9144000" y="2157984"/>
            <a:ext cx="2286000" cy="155448"/>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FFFFFF"/>
                </a:solidFill>
                <a:latin typeface="Arial"/>
              </a:rPr>
              <a:t>ACCOUNTABLE FUNCTIONS</a:t>
            </a:r>
          </a:p>
        </p:txBody>
      </p:sp>
      <p:sp>
        <p:nvSpPr>
          <p:cNvPr id="16" name="Rectangle 15"/>
          <p:cNvSpPr/>
          <p:nvPr/>
        </p:nvSpPr>
        <p:spPr>
          <a:xfrm>
            <a:off x="594360" y="243230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5603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01</a:t>
            </a:r>
          </a:p>
        </p:txBody>
      </p:sp>
      <p:sp>
        <p:nvSpPr>
          <p:cNvPr id="18" name="TextBox 17"/>
          <p:cNvSpPr txBox="1"/>
          <p:nvPr/>
        </p:nvSpPr>
        <p:spPr>
          <a:xfrm>
            <a:off x="1307592" y="24981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Pilot focus</a:t>
            </a:r>
          </a:p>
          <a:p>
            <a:pPr algn="l">
              <a:lnSpc>
                <a:spcPct val="108000"/>
              </a:lnSpc>
              <a:spcBef>
                <a:spcPts val="0"/>
              </a:spcBef>
              <a:spcAft>
                <a:spcPts val="0"/>
              </a:spcAft>
            </a:pPr>
            <a:r>
              <a:rPr sz="1330" b="1">
                <a:solidFill>
                  <a:srgbClr val="182425"/>
                </a:solidFill>
                <a:latin typeface="Arial"/>
              </a:rPr>
              <a:t>&amp; capacity</a:t>
            </a:r>
          </a:p>
        </p:txBody>
      </p:sp>
      <p:sp>
        <p:nvSpPr>
          <p:cNvPr id="19" name="TextBox 18"/>
          <p:cNvSpPr txBox="1"/>
          <p:nvPr/>
        </p:nvSpPr>
        <p:spPr>
          <a:xfrm>
            <a:off x="3136392" y="24963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Approve pilot scope and bounded integration discovery;</a:t>
            </a:r>
          </a:p>
          <a:p>
            <a:pPr algn="l">
              <a:lnSpc>
                <a:spcPct val="108000"/>
              </a:lnSpc>
              <a:spcBef>
                <a:spcPts val="0"/>
              </a:spcBef>
              <a:spcAft>
                <a:spcPts val="0"/>
              </a:spcAft>
            </a:pPr>
            <a:r>
              <a:rPr sz="1310" b="0">
                <a:solidFill>
                  <a:srgbClr val="182425"/>
                </a:solidFill>
                <a:latin typeface="Arial"/>
              </a:rPr>
              <a:t>confirm capacity and success measures.</a:t>
            </a:r>
          </a:p>
        </p:txBody>
      </p:sp>
      <p:sp>
        <p:nvSpPr>
          <p:cNvPr id="20" name="TextBox 19"/>
          <p:cNvSpPr txBox="1"/>
          <p:nvPr/>
        </p:nvSpPr>
        <p:spPr>
          <a:xfrm>
            <a:off x="9144000" y="25054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Business sponsor</a:t>
            </a:r>
          </a:p>
          <a:p>
            <a:pPr algn="l">
              <a:lnSpc>
                <a:spcPct val="108000"/>
              </a:lnSpc>
              <a:spcBef>
                <a:spcPts val="0"/>
              </a:spcBef>
              <a:spcAft>
                <a:spcPts val="0"/>
              </a:spcAft>
            </a:pPr>
            <a:r>
              <a:rPr sz="1170" b="1">
                <a:solidFill>
                  <a:srgbClr val="005238"/>
                </a:solidFill>
                <a:latin typeface="Arial"/>
              </a:rPr>
              <a:t>&amp; Product</a:t>
            </a:r>
          </a:p>
        </p:txBody>
      </p:sp>
      <p:cxnSp>
        <p:nvCxnSpPr>
          <p:cNvPr id="21" name="Connector 20"/>
          <p:cNvCxnSpPr/>
          <p:nvPr/>
        </p:nvCxnSpPr>
        <p:spPr>
          <a:xfrm>
            <a:off x="594360" y="29580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94360" y="295808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08610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02</a:t>
            </a:r>
          </a:p>
        </p:txBody>
      </p:sp>
      <p:sp>
        <p:nvSpPr>
          <p:cNvPr id="24" name="TextBox 23"/>
          <p:cNvSpPr txBox="1"/>
          <p:nvPr/>
        </p:nvSpPr>
        <p:spPr>
          <a:xfrm>
            <a:off x="1307592" y="302392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Genie</a:t>
            </a:r>
          </a:p>
          <a:p>
            <a:pPr algn="l">
              <a:lnSpc>
                <a:spcPct val="108000"/>
              </a:lnSpc>
              <a:spcBef>
                <a:spcPts val="0"/>
              </a:spcBef>
              <a:spcAft>
                <a:spcPts val="0"/>
              </a:spcAft>
            </a:pPr>
            <a:r>
              <a:rPr sz="1330" b="1">
                <a:solidFill>
                  <a:srgbClr val="182425"/>
                </a:solidFill>
                <a:latin typeface="Arial"/>
              </a:rPr>
              <a:t>evaluation</a:t>
            </a:r>
          </a:p>
        </p:txBody>
      </p:sp>
      <p:sp>
        <p:nvSpPr>
          <p:cNvPr id="25" name="TextBox 24"/>
          <p:cNvSpPr txBox="1"/>
          <p:nvPr/>
        </p:nvSpPr>
        <p:spPr>
          <a:xfrm>
            <a:off x="3136392" y="302209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Choose one domain and agreed comparison criteria;</a:t>
            </a:r>
          </a:p>
          <a:p>
            <a:pPr algn="l">
              <a:lnSpc>
                <a:spcPct val="108000"/>
              </a:lnSpc>
              <a:spcBef>
                <a:spcPts val="0"/>
              </a:spcBef>
              <a:spcAft>
                <a:spcPts val="0"/>
              </a:spcAft>
            </a:pPr>
            <a:r>
              <a:rPr sz="1310" b="0">
                <a:solidFill>
                  <a:srgbClr val="182425"/>
                </a:solidFill>
                <a:latin typeface="Arial"/>
              </a:rPr>
              <a:t>sponsor the assessment before any rollout decision.</a:t>
            </a:r>
          </a:p>
        </p:txBody>
      </p:sp>
      <p:sp>
        <p:nvSpPr>
          <p:cNvPr id="26" name="TextBox 25"/>
          <p:cNvSpPr txBox="1"/>
          <p:nvPr/>
        </p:nvSpPr>
        <p:spPr>
          <a:xfrm>
            <a:off x="9144000" y="303123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Product</a:t>
            </a:r>
          </a:p>
          <a:p>
            <a:pPr algn="l">
              <a:lnSpc>
                <a:spcPct val="108000"/>
              </a:lnSpc>
              <a:spcBef>
                <a:spcPts val="0"/>
              </a:spcBef>
              <a:spcAft>
                <a:spcPts val="0"/>
              </a:spcAft>
            </a:pPr>
            <a:r>
              <a:rPr sz="1170" b="1">
                <a:solidFill>
                  <a:srgbClr val="005238"/>
                </a:solidFill>
                <a:latin typeface="Arial"/>
              </a:rPr>
              <a:t>&amp; Architecture</a:t>
            </a:r>
          </a:p>
        </p:txBody>
      </p:sp>
      <p:cxnSp>
        <p:nvCxnSpPr>
          <p:cNvPr id="27" name="Connector 26"/>
          <p:cNvCxnSpPr/>
          <p:nvPr/>
        </p:nvCxnSpPr>
        <p:spPr>
          <a:xfrm>
            <a:off x="594360" y="348386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94360" y="348386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61188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03</a:t>
            </a:r>
          </a:p>
        </p:txBody>
      </p:sp>
      <p:sp>
        <p:nvSpPr>
          <p:cNvPr id="30" name="TextBox 29"/>
          <p:cNvSpPr txBox="1"/>
          <p:nvPr/>
        </p:nvSpPr>
        <p:spPr>
          <a:xfrm>
            <a:off x="1307592" y="354970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On-premises</a:t>
            </a:r>
          </a:p>
          <a:p>
            <a:pPr algn="l">
              <a:lnSpc>
                <a:spcPct val="108000"/>
              </a:lnSpc>
              <a:spcBef>
                <a:spcPts val="0"/>
              </a:spcBef>
              <a:spcAft>
                <a:spcPts val="0"/>
              </a:spcAft>
            </a:pPr>
            <a:r>
              <a:rPr sz="1330" b="1">
                <a:solidFill>
                  <a:srgbClr val="182425"/>
                </a:solidFill>
                <a:latin typeface="Arial"/>
              </a:rPr>
              <a:t>priority</a:t>
            </a:r>
          </a:p>
        </p:txBody>
      </p:sp>
      <p:sp>
        <p:nvSpPr>
          <p:cNvPr id="31" name="TextBox 30"/>
          <p:cNvSpPr txBox="1"/>
          <p:nvPr/>
        </p:nvSpPr>
        <p:spPr>
          <a:xfrm>
            <a:off x="3136392" y="354787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the first use case and source owner;</a:t>
            </a:r>
          </a:p>
          <a:p>
            <a:pPr algn="l">
              <a:lnSpc>
                <a:spcPct val="108000"/>
              </a:lnSpc>
              <a:spcBef>
                <a:spcPts val="0"/>
              </a:spcBef>
              <a:spcAft>
                <a:spcPts val="0"/>
              </a:spcAft>
            </a:pPr>
            <a:r>
              <a:rPr sz="1310" b="0">
                <a:solidFill>
                  <a:srgbClr val="182425"/>
                </a:solidFill>
                <a:latin typeface="Arial"/>
              </a:rPr>
              <a:t>confirm the access path and workload budget.</a:t>
            </a:r>
          </a:p>
        </p:txBody>
      </p:sp>
      <p:sp>
        <p:nvSpPr>
          <p:cNvPr id="32" name="TextBox 31"/>
          <p:cNvSpPr txBox="1"/>
          <p:nvPr/>
        </p:nvSpPr>
        <p:spPr>
          <a:xfrm>
            <a:off x="9144000" y="355701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owners</a:t>
            </a:r>
          </a:p>
          <a:p>
            <a:pPr algn="l">
              <a:lnSpc>
                <a:spcPct val="108000"/>
              </a:lnSpc>
              <a:spcBef>
                <a:spcPts val="0"/>
              </a:spcBef>
              <a:spcAft>
                <a:spcPts val="0"/>
              </a:spcAft>
            </a:pPr>
            <a:r>
              <a:rPr sz="1170" b="1">
                <a:solidFill>
                  <a:srgbClr val="005238"/>
                </a:solidFill>
                <a:latin typeface="Arial"/>
              </a:rPr>
              <a:t>&amp; Platform</a:t>
            </a:r>
          </a:p>
        </p:txBody>
      </p:sp>
      <p:cxnSp>
        <p:nvCxnSpPr>
          <p:cNvPr id="33" name="Connector 32"/>
          <p:cNvCxnSpPr/>
          <p:nvPr/>
        </p:nvCxnSpPr>
        <p:spPr>
          <a:xfrm>
            <a:off x="594360" y="400964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94360" y="400964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37659"/>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04</a:t>
            </a:r>
          </a:p>
        </p:txBody>
      </p:sp>
      <p:sp>
        <p:nvSpPr>
          <p:cNvPr id="36" name="TextBox 35"/>
          <p:cNvSpPr txBox="1"/>
          <p:nvPr/>
        </p:nvSpPr>
        <p:spPr>
          <a:xfrm>
            <a:off x="1307592" y="407548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Collibra</a:t>
            </a:r>
          </a:p>
          <a:p>
            <a:pPr algn="l">
              <a:lnSpc>
                <a:spcPct val="108000"/>
              </a:lnSpc>
              <a:spcBef>
                <a:spcPts val="0"/>
              </a:spcBef>
              <a:spcAft>
                <a:spcPts val="0"/>
              </a:spcAft>
            </a:pPr>
            <a:r>
              <a:rPr sz="1330" b="1">
                <a:solidFill>
                  <a:srgbClr val="182425"/>
                </a:solidFill>
                <a:latin typeface="Arial"/>
              </a:rPr>
              <a:t>&amp; semantics</a:t>
            </a:r>
          </a:p>
        </p:txBody>
      </p:sp>
      <p:sp>
        <p:nvSpPr>
          <p:cNvPr id="37" name="TextBox 36"/>
          <p:cNvSpPr txBox="1"/>
          <p:nvPr/>
        </p:nvSpPr>
        <p:spPr>
          <a:xfrm>
            <a:off x="3136392" y="407365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definition and API owners; approve the</a:t>
            </a:r>
          </a:p>
          <a:p>
            <a:pPr algn="l">
              <a:lnSpc>
                <a:spcPct val="108000"/>
              </a:lnSpc>
              <a:spcBef>
                <a:spcPts val="0"/>
              </a:spcBef>
              <a:spcAft>
                <a:spcPts val="0"/>
              </a:spcAft>
            </a:pPr>
            <a:r>
              <a:rPr sz="1310" b="0">
                <a:solidFill>
                  <a:srgbClr val="182425"/>
                </a:solidFill>
                <a:latin typeface="Arial"/>
              </a:rPr>
              <a:t>read-only metadata contract and refresh expectations.</a:t>
            </a:r>
          </a:p>
        </p:txBody>
      </p:sp>
      <p:sp>
        <p:nvSpPr>
          <p:cNvPr id="38" name="TextBox 37"/>
          <p:cNvSpPr txBox="1"/>
          <p:nvPr/>
        </p:nvSpPr>
        <p:spPr>
          <a:xfrm>
            <a:off x="9144000" y="408279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Governance</a:t>
            </a:r>
          </a:p>
          <a:p>
            <a:pPr algn="l">
              <a:lnSpc>
                <a:spcPct val="108000"/>
              </a:lnSpc>
              <a:spcBef>
                <a:spcPts val="0"/>
              </a:spcBef>
              <a:spcAft>
                <a:spcPts val="0"/>
              </a:spcAft>
            </a:pPr>
            <a:r>
              <a:rPr sz="1170" b="1">
                <a:solidFill>
                  <a:srgbClr val="005238"/>
                </a:solidFill>
                <a:latin typeface="Arial"/>
              </a:rPr>
              <a:t>&amp; Platform</a:t>
            </a:r>
          </a:p>
        </p:txBody>
      </p:sp>
      <p:cxnSp>
        <p:nvCxnSpPr>
          <p:cNvPr id="39" name="Connector 38"/>
          <p:cNvCxnSpPr/>
          <p:nvPr/>
        </p:nvCxnSpPr>
        <p:spPr>
          <a:xfrm>
            <a:off x="594360" y="453542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53542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8" y="466344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05</a:t>
            </a:r>
          </a:p>
        </p:txBody>
      </p:sp>
      <p:sp>
        <p:nvSpPr>
          <p:cNvPr id="42" name="TextBox 41"/>
          <p:cNvSpPr txBox="1"/>
          <p:nvPr/>
        </p:nvSpPr>
        <p:spPr>
          <a:xfrm>
            <a:off x="1307592" y="460126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Controls</a:t>
            </a:r>
          </a:p>
          <a:p>
            <a:pPr algn="l">
              <a:lnSpc>
                <a:spcPct val="108000"/>
              </a:lnSpc>
              <a:spcBef>
                <a:spcPts val="0"/>
              </a:spcBef>
              <a:spcAft>
                <a:spcPts val="0"/>
              </a:spcAft>
            </a:pPr>
            <a:r>
              <a:rPr sz="1330" b="1">
                <a:solidFill>
                  <a:srgbClr val="182425"/>
                </a:solidFill>
                <a:latin typeface="Arial"/>
              </a:rPr>
              <a:t>&amp; privacy</a:t>
            </a:r>
          </a:p>
        </p:txBody>
      </p:sp>
      <p:sp>
        <p:nvSpPr>
          <p:cNvPr id="43" name="TextBox 42"/>
          <p:cNvSpPr txBox="1"/>
          <p:nvPr/>
        </p:nvSpPr>
        <p:spPr>
          <a:xfrm>
            <a:off x="3136392" y="459943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Agree approval/change policies and permitted AI use;</a:t>
            </a:r>
          </a:p>
          <a:p>
            <a:pPr algn="l">
              <a:lnSpc>
                <a:spcPct val="108000"/>
              </a:lnSpc>
              <a:spcBef>
                <a:spcPts val="0"/>
              </a:spcBef>
              <a:spcAft>
                <a:spcPts val="0"/>
              </a:spcAft>
            </a:pPr>
            <a:r>
              <a:rPr sz="1310" b="0">
                <a:solidFill>
                  <a:srgbClr val="182425"/>
                </a:solidFill>
                <a:latin typeface="Arial"/>
              </a:rPr>
              <a:t>keep result-formatting AI off until approved.</a:t>
            </a:r>
          </a:p>
        </p:txBody>
      </p:sp>
      <p:sp>
        <p:nvSpPr>
          <p:cNvPr id="44" name="TextBox 43"/>
          <p:cNvSpPr txBox="1"/>
          <p:nvPr/>
        </p:nvSpPr>
        <p:spPr>
          <a:xfrm>
            <a:off x="9144000" y="460857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Governance / Product</a:t>
            </a:r>
          </a:p>
          <a:p>
            <a:pPr algn="l">
              <a:lnSpc>
                <a:spcPct val="108000"/>
              </a:lnSpc>
              <a:spcBef>
                <a:spcPts val="0"/>
              </a:spcBef>
              <a:spcAft>
                <a:spcPts val="0"/>
              </a:spcAft>
            </a:pPr>
            <a:r>
              <a:rPr sz="1170" b="1">
                <a:solidFill>
                  <a:srgbClr val="005238"/>
                </a:solidFill>
                <a:latin typeface="Arial"/>
              </a:rPr>
              <a:t>&amp; Privacy / Security</a:t>
            </a:r>
          </a:p>
        </p:txBody>
      </p:sp>
      <p:cxnSp>
        <p:nvCxnSpPr>
          <p:cNvPr id="45" name="Connector 44"/>
          <p:cNvCxnSpPr/>
          <p:nvPr/>
        </p:nvCxnSpPr>
        <p:spPr>
          <a:xfrm>
            <a:off x="594360" y="506120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594360" y="506120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8" y="51892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06</a:t>
            </a:r>
          </a:p>
        </p:txBody>
      </p:sp>
      <p:sp>
        <p:nvSpPr>
          <p:cNvPr id="48" name="TextBox 47"/>
          <p:cNvSpPr txBox="1"/>
          <p:nvPr/>
        </p:nvSpPr>
        <p:spPr>
          <a:xfrm>
            <a:off x="1307592" y="51270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Operations</a:t>
            </a:r>
          </a:p>
          <a:p>
            <a:pPr algn="l">
              <a:lnSpc>
                <a:spcPct val="108000"/>
              </a:lnSpc>
              <a:spcBef>
                <a:spcPts val="0"/>
              </a:spcBef>
              <a:spcAft>
                <a:spcPts val="0"/>
              </a:spcAft>
            </a:pPr>
            <a:r>
              <a:rPr sz="1330" b="1">
                <a:solidFill>
                  <a:srgbClr val="182425"/>
                </a:solidFill>
                <a:latin typeface="Arial"/>
              </a:rPr>
              <a:t>&amp; release</a:t>
            </a:r>
          </a:p>
        </p:txBody>
      </p:sp>
      <p:sp>
        <p:nvSpPr>
          <p:cNvPr id="49" name="TextBox 48"/>
          <p:cNvSpPr txBox="1"/>
          <p:nvPr/>
        </p:nvSpPr>
        <p:spPr>
          <a:xfrm>
            <a:off x="3136392" y="51252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Set service and cost goals, acceptance evidence</a:t>
            </a:r>
          </a:p>
          <a:p>
            <a:pPr algn="l">
              <a:lnSpc>
                <a:spcPct val="108000"/>
              </a:lnSpc>
              <a:spcBef>
                <a:spcPts val="0"/>
              </a:spcBef>
              <a:spcAft>
                <a:spcPts val="0"/>
              </a:spcAft>
            </a:pPr>
            <a:r>
              <a:rPr sz="1310" b="0">
                <a:solidFill>
                  <a:srgbClr val="182425"/>
                </a:solidFill>
                <a:latin typeface="Arial"/>
              </a:rPr>
              <a:t>and the pilot go/no-go authority.</a:t>
            </a:r>
          </a:p>
        </p:txBody>
      </p:sp>
      <p:sp>
        <p:nvSpPr>
          <p:cNvPr id="50" name="TextBox 49"/>
          <p:cNvSpPr txBox="1"/>
          <p:nvPr/>
        </p:nvSpPr>
        <p:spPr>
          <a:xfrm>
            <a:off x="9144000" y="51343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Architecture</a:t>
            </a:r>
          </a:p>
          <a:p>
            <a:pPr algn="l">
              <a:lnSpc>
                <a:spcPct val="108000"/>
              </a:lnSpc>
              <a:spcBef>
                <a:spcPts val="0"/>
              </a:spcBef>
              <a:spcAft>
                <a:spcPts val="0"/>
              </a:spcAft>
            </a:pPr>
            <a:r>
              <a:rPr sz="1170" b="1">
                <a:solidFill>
                  <a:srgbClr val="005238"/>
                </a:solidFill>
                <a:latin typeface="Arial"/>
              </a:rPr>
              <a:t>&amp; Operations</a:t>
            </a:r>
          </a:p>
        </p:txBody>
      </p:sp>
      <p:cxnSp>
        <p:nvCxnSpPr>
          <p:cNvPr id="51" name="Connector 50"/>
          <p:cNvCxnSpPr/>
          <p:nvPr/>
        </p:nvCxnSpPr>
        <p:spPr>
          <a:xfrm>
            <a:off x="594360" y="55869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RECOMMENDED ASK</a:t>
            </a:r>
          </a:p>
        </p:txBody>
      </p:sp>
      <p:sp>
        <p:nvSpPr>
          <p:cNvPr id="55" name="TextBox 5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Endorse the sequence and assign owners; commit delivery dates only after readiness is confirmed.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DELIVERY CONFIDENCE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Capability status: what is delivered versus still ahead.</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Architecture decisions are not evidence of production activation.</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16</a:t>
            </a:r>
            <a:endParaRPr lang="en-US" sz="1050" dirty="0"/>
          </a:p>
        </p:txBody>
      </p:sp>
      <p:sp>
        <p:nvSpPr>
          <p:cNvPr id="12" name="Shape 10"/>
          <p:cNvSpPr/>
          <p:nvPr/>
        </p:nvSpPr>
        <p:spPr>
          <a:xfrm>
            <a:off x="594360" y="2057400"/>
            <a:ext cx="11000232" cy="786384"/>
          </a:xfrm>
          <a:prstGeom prst="rect">
            <a:avLst/>
          </a:prstGeom>
          <a:solidFill>
            <a:srgbClr val="EAF4EE"/>
          </a:solidFill>
          <a:ln w="7620">
            <a:solidFill>
              <a:srgbClr val="D9E4DD"/>
            </a:solidFill>
            <a:prstDash val="solid"/>
          </a:ln>
        </p:spPr>
        <p:txBody>
          <a:bodyPr/>
          <a:p/>
        </p:txBody>
      </p:sp>
      <p:sp>
        <p:nvSpPr>
          <p:cNvPr id="13" name="Text 11"/>
          <p:cNvSpPr/>
          <p:nvPr/>
        </p:nvSpPr>
        <p:spPr>
          <a:xfrm>
            <a:off x="804672" y="2176272"/>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DOCUMENTED DELIVERY</a:t>
            </a:r>
            <a:endParaRPr lang="en-US" sz="1020" dirty="0"/>
          </a:p>
        </p:txBody>
      </p:sp>
      <p:sp>
        <p:nvSpPr>
          <p:cNvPr id="14" name="Text 12"/>
          <p:cNvSpPr/>
          <p:nvPr/>
        </p:nvSpPr>
        <p:spPr>
          <a:xfrm>
            <a:off x="3273552" y="2148840"/>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Accepted foundation through 2E</a:t>
            </a:r>
            <a:endParaRPr lang="en-US" sz="1740" dirty="0"/>
          </a:p>
        </p:txBody>
      </p:sp>
      <p:sp>
        <p:nvSpPr>
          <p:cNvPr id="15" name="Text 13"/>
          <p:cNvSpPr/>
          <p:nvPr/>
        </p:nvSpPr>
        <p:spPr>
          <a:xfrm>
            <a:off x="3273552" y="2450592"/>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Secure SQL access; governed registry and plans; one approved calculation;</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field-change protection; provider-neutral source boundary.</a:t>
            </a:r>
            <a:endParaRPr lang="en-US" sz="1210" dirty="0"/>
          </a:p>
        </p:txBody>
      </p:sp>
      <p:sp>
        <p:nvSpPr>
          <p:cNvPr id="16" name="Shape 14"/>
          <p:cNvSpPr/>
          <p:nvPr/>
        </p:nvSpPr>
        <p:spPr>
          <a:xfrm>
            <a:off x="594360" y="2935224"/>
            <a:ext cx="11000232" cy="786384"/>
          </a:xfrm>
          <a:prstGeom prst="rect">
            <a:avLst/>
          </a:prstGeom>
          <a:solidFill>
            <a:srgbClr val="FBF2E5"/>
          </a:solidFill>
          <a:ln w="7620">
            <a:solidFill>
              <a:srgbClr val="D9E4DD"/>
            </a:solidFill>
            <a:prstDash val="solid"/>
          </a:ln>
        </p:spPr>
        <p:txBody>
          <a:bodyPr/>
          <a:p/>
        </p:txBody>
      </p:sp>
      <p:sp>
        <p:nvSpPr>
          <p:cNvPr id="17" name="Text 15"/>
          <p:cNvSpPr/>
          <p:nvPr/>
        </p:nvSpPr>
        <p:spPr>
          <a:xfrm>
            <a:off x="804672" y="3054096"/>
            <a:ext cx="2313432" cy="502920"/>
          </a:xfrm>
          <a:prstGeom prst="rect">
            <a:avLst/>
          </a:prstGeom>
          <a:noFill/>
          <a:ln/>
        </p:spPr>
        <p:txBody>
          <a:bodyPr wrap="square" lIns="0" tIns="0" rIns="0" bIns="0" rtlCol="0" anchor="ctr"/>
          <a:lstStyle/>
          <a:p>
            <a:pPr indent="0" marL="0">
              <a:buNone/>
            </a:pPr>
            <a:r>
              <a:rPr lang="en-US" sz="1020" b="1" spc="20" kern="0" dirty="0">
                <a:solidFill>
                  <a:srgbClr val="B87722"/>
                </a:solidFill>
                <a:latin typeface="Arial" pitchFamily="34" charset="0"/>
                <a:ea typeface="Arial" pitchFamily="34" charset="-122"/>
                <a:cs typeface="Arial" pitchFamily="34" charset="-120"/>
              </a:rPr>
              <a:t>REPORTED IMPLEMENTATION</a:t>
            </a:r>
            <a:endParaRPr lang="en-US" sz="1020" dirty="0"/>
          </a:p>
        </p:txBody>
      </p:sp>
      <p:sp>
        <p:nvSpPr>
          <p:cNvPr id="18" name="Text 16"/>
          <p:cNvSpPr/>
          <p:nvPr/>
        </p:nvSpPr>
        <p:spPr>
          <a:xfrm>
            <a:off x="3273552" y="3026664"/>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Lifecycle classification (2F.1)</a:t>
            </a:r>
            <a:endParaRPr lang="en-US" sz="1740" dirty="0"/>
          </a:p>
        </p:txBody>
      </p:sp>
      <p:sp>
        <p:nvSpPr>
          <p:cNvPr id="19" name="Text 17"/>
          <p:cNvSpPr/>
          <p:nvPr/>
        </p:nvSpPr>
        <p:spPr>
          <a:xfrm>
            <a:off x="3273552" y="3328416"/>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Implementation and independent review are reported. Current merge /</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activation state has not been reverified for this presentation.</a:t>
            </a:r>
            <a:endParaRPr lang="en-US" sz="1210" dirty="0"/>
          </a:p>
        </p:txBody>
      </p:sp>
      <p:sp>
        <p:nvSpPr>
          <p:cNvPr id="20" name="Shape 18"/>
          <p:cNvSpPr/>
          <p:nvPr/>
        </p:nvSpPr>
        <p:spPr>
          <a:xfrm>
            <a:off x="594360" y="3813048"/>
            <a:ext cx="11000232" cy="786384"/>
          </a:xfrm>
          <a:prstGeom prst="rect">
            <a:avLst/>
          </a:prstGeom>
          <a:solidFill>
            <a:srgbClr val="F4F8F5"/>
          </a:solidFill>
          <a:ln w="7620">
            <a:solidFill>
              <a:srgbClr val="D9E4DD"/>
            </a:solidFill>
            <a:prstDash val="solid"/>
          </a:ln>
        </p:spPr>
        <p:txBody>
          <a:bodyPr/>
          <a:p/>
        </p:txBody>
      </p:sp>
      <p:sp>
        <p:nvSpPr>
          <p:cNvPr id="21" name="Text 19"/>
          <p:cNvSpPr/>
          <p:nvPr/>
        </p:nvSpPr>
        <p:spPr>
          <a:xfrm>
            <a:off x="804672" y="3931920"/>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WORKING DESIGN DECISIONS</a:t>
            </a:r>
            <a:endParaRPr lang="en-US" sz="1020" dirty="0"/>
          </a:p>
        </p:txBody>
      </p:sp>
      <p:sp>
        <p:nvSpPr>
          <p:cNvPr id="22" name="Text 20"/>
          <p:cNvSpPr/>
          <p:nvPr/>
        </p:nvSpPr>
        <p:spPr>
          <a:xfrm>
            <a:off x="3273552" y="3904488"/>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Clear ownership and safe extensibility</a:t>
            </a:r>
            <a:endParaRPr lang="en-US" sz="1740" dirty="0"/>
          </a:p>
        </p:txBody>
      </p:sp>
      <p:sp>
        <p:nvSpPr>
          <p:cNvPr id="23" name="Text 21"/>
          <p:cNvSpPr/>
          <p:nvPr/>
        </p:nvSpPr>
        <p:spPr>
          <a:xfrm>
            <a:off x="3273552" y="4206240"/>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Registry owns business meaning; application owns user scope; no ACL sync;</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fixed formatting rules; early plus result-cache design.</a:t>
            </a:r>
            <a:endParaRPr lang="en-US" sz="1210" dirty="0"/>
          </a:p>
        </p:txBody>
      </p:sp>
      <p:sp>
        <p:nvSpPr>
          <p:cNvPr id="24" name="Shape 22"/>
          <p:cNvSpPr/>
          <p:nvPr/>
        </p:nvSpPr>
        <p:spPr>
          <a:xfrm>
            <a:off x="594360" y="4690872"/>
            <a:ext cx="11000232" cy="786384"/>
          </a:xfrm>
          <a:prstGeom prst="rect">
            <a:avLst/>
          </a:prstGeom>
          <a:solidFill>
            <a:srgbClr val="F4F6F5"/>
          </a:solidFill>
          <a:ln w="7620">
            <a:solidFill>
              <a:srgbClr val="D9E4DD"/>
            </a:solidFill>
            <a:prstDash val="solid"/>
          </a:ln>
        </p:spPr>
        <p:txBody>
          <a:bodyPr/>
          <a:p/>
        </p:txBody>
      </p:sp>
      <p:sp>
        <p:nvSpPr>
          <p:cNvPr id="25" name="Text 23"/>
          <p:cNvSpPr/>
          <p:nvPr/>
        </p:nvSpPr>
        <p:spPr>
          <a:xfrm>
            <a:off x="804672" y="4809744"/>
            <a:ext cx="2313432" cy="502920"/>
          </a:xfrm>
          <a:prstGeom prst="rect">
            <a:avLst/>
          </a:prstGeom>
          <a:noFill/>
          <a:ln/>
        </p:spPr>
        <p:txBody>
          <a:bodyPr wrap="square" lIns="0" tIns="0" rIns="0" bIns="0" rtlCol="0" anchor="ctr"/>
          <a:lstStyle/>
          <a:p>
            <a:pPr indent="0" marL="0">
              <a:buNone/>
            </a:pPr>
            <a:r>
              <a:rPr lang="en-US" sz="1020" b="1" spc="20" kern="0" dirty="0">
                <a:solidFill>
                  <a:srgbClr val="65746D"/>
                </a:solidFill>
                <a:latin typeface="Arial" pitchFamily="34" charset="0"/>
                <a:ea typeface="Arial" pitchFamily="34" charset="-122"/>
                <a:cs typeface="Arial" pitchFamily="34" charset="-120"/>
              </a:rPr>
              <a:t>PLANNED / CONDITIONAL</a:t>
            </a:r>
            <a:endParaRPr lang="en-US" sz="1020" dirty="0"/>
          </a:p>
        </p:txBody>
      </p:sp>
      <p:sp>
        <p:nvSpPr>
          <p:cNvPr id="26" name="Text 24"/>
          <p:cNvSpPr/>
          <p:nvPr/>
        </p:nvSpPr>
        <p:spPr>
          <a:xfrm>
            <a:off x="3273552" y="4782312"/>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Broader operational and user capabilities</a:t>
            </a:r>
            <a:endParaRPr lang="en-US" sz="1740" dirty="0"/>
          </a:p>
        </p:txBody>
      </p:sp>
      <p:sp>
        <p:nvSpPr>
          <p:cNvPr id="27" name="Text 25"/>
          <p:cNvSpPr/>
          <p:nvPr/>
        </p:nvSpPr>
        <p:spPr>
          <a:xfrm>
            <a:off x="3273552" y="5084064"/>
            <a:ext cx="8074152" cy="329184"/>
          </a:xfrm>
          <a:prstGeom prst="rect">
            <a:avLst/>
          </a:prstGeom>
          <a:noFill/>
          <a:ln/>
        </p:spPr>
        <p:txBody>
          <a:bodyPr wrap="square" lIns="0" tIns="0" rIns="0" bIns="0" rtlCol="0" anchor="t"/>
          <a:lstStyle/>
          <a:p>
            <a:pPr indent="0" marL="0">
              <a:buNone/>
            </a:pPr>
            <a:r>
              <a:rPr lang="en-US" sz="1220" dirty="0">
                <a:solidFill>
                  <a:srgbClr val="52635E"/>
                </a:solidFill>
                <a:latin typeface="Arial" pitchFamily="34" charset="0"/>
                <a:ea typeface="Arial" pitchFamily="34" charset="-122"/>
                <a:cs typeface="Arial" pitchFamily="34" charset="-120"/>
              </a:rPr>
              <a:t>Certified catalog/templates; caching; Genie assessment, on-premises and Collibra</a:t>
            </a:r>
            <a:endParaRPr lang="en-US" sz="1210" dirty="0"/>
          </a:p>
          <a:p>
            <a:pPr indent="0" marL="0">
              <a:buNone/>
            </a:pPr>
            <a:r>
              <a:rPr lang="en-US" sz="1220" dirty="0">
                <a:solidFill>
                  <a:srgbClr val="52635E"/>
                </a:solidFill>
                <a:latin typeface="Arial" pitchFamily="34" charset="0"/>
                <a:ea typeface="Arial" pitchFamily="34" charset="-122"/>
                <a:cs typeface="Arial" pitchFamily="34" charset="-120"/>
              </a:rPr>
              <a:t>integrations; self-service and exports. Runtime rollout remains approval-gated.</a:t>
            </a:r>
          </a:p>
        </p:txBody>
      </p:sp>
      <p:sp>
        <p:nvSpPr>
          <p:cNvPr id="28" name="Shape 2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29" name="Shape 2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0" name="Text 2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IMPORTANT DISTINCTION</a:t>
            </a:r>
            <a:endParaRPr lang="en-US" sz="950" dirty="0"/>
          </a:p>
        </p:txBody>
      </p:sp>
      <p:sp>
        <p:nvSpPr>
          <p:cNvPr id="31" name="Text 2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Metadata snapshot caching exists; request/result-cache rollout is still planned.</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PHASE CROSSWALK AND EVIDENCE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Executive milestones are not engineering phase numbers.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packaging of the existing roadmap—not renumbering or new delivery evidence.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S1–S7,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17</a:t>
            </a:r>
            <a:endParaRPr lang="en-US" sz="1050" dirty="0"/>
          </a:p>
        </p:txBody>
      </p:sp>
      <p:sp>
        <p:nvSpPr>
          <p:cNvPr id="12" name="Rectangle 11"/>
          <p:cNvSpPr/>
          <p:nvPr/>
        </p:nvSpPr>
        <p:spPr>
          <a:xfrm>
            <a:off x="594360" y="2066543"/>
            <a:ext cx="7104888" cy="365760"/>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67128"/>
            <a:ext cx="2322576"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EXECUTIVE MILESTONE</a:t>
            </a:r>
          </a:p>
        </p:txBody>
      </p:sp>
      <p:sp>
        <p:nvSpPr>
          <p:cNvPr id="14" name="TextBox 13"/>
          <p:cNvSpPr txBox="1"/>
          <p:nvPr/>
        </p:nvSpPr>
        <p:spPr>
          <a:xfrm>
            <a:off x="3273552" y="2167128"/>
            <a:ext cx="4206240"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ENGINEERING ALIGNMENT</a:t>
            </a:r>
          </a:p>
        </p:txBody>
      </p:sp>
      <p:sp>
        <p:nvSpPr>
          <p:cNvPr id="15" name="Rectangle 14"/>
          <p:cNvSpPr/>
          <p:nvPr/>
        </p:nvSpPr>
        <p:spPr>
          <a:xfrm>
            <a:off x="594360" y="2432304"/>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78608"/>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1</a:t>
            </a:r>
          </a:p>
          <a:p>
            <a:pPr algn="l">
              <a:lnSpc>
                <a:spcPct val="108000"/>
              </a:lnSpc>
              <a:spcBef>
                <a:spcPts val="0"/>
              </a:spcBef>
              <a:spcAft>
                <a:spcPts val="0"/>
              </a:spcAft>
            </a:pPr>
            <a:r>
              <a:rPr sz="1400" b="1">
                <a:solidFill>
                  <a:srgbClr val="005238"/>
                </a:solidFill>
                <a:latin typeface="Arial"/>
              </a:rPr>
              <a:t>Foundation &amp; Trust</a:t>
            </a:r>
          </a:p>
        </p:txBody>
      </p:sp>
      <p:sp>
        <p:nvSpPr>
          <p:cNvPr id="17" name="TextBox 16"/>
          <p:cNvSpPr txBox="1"/>
          <p:nvPr/>
        </p:nvSpPr>
        <p:spPr>
          <a:xfrm>
            <a:off x="3273552" y="2578608"/>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Accepted foundation through 2E; 2F trust/lifecycle/templates and 2G controlled publishing. Integration discovery may run in parallel.</a:t>
            </a:r>
          </a:p>
        </p:txBody>
      </p:sp>
      <p:cxnSp>
        <p:nvCxnSpPr>
          <p:cNvPr id="18" name="Connector 17"/>
          <p:cNvCxnSpPr/>
          <p:nvPr/>
        </p:nvCxnSpPr>
        <p:spPr>
          <a:xfrm>
            <a:off x="594360" y="3337560"/>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3337560"/>
            <a:ext cx="7104888" cy="9052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483864"/>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2</a:t>
            </a:r>
          </a:p>
          <a:p>
            <a:pPr algn="l">
              <a:lnSpc>
                <a:spcPct val="108000"/>
              </a:lnSpc>
              <a:spcBef>
                <a:spcPts val="0"/>
              </a:spcBef>
              <a:spcAft>
                <a:spcPts val="0"/>
              </a:spcAft>
            </a:pPr>
            <a:r>
              <a:rPr sz="1400" b="1">
                <a:solidFill>
                  <a:srgbClr val="005238"/>
                </a:solidFill>
                <a:latin typeface="Arial"/>
              </a:rPr>
              <a:t>Enterprise Integration</a:t>
            </a:r>
          </a:p>
          <a:p>
            <a:pPr algn="l">
              <a:lnSpc>
                <a:spcPct val="108000"/>
              </a:lnSpc>
              <a:spcBef>
                <a:spcPts val="0"/>
              </a:spcBef>
              <a:spcAft>
                <a:spcPts val="0"/>
              </a:spcAft>
            </a:pPr>
            <a:r>
              <a:rPr sz="1400" b="1">
                <a:solidFill>
                  <a:srgbClr val="005238"/>
                </a:solidFill>
                <a:latin typeface="Arial"/>
              </a:rPr>
              <a:t>&amp; Efficiency</a:t>
            </a:r>
          </a:p>
        </p:txBody>
      </p:sp>
      <p:sp>
        <p:nvSpPr>
          <p:cNvPr id="21" name="TextBox 20"/>
          <p:cNvSpPr txBox="1"/>
          <p:nvPr/>
        </p:nvSpPr>
        <p:spPr>
          <a:xfrm>
            <a:off x="3273552" y="3483864"/>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3: selected providers, Genie and metadata integration. Phases 4–7: safety, evaluation, performance and self-service.</a:t>
            </a:r>
          </a:p>
        </p:txBody>
      </p:sp>
      <p:cxnSp>
        <p:nvCxnSpPr>
          <p:cNvPr id="22" name="Connector 21"/>
          <p:cNvCxnSpPr/>
          <p:nvPr/>
        </p:nvCxnSpPr>
        <p:spPr>
          <a:xfrm>
            <a:off x="594360" y="4242816"/>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4242816"/>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389120"/>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3</a:t>
            </a:r>
          </a:p>
          <a:p>
            <a:pPr algn="l">
              <a:lnSpc>
                <a:spcPct val="108000"/>
              </a:lnSpc>
              <a:spcBef>
                <a:spcPts val="0"/>
              </a:spcBef>
              <a:spcAft>
                <a:spcPts val="0"/>
              </a:spcAft>
            </a:pPr>
            <a:r>
              <a:rPr sz="1400" b="1">
                <a:solidFill>
                  <a:srgbClr val="005238"/>
                </a:solidFill>
                <a:latin typeface="Arial"/>
              </a:rPr>
              <a:t>Advanced Visualization</a:t>
            </a:r>
          </a:p>
        </p:txBody>
      </p:sp>
      <p:sp>
        <p:nvSpPr>
          <p:cNvPr id="25" name="TextBox 24"/>
          <p:cNvSpPr txBox="1"/>
          <p:nvPr/>
        </p:nvSpPr>
        <p:spPr>
          <a:xfrm>
            <a:off x="3273552" y="4389120"/>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8: richer visualization, reports, downloads, exports and approved experience integrations.</a:t>
            </a:r>
          </a:p>
        </p:txBody>
      </p:sp>
      <p:cxnSp>
        <p:nvCxnSpPr>
          <p:cNvPr id="26" name="Connector 25"/>
          <p:cNvCxnSpPr/>
          <p:nvPr/>
        </p:nvCxnSpPr>
        <p:spPr>
          <a:xfrm>
            <a:off x="594360" y="5148072"/>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8952" y="5321808"/>
            <a:ext cx="6784848" cy="356616"/>
          </a:xfrm>
          <a:prstGeom prst="rect">
            <a:avLst/>
          </a:prstGeom>
          <a:noFill/>
        </p:spPr>
        <p:txBody>
          <a:bodyPr wrap="square" lIns="0" rIns="0" tIns="0" bIns="0" anchor="t">
            <a:spAutoFit/>
          </a:bodyPr>
          <a:lstStyle/>
          <a:p>
            <a:pPr algn="l">
              <a:lnSpc>
                <a:spcPct val="108000"/>
              </a:lnSpc>
              <a:spcBef>
                <a:spcPts val="0"/>
              </a:spcBef>
              <a:spcAft>
                <a:spcPts val="0"/>
              </a:spcAft>
            </a:pPr>
            <a:r>
              <a:rPr sz="1060" b="0">
                <a:solidFill>
                  <a:srgbClr val="52635E"/>
                </a:solidFill>
                <a:latin typeface="Arial"/>
              </a:rPr>
              <a:t>Collibra contract: Phase 2F.3. Provider implementation: Phase 3.</a:t>
            </a:r>
          </a:p>
          <a:p>
            <a:pPr algn="l">
              <a:lnSpc>
                <a:spcPct val="108000"/>
              </a:lnSpc>
              <a:spcBef>
                <a:spcPts val="0"/>
              </a:spcBef>
              <a:spcAft>
                <a:spcPts val="0"/>
              </a:spcAft>
            </a:pPr>
            <a:r>
              <a:rPr sz="1060" b="0">
                <a:solidFill>
                  <a:srgbClr val="52635E"/>
                </a:solidFill>
                <a:latin typeface="Arial"/>
              </a:rPr>
              <a:t>An essential on-premises source may be brought forward by explicit pilot scope approval.</a:t>
            </a:r>
          </a:p>
        </p:txBody>
      </p:sp>
      <p:sp>
        <p:nvSpPr>
          <p:cNvPr id="28" name="Rectangle 27"/>
          <p:cNvSpPr/>
          <p:nvPr/>
        </p:nvSpPr>
        <p:spPr>
          <a:xfrm>
            <a:off x="7973568" y="2066543"/>
            <a:ext cx="3621024" cy="3547872"/>
          </a:xfrm>
          <a:prstGeom prst="rect">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74736" y="2276856"/>
            <a:ext cx="3227832"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B87722"/>
                </a:solidFill>
                <a:latin typeface="Arial"/>
              </a:rPr>
              <a:t>EVIDENCE BOUNDARY</a:t>
            </a:r>
          </a:p>
        </p:txBody>
      </p:sp>
      <p:sp>
        <p:nvSpPr>
          <p:cNvPr id="30" name="Rectangle 29"/>
          <p:cNvSpPr/>
          <p:nvPr/>
        </p:nvSpPr>
        <p:spPr>
          <a:xfrm>
            <a:off x="8193024" y="2839212"/>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2734056"/>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Foundation record: 26 Aug 2026.</a:t>
            </a:r>
          </a:p>
          <a:p>
            <a:pPr algn="l">
              <a:lnSpc>
                <a:spcPct val="108000"/>
              </a:lnSpc>
              <a:spcBef>
                <a:spcPts val="0"/>
              </a:spcBef>
              <a:spcAft>
                <a:spcPts val="0"/>
              </a:spcAft>
            </a:pPr>
            <a:r>
              <a:rPr sz="1210" b="0">
                <a:solidFill>
                  <a:srgbClr val="182425"/>
                </a:solidFill>
                <a:latin typeface="Arial"/>
              </a:rPr>
              <a:t>Impact report: 1 Sep 2026.</a:t>
            </a:r>
          </a:p>
        </p:txBody>
      </p:sp>
      <p:sp>
        <p:nvSpPr>
          <p:cNvPr id="32" name="Rectangle 31"/>
          <p:cNvSpPr/>
          <p:nvPr/>
        </p:nvSpPr>
        <p:spPr>
          <a:xfrm>
            <a:off x="8193024" y="3470148"/>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3364992"/>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2F.1 final integration has not</a:t>
            </a:r>
          </a:p>
          <a:p>
            <a:pPr algn="l">
              <a:lnSpc>
                <a:spcPct val="108000"/>
              </a:lnSpc>
              <a:spcBef>
                <a:spcPts val="0"/>
              </a:spcBef>
              <a:spcAft>
                <a:spcPts val="0"/>
              </a:spcAft>
            </a:pPr>
            <a:r>
              <a:rPr sz="1210" b="0">
                <a:solidFill>
                  <a:srgbClr val="182425"/>
                </a:solidFill>
                <a:latin typeface="Arial"/>
              </a:rPr>
              <a:t>been live-reverified here.</a:t>
            </a:r>
          </a:p>
        </p:txBody>
      </p:sp>
      <p:sp>
        <p:nvSpPr>
          <p:cNvPr id="34" name="Rectangle 33"/>
          <p:cNvSpPr/>
          <p:nvPr/>
        </p:nvSpPr>
        <p:spPr>
          <a:xfrm>
            <a:off x="8193024" y="4101084"/>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8" y="3995928"/>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Vendor docs checked 9 Sep 2026;</a:t>
            </a:r>
          </a:p>
          <a:p>
            <a:pPr algn="l">
              <a:lnSpc>
                <a:spcPct val="108000"/>
              </a:lnSpc>
              <a:spcBef>
                <a:spcPts val="0"/>
              </a:spcBef>
              <a:spcAft>
                <a:spcPts val="0"/>
              </a:spcAft>
            </a:pPr>
            <a:r>
              <a:rPr sz="1210" b="0">
                <a:solidFill>
                  <a:srgbClr val="182425"/>
                </a:solidFill>
                <a:latin typeface="Arial"/>
              </a:rPr>
              <a:t>enterprise readiness is not proven.</a:t>
            </a:r>
          </a:p>
        </p:txBody>
      </p:sp>
      <p:sp>
        <p:nvSpPr>
          <p:cNvPr id="36" name="Rectangle 35"/>
          <p:cNvSpPr/>
          <p:nvPr/>
        </p:nvSpPr>
        <p:spPr>
          <a:xfrm>
            <a:off x="8193024" y="4732020"/>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8" y="4626864"/>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5 TB+ is planning context.</a:t>
            </a:r>
          </a:p>
          <a:p>
            <a:pPr algn="l">
              <a:lnSpc>
                <a:spcPct val="108000"/>
              </a:lnSpc>
              <a:spcBef>
                <a:spcPts val="0"/>
              </a:spcBef>
              <a:spcAft>
                <a:spcPts val="0"/>
              </a:spcAft>
            </a:pPr>
            <a:r>
              <a:rPr sz="1210" b="0">
                <a:solidFill>
                  <a:srgbClr val="182425"/>
                </a:solidFill>
                <a:latin typeface="Arial"/>
              </a:rPr>
              <a:t>Dates, savings and scale are not promised.</a:t>
            </a:r>
          </a:p>
        </p:txBody>
      </p:sp>
      <p:sp>
        <p:nvSpPr>
          <p:cNvPr id="38" name="Rectangle 37"/>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REFERENCE DETAIL</a:t>
            </a:r>
          </a:p>
        </p:txBody>
      </p:sp>
      <p:sp>
        <p:nvSpPr>
          <p:cNvPr id="41" name="TextBox 40"/>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Speaker notes retain source references, vendor links and the qualifications behind each slide.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KEY FACTOR COMPARISON</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askalpha vs Genie: compare business fit, not feature counts.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Documented askalpha delivery vs. published Genie capabilities—not equal deployment readiness.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project evidence + official docs · 9 Sep 2026</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10</a:t>
            </a:r>
            <a:endParaRPr lang="en-US" sz="1050" dirty="0"/>
          </a:p>
        </p:txBody>
      </p:sp>
      <p:graphicFrame>
        <p:nvGraphicFramePr>
          <p:cNvPr id="12" name="Table 11"/>
          <p:cNvGraphicFramePr>
            <a:graphicFrameLocks noGrp="1"/>
          </p:cNvGraphicFramePr>
          <p:nvPr/>
        </p:nvGraphicFramePr>
        <p:xfrm>
          <a:off x="594360" y="2039112"/>
          <a:ext cx="11000232" cy="3598164"/>
        </p:xfrm>
        <a:graphic>
          <a:graphicData uri="http://schemas.openxmlformats.org/drawingml/2006/table">
            <a:tbl>
              <a:tblPr firstRow="1" bandRow="1">
                <a:tableStyleId>{5C22544A-7EE6-4342-B048-85BDC9FD1C3A}</a:tableStyleId>
              </a:tblPr>
              <a:tblGrid>
                <a:gridCol w="1682496"/>
                <a:gridCol w="4599432"/>
                <a:gridCol w="4718304"/>
              </a:tblGrid>
              <a:tr h="429768">
                <a:tc>
                  <a:txBody>
                    <a:bodyPr wrap="square">
                      <a:noAutofit/>
                    </a:bodyPr>
                    <a:lstStyle/>
                    <a:p>
                      <a:pPr algn="l">
                        <a:lnSpc>
                          <a:spcPts val="1300"/>
                        </a:lnSpc>
                        <a:spcBef>
                          <a:spcPts val="0"/>
                        </a:spcBef>
                        <a:spcAft>
                          <a:spcPts val="0"/>
                        </a:spcAft>
                      </a:pPr>
                      <a:r>
                        <a:rPr sz="1200" b="1" lang="en-US">
                          <a:solidFill>
                            <a:srgbClr val="FFFFFF"/>
                          </a:solidFill>
                          <a:latin typeface="Arial"/>
                        </a:rPr>
                        <a:t>DECISION FACTOR</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c>
                  <a:txBody>
                    <a:bodyPr wrap="square">
                      <a:noAutofit/>
                    </a:bodyPr>
                    <a:lstStyle/>
                    <a:p>
                      <a:pPr algn="l">
                        <a:lnSpc>
                          <a:spcPts val="1300"/>
                        </a:lnSpc>
                        <a:spcBef>
                          <a:spcPts val="0"/>
                        </a:spcBef>
                        <a:spcAft>
                          <a:spcPts val="0"/>
                        </a:spcAft>
                      </a:pPr>
                      <a:r>
                        <a:rPr sz="1200" b="1" lang="en-US">
                          <a:solidFill>
                            <a:srgbClr val="FFFFFF"/>
                          </a:solidFill>
                          <a:latin typeface="Arial"/>
                        </a:rPr>
                        <a:t>askalpha</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c>
                  <a:txBody>
                    <a:bodyPr wrap="square">
                      <a:noAutofit/>
                    </a:bodyPr>
                    <a:lstStyle/>
                    <a:p>
                      <a:pPr algn="l">
                        <a:lnSpc>
                          <a:spcPts val="1300"/>
                        </a:lnSpc>
                        <a:spcBef>
                          <a:spcPts val="0"/>
                        </a:spcBef>
                        <a:spcAft>
                          <a:spcPts val="0"/>
                        </a:spcAft>
                      </a:pPr>
                      <a:r>
                        <a:rPr sz="1200" b="1" lang="en-US">
                          <a:solidFill>
                            <a:srgbClr val="FFFFFF"/>
                          </a:solidFill>
                          <a:latin typeface="Arial"/>
                        </a:rPr>
                        <a:t>DATABRICKS GENIE</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Delivery &amp;</a:t>
                      </a:r>
                    </a:p>
                    <a:p>
                      <a:pPr algn="l">
                        <a:lnSpc>
                          <a:spcPts val="1450"/>
                        </a:lnSpc>
                        <a:spcBef>
                          <a:spcPts val="0"/>
                        </a:spcBef>
                        <a:spcAft>
                          <a:spcPts val="0"/>
                        </a:spcAft>
                      </a:pPr>
                      <a:r>
                        <a:rPr sz="1400" b="1" lang="en-US">
                          <a:solidFill>
                            <a:srgbClr val="005238"/>
                          </a:solidFill>
                          <a:latin typeface="Arial"/>
                        </a:rPr>
                        <a:t>ownership</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Accepted SQL pilot; the team owns</a:t>
                      </a:r>
                    </a:p>
                    <a:p>
                      <a:pPr algn="l">
                        <a:lnSpc>
                          <a:spcPts val="1450"/>
                        </a:lnSpc>
                        <a:spcBef>
                          <a:spcPts val="0"/>
                        </a:spcBef>
                        <a:spcAft>
                          <a:spcPts val="0"/>
                        </a:spcAft>
                      </a:pPr>
                      <a:r>
                        <a:rPr sz="1400" b="0" lang="en-US">
                          <a:solidFill>
                            <a:srgbClr val="182425"/>
                          </a:solidFill>
                          <a:latin typeface="Arial"/>
                        </a:rPr>
                        <a:t>product expansion and ongoing support.</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Packaged analytics; domain curation,</a:t>
                      </a:r>
                    </a:p>
                    <a:p>
                      <a:pPr algn="l">
                        <a:lnSpc>
                          <a:spcPts val="1450"/>
                        </a:lnSpc>
                        <a:spcBef>
                          <a:spcPts val="0"/>
                        </a:spcBef>
                        <a:spcAft>
                          <a:spcPts val="0"/>
                        </a:spcAft>
                      </a:pPr>
                      <a:r>
                        <a:rPr sz="1400" b="0" lang="en-US">
                          <a:solidFill>
                            <a:srgbClr val="182425"/>
                          </a:solidFill>
                          <a:latin typeface="Arial"/>
                        </a:rPr>
                        <a:t>testing and operations are still required.</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Cloud &amp;</a:t>
                      </a:r>
                    </a:p>
                    <a:p>
                      <a:pPr algn="l">
                        <a:lnSpc>
                          <a:spcPts val="1450"/>
                        </a:lnSpc>
                        <a:spcBef>
                          <a:spcPts val="0"/>
                        </a:spcBef>
                        <a:spcAft>
                          <a:spcPts val="0"/>
                        </a:spcAft>
                      </a:pPr>
                      <a:r>
                        <a:rPr sz="1400" b="1" lang="en-US">
                          <a:solidFill>
                            <a:srgbClr val="005238"/>
                          </a:solidFill>
                          <a:latin typeface="Arial"/>
                        </a:rPr>
                        <a:t>on-premises</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Azure-based today; direct on-premises</a:t>
                      </a:r>
                    </a:p>
                    <a:p>
                      <a:pPr algn="l">
                        <a:lnSpc>
                          <a:spcPts val="1450"/>
                        </a:lnSpc>
                        <a:spcBef>
                          <a:spcPts val="0"/>
                        </a:spcBef>
                        <a:spcAft>
                          <a:spcPts val="0"/>
                        </a:spcAft>
                      </a:pPr>
                      <a:r>
                        <a:rPr sz="1400" b="0" lang="en-US">
                          <a:solidFill>
                            <a:srgbClr val="182425"/>
                          </a:solidFill>
                          <a:latin typeface="Arial"/>
                        </a:rPr>
                        <a:t>adapters are planned—not proven deployed.</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Cloud-hosted; supported external data via</a:t>
                      </a:r>
                    </a:p>
                    <a:p>
                      <a:pPr algn="l">
                        <a:lnSpc>
                          <a:spcPts val="1450"/>
                        </a:lnSpc>
                        <a:spcBef>
                          <a:spcPts val="0"/>
                        </a:spcBef>
                        <a:spcAft>
                          <a:spcPts val="0"/>
                        </a:spcAft>
                      </a:pPr>
                      <a:r>
                        <a:rPr sz="1400" b="0" lang="en-US">
                          <a:solidFill>
                            <a:srgbClr val="182425"/>
                          </a:solidFill>
                          <a:latin typeface="Arial"/>
                        </a:rPr>
                        <a:t>federation. Not a fully offline service.</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Performance</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No representative end-to-end benchmark;</a:t>
                      </a:r>
                    </a:p>
                    <a:p>
                      <a:pPr algn="l">
                        <a:lnSpc>
                          <a:spcPts val="1450"/>
                        </a:lnSpc>
                        <a:spcBef>
                          <a:spcPts val="0"/>
                        </a:spcBef>
                        <a:spcAft>
                          <a:spcPts val="0"/>
                        </a:spcAft>
                      </a:pPr>
                      <a:r>
                        <a:rPr sz="1400" b="0" lang="en-US">
                          <a:solidFill>
                            <a:srgbClr val="182425"/>
                          </a:solidFill>
                          <a:latin typeface="Arial"/>
                        </a:rPr>
                        <a:t>early request/result caching remains planned.</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AI + warehouse latency: benchmark the same</a:t>
                      </a:r>
                    </a:p>
                    <a:p>
                      <a:pPr algn="l">
                        <a:lnSpc>
                          <a:spcPts val="1450"/>
                        </a:lnSpc>
                        <a:spcBef>
                          <a:spcPts val="0"/>
                        </a:spcBef>
                        <a:spcAft>
                          <a:spcPts val="0"/>
                        </a:spcAft>
                      </a:pPr>
                      <a:r>
                        <a:rPr sz="1400" b="0" lang="en-US">
                          <a:solidFill>
                            <a:srgbClr val="182425"/>
                          </a:solidFill>
                          <a:latin typeface="Arial"/>
                        </a:rPr>
                        <a:t>questions and data in warm and cold states.</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Scale: ~5 TB+</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Planning context—not qualified capacity.</a:t>
                      </a:r>
                    </a:p>
                    <a:p>
                      <a:pPr algn="l">
                        <a:lnSpc>
                          <a:spcPts val="1450"/>
                        </a:lnSpc>
                        <a:spcBef>
                          <a:spcPts val="0"/>
                        </a:spcBef>
                        <a:spcAft>
                          <a:spcPts val="0"/>
                        </a:spcAft>
                      </a:pPr>
                      <a:r>
                        <a:rPr sz="1400" b="0" lang="en-US">
                          <a:solidFill>
                            <a:srgbClr val="182425"/>
                          </a:solidFill>
                          <a:latin typeface="Arial"/>
                        </a:rPr>
                        <a:t>Large queries stay on the source platform.</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Warehouse scaling is available; validate</a:t>
                      </a:r>
                    </a:p>
                    <a:p>
                      <a:pPr algn="l">
                        <a:lnSpc>
                          <a:spcPts val="1450"/>
                        </a:lnSpc>
                        <a:spcBef>
                          <a:spcPts val="0"/>
                        </a:spcBef>
                        <a:spcAft>
                          <a:spcPts val="0"/>
                        </a:spcAft>
                      </a:pPr>
                      <a:r>
                        <a:rPr sz="1400" b="0" lang="en-US">
                          <a:solidFill>
                            <a:srgbClr val="182425"/>
                          </a:solidFill>
                          <a:latin typeface="Arial"/>
                        </a:rPr>
                        <a:t>burst load, scan cost and capacity limits.</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Semantics &amp;</a:t>
                      </a:r>
                    </a:p>
                    <a:p>
                      <a:pPr algn="l">
                        <a:lnSpc>
                          <a:spcPts val="1450"/>
                        </a:lnSpc>
                        <a:spcBef>
                          <a:spcPts val="0"/>
                        </a:spcBef>
                        <a:spcAft>
                          <a:spcPts val="0"/>
                        </a:spcAft>
                      </a:pPr>
                      <a:r>
                        <a:rPr sz="1400" b="1" lang="en-US">
                          <a:solidFill>
                            <a:srgbClr val="005238"/>
                          </a:solidFill>
                          <a:latin typeface="Arial"/>
                        </a:rPr>
                        <a:t>change</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Versioned registry, an approved calculation</a:t>
                      </a:r>
                    </a:p>
                    <a:p>
                      <a:pPr algn="l">
                        <a:lnSpc>
                          <a:spcPts val="1450"/>
                        </a:lnSpc>
                        <a:spcBef>
                          <a:spcPts val="0"/>
                        </a:spcBef>
                        <a:spcAft>
                          <a:spcPts val="0"/>
                        </a:spcAft>
                      </a:pPr>
                      <a:r>
                        <a:rPr sz="1400" b="0" lang="en-US">
                          <a:solidFill>
                            <a:srgbClr val="182425"/>
                          </a:solidFill>
                          <a:latin typeface="Arial"/>
                        </a:rPr>
                        <a:t>and field-level change protection.</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Curated definitions, trusted SQL, benchmarks</a:t>
                      </a:r>
                    </a:p>
                    <a:p>
                      <a:pPr algn="l">
                        <a:lnSpc>
                          <a:spcPts val="1450"/>
                        </a:lnSpc>
                        <a:spcBef>
                          <a:spcPts val="0"/>
                        </a:spcBef>
                        <a:spcAft>
                          <a:spcPts val="0"/>
                        </a:spcAft>
                      </a:pPr>
                      <a:r>
                        <a:rPr sz="1400" b="0" lang="en-US">
                          <a:solidFill>
                            <a:srgbClr val="182425"/>
                          </a:solidFill>
                          <a:latin typeface="Arial"/>
                        </a:rPr>
                        <a:t>and version-controlled configuration.</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Authorization</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App-owned entity scope + source service</a:t>
                      </a:r>
                    </a:p>
                    <a:p>
                      <a:pPr algn="l">
                        <a:lnSpc>
                          <a:spcPts val="1450"/>
                        </a:lnSpc>
                        <a:spcBef>
                          <a:spcPts val="0"/>
                        </a:spcBef>
                        <a:spcAft>
                          <a:spcPts val="0"/>
                        </a:spcAft>
                      </a:pPr>
                      <a:r>
                        <a:rPr sz="1400" b="0" lang="en-US">
                          <a:solidFill>
                            <a:srgbClr val="182425"/>
                          </a:solidFill>
                          <a:latin typeface="Arial"/>
                        </a:rPr>
                        <a:t>identity; no user-permission synchronization.</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Native user-level catalog controls; service</a:t>
                      </a:r>
                    </a:p>
                    <a:p>
                      <a:pPr algn="l">
                        <a:lnSpc>
                          <a:spcPts val="1450"/>
                        </a:lnSpc>
                        <a:spcBef>
                          <a:spcPts val="0"/>
                        </a:spcBef>
                        <a:spcAft>
                          <a:spcPts val="0"/>
                        </a:spcAft>
                      </a:pPr>
                      <a:r>
                        <a:rPr sz="1400" b="0" lang="en-US">
                          <a:solidFill>
                            <a:srgbClr val="182425"/>
                          </a:solidFill>
                          <a:latin typeface="Arial"/>
                        </a:rPr>
                        <a:t>API integration must prove scope isolation.</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r>
              <a:tr h="452628">
                <a:tc>
                  <a:txBody>
                    <a:bodyPr wrap="square">
                      <a:noAutofit/>
                    </a:bodyPr>
                    <a:lstStyle/>
                    <a:p>
                      <a:pPr algn="l">
                        <a:lnSpc>
                          <a:spcPts val="1450"/>
                        </a:lnSpc>
                        <a:spcBef>
                          <a:spcPts val="0"/>
                        </a:spcBef>
                        <a:spcAft>
                          <a:spcPts val="0"/>
                        </a:spcAft>
                      </a:pPr>
                      <a:r>
                        <a:rPr sz="1400" b="1" lang="en-US">
                          <a:solidFill>
                            <a:srgbClr val="005238"/>
                          </a:solidFill>
                          <a:latin typeface="Arial"/>
                        </a:rPr>
                        <a:t>Economic fit</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Potential value in custom controls and</a:t>
                      </a:r>
                    </a:p>
                    <a:p>
                      <a:pPr algn="l">
                        <a:lnSpc>
                          <a:spcPts val="1450"/>
                        </a:lnSpc>
                        <a:spcBef>
                          <a:spcPts val="0"/>
                        </a:spcBef>
                        <a:spcAft>
                          <a:spcPts val="0"/>
                        </a:spcAft>
                      </a:pPr>
                      <a:r>
                        <a:rPr sz="1400" b="0" lang="en-US">
                          <a:solidFill>
                            <a:srgbClr val="182425"/>
                          </a:solidFill>
                          <a:latin typeface="Arial"/>
                        </a:rPr>
                        <a:t>independent access to multiple data platforms.</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l">
                        <a:lnSpc>
                          <a:spcPts val="1450"/>
                        </a:lnSpc>
                        <a:spcBef>
                          <a:spcPts val="0"/>
                        </a:spcBef>
                        <a:spcAft>
                          <a:spcPts val="0"/>
                        </a:spcAft>
                      </a:pPr>
                      <a:r>
                        <a:rPr sz="1400" b="0" lang="en-US">
                          <a:solidFill>
                            <a:srgbClr val="182425"/>
                          </a:solidFill>
                          <a:latin typeface="Arial"/>
                        </a:rPr>
                        <a:t>Strong Databricks-native option; temporary</a:t>
                      </a:r>
                    </a:p>
                    <a:p>
                      <a:pPr algn="l">
                        <a:lnSpc>
                          <a:spcPts val="1450"/>
                        </a:lnSpc>
                        <a:spcBef>
                          <a:spcPts val="0"/>
                        </a:spcBef>
                        <a:spcAft>
                          <a:spcPts val="0"/>
                        </a:spcAft>
                      </a:pPr>
                      <a:r>
                        <a:rPr sz="1400" b="0" lang="en-US">
                          <a:solidFill>
                            <a:srgbClr val="182425"/>
                          </a:solidFill>
                          <a:latin typeface="Arial"/>
                        </a:rPr>
                        <a:t>human AI promotion is not full ownership cost.</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bl>
          </a:graphicData>
        </a:graphic>
      </p:graphicFrame>
      <p:sp>
        <p:nvSpPr>
          <p:cNvPr id="13" name="Rectangle 12"/>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5852160"/>
            <a:ext cx="54864" cy="475488"/>
          </a:xfrm>
          <a:prstGeom prst="rect">
            <a:avLst/>
          </a:prstGeom>
          <a:solidFill>
            <a:srgbClr val="00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975604"/>
            <a:ext cx="1709928" cy="182880"/>
          </a:xfrm>
          <a:prstGeom prst="rect">
            <a:avLst/>
          </a:prstGeom>
          <a:noFill/>
        </p:spPr>
        <p:txBody>
          <a:bodyPr wrap="square" lIns="0" rIns="0" tIns="0" bIns="0" anchor="t">
            <a:noAutofit/>
          </a:bodyPr>
          <a:lstStyle/>
          <a:p>
            <a:pPr algn="l">
              <a:lnSpc>
                <a:spcPct val="103000"/>
              </a:lnSpc>
              <a:spcBef>
                <a:spcPts val="0"/>
              </a:spcBef>
              <a:spcAft>
                <a:spcPts val="0"/>
              </a:spcAft>
            </a:pPr>
            <a:r>
              <a:rPr sz="910" b="1" lang="en-US">
                <a:solidFill>
                  <a:srgbClr val="FFFFFF"/>
                </a:solidFill>
                <a:latin typeface="Arial"/>
              </a:rPr>
              <a:t>DECISION LENS</a:t>
            </a:r>
          </a:p>
        </p:txBody>
      </p:sp>
      <p:sp>
        <p:nvSpPr>
          <p:cNvPr id="16" name="TextBox 15"/>
          <p:cNvSpPr txBox="1"/>
          <p:nvPr/>
        </p:nvSpPr>
        <p:spPr>
          <a:xfrm>
            <a:off x="2542032" y="5907024"/>
            <a:ext cx="8796528" cy="356616"/>
          </a:xfrm>
          <a:prstGeom prst="rect">
            <a:avLst/>
          </a:prstGeom>
          <a:noFill/>
        </p:spPr>
        <p:txBody>
          <a:bodyPr wrap="square" lIns="0" rIns="0" tIns="0" bIns="0" anchor="ctr">
            <a:noAutofit/>
          </a:bodyPr>
          <a:lstStyle/>
          <a:p>
            <a:pPr algn="l">
              <a:lnSpc>
                <a:spcPct val="103000"/>
              </a:lnSpc>
              <a:spcBef>
                <a:spcPts val="0"/>
              </a:spcBef>
              <a:spcAft>
                <a:spcPts val="0"/>
              </a:spcAft>
            </a:pPr>
            <a:r>
              <a:rPr sz="1380" b="1" lang="en-US">
                <a:solidFill>
                  <a:srgbClr val="FFFFFF"/>
                </a:solidFill>
                <a:latin typeface="Arial"/>
              </a:rPr>
              <a:t>Genie is a strong native option; askalpha must prove its cross-platform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COST COMPARISON · ILLUSTRATIVE MONTHLY MODEL</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Operating cost is only one part of the investment decision.</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USD planning scenario—not a vendor quote, tested capacity or full total cost of ownership (TCO).</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cost workbook + pricing docs · 9 Sep 2026</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11</a:t>
            </a:r>
            <a:endParaRPr lang="en-US" sz="1050" dirty="0"/>
          </a:p>
        </p:txBody>
      </p:sp>
      <p:sp>
        <p:nvSpPr>
          <p:cNvPr id="12" name="Rectangle 11"/>
          <p:cNvSpPr/>
          <p:nvPr/>
        </p:nvSpPr>
        <p:spPr>
          <a:xfrm>
            <a:off x="594360" y="2011680"/>
            <a:ext cx="11000232" cy="347472"/>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089404"/>
            <a:ext cx="10698480" cy="182880"/>
          </a:xfrm>
          <a:prstGeom prst="rect">
            <a:avLst/>
          </a:prstGeom>
          <a:noFill/>
        </p:spPr>
        <p:txBody>
          <a:bodyPr wrap="square" lIns="0" rIns="0" tIns="0" bIns="0" anchor="t">
            <a:noAutofit/>
          </a:bodyPr>
          <a:lstStyle/>
          <a:p>
            <a:pPr algn="l">
              <a:lnSpc>
                <a:spcPct val="103000"/>
              </a:lnSpc>
              <a:spcBef>
                <a:spcPts val="0"/>
              </a:spcBef>
              <a:spcAft>
                <a:spcPts val="0"/>
              </a:spcAft>
            </a:pPr>
            <a:r>
              <a:rPr sz="1190" b="1" lang="en-US">
                <a:solidFill>
                  <a:srgbClr val="005238"/>
                </a:solidFill>
                <a:latin typeface="Arial"/>
              </a:rPr>
              <a:t>10,000 questions / month   |   220 billed cluster-hours   |   ~5 TB source   |   No early-cache savings assumed</a:t>
            </a:r>
          </a:p>
        </p:txBody>
      </p:sp>
      <p:graphicFrame>
        <p:nvGraphicFramePr>
          <p:cNvPr id="14" name="Table 13"/>
          <p:cNvGraphicFramePr>
            <a:graphicFrameLocks noGrp="1"/>
          </p:cNvGraphicFramePr>
          <p:nvPr/>
        </p:nvGraphicFramePr>
        <p:xfrm>
          <a:off x="594360" y="2523744"/>
          <a:ext cx="7827264" cy="2441448"/>
        </p:xfrm>
        <a:graphic>
          <a:graphicData uri="http://schemas.openxmlformats.org/drawingml/2006/table">
            <a:tbl>
              <a:tblPr firstRow="1" bandRow="1">
                <a:tableStyleId>{5C22544A-7EE6-4342-B048-85BDC9FD1C3A}</a:tableStyleId>
              </a:tblPr>
              <a:tblGrid>
                <a:gridCol w="2386584"/>
                <a:gridCol w="1609344"/>
                <a:gridCol w="1673352"/>
                <a:gridCol w="2157984"/>
              </a:tblGrid>
              <a:tr h="530352">
                <a:tc>
                  <a:txBody>
                    <a:bodyPr wrap="square">
                      <a:noAutofit/>
                    </a:bodyPr>
                    <a:lstStyle/>
                    <a:p>
                      <a:pPr algn="l">
                        <a:lnSpc>
                          <a:spcPct val="103000"/>
                        </a:lnSpc>
                        <a:spcBef>
                          <a:spcPts val="0"/>
                        </a:spcBef>
                        <a:spcAft>
                          <a:spcPts val="0"/>
                        </a:spcAft>
                      </a:pPr>
                      <a:r>
                        <a:rPr sz="1250" b="1" lang="en-US">
                          <a:solidFill>
                            <a:srgbClr val="FFFFFF"/>
                          </a:solidFill>
                          <a:latin typeface="Arial"/>
                        </a:rPr>
                        <a:t>MONTHLY COST / USD</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c>
                  <a:txBody>
                    <a:bodyPr wrap="square">
                      <a:noAutofit/>
                    </a:bodyPr>
                    <a:lstStyle/>
                    <a:p>
                      <a:pPr algn="l">
                        <a:lnSpc>
                          <a:spcPct val="103000"/>
                        </a:lnSpc>
                        <a:spcBef>
                          <a:spcPts val="0"/>
                        </a:spcBef>
                        <a:spcAft>
                          <a:spcPts val="0"/>
                        </a:spcAft>
                      </a:pPr>
                      <a:r>
                        <a:rPr sz="1250" b="1" lang="en-US">
                          <a:solidFill>
                            <a:srgbClr val="FFFFFF"/>
                          </a:solidFill>
                          <a:latin typeface="Arial"/>
                        </a:rPr>
                        <a:t>askalpha</a:t>
                      </a:r>
                    </a:p>
                    <a:p>
                      <a:pPr algn="l">
                        <a:lnSpc>
                          <a:spcPct val="103000"/>
                        </a:lnSpc>
                        <a:spcBef>
                          <a:spcPts val="0"/>
                        </a:spcBef>
                        <a:spcAft>
                          <a:spcPts val="0"/>
                        </a:spcAft>
                      </a:pPr>
                      <a:r>
                        <a:rPr sz="1250" b="1" lang="en-US">
                          <a:solidFill>
                            <a:srgbClr val="FFFFFF"/>
                          </a:solidFill>
                          <a:latin typeface="Arial"/>
                        </a:rPr>
                        <a:t>direct</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c>
                  <a:txBody>
                    <a:bodyPr wrap="square">
                      <a:noAutofit/>
                    </a:bodyPr>
                    <a:lstStyle/>
                    <a:p>
                      <a:pPr algn="l">
                        <a:lnSpc>
                          <a:spcPct val="103000"/>
                        </a:lnSpc>
                        <a:spcBef>
                          <a:spcPts val="0"/>
                        </a:spcBef>
                        <a:spcAft>
                          <a:spcPts val="0"/>
                        </a:spcAft>
                      </a:pPr>
                      <a:r>
                        <a:rPr sz="1250" b="1" lang="en-US">
                          <a:solidFill>
                            <a:srgbClr val="FFFFFF"/>
                          </a:solidFill>
                          <a:latin typeface="Arial"/>
                        </a:rPr>
                        <a:t>Genie</a:t>
                      </a:r>
                    </a:p>
                    <a:p>
                      <a:pPr algn="l">
                        <a:lnSpc>
                          <a:spcPct val="103000"/>
                        </a:lnSpc>
                        <a:spcBef>
                          <a:spcPts val="0"/>
                        </a:spcBef>
                        <a:spcAft>
                          <a:spcPts val="0"/>
                        </a:spcAft>
                      </a:pPr>
                      <a:r>
                        <a:rPr sz="1250" b="1" lang="en-US">
                          <a:solidFill>
                            <a:srgbClr val="FFFFFF"/>
                          </a:solidFill>
                          <a:latin typeface="Arial"/>
                        </a:rPr>
                        <a:t>human UI*</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c>
                  <a:txBody>
                    <a:bodyPr wrap="square">
                      <a:noAutofit/>
                    </a:bodyPr>
                    <a:lstStyle/>
                    <a:p>
                      <a:pPr algn="l">
                        <a:lnSpc>
                          <a:spcPct val="103000"/>
                        </a:lnSpc>
                        <a:spcBef>
                          <a:spcPts val="0"/>
                        </a:spcBef>
                        <a:spcAft>
                          <a:spcPts val="0"/>
                        </a:spcAft>
                      </a:pPr>
                      <a:r>
                        <a:rPr sz="1250" b="1" lang="en-US">
                          <a:solidFill>
                            <a:srgbClr val="FFFFFF"/>
                          </a:solidFill>
                          <a:latin typeface="Arial"/>
                        </a:rPr>
                        <a:t>askalpha + Genie</a:t>
                      </a:r>
                    </a:p>
                    <a:p>
                      <a:pPr algn="l">
                        <a:lnSpc>
                          <a:spcPct val="103000"/>
                        </a:lnSpc>
                        <a:spcBef>
                          <a:spcPts val="0"/>
                        </a:spcBef>
                        <a:spcAft>
                          <a:spcPts val="0"/>
                        </a:spcAft>
                      </a:pPr>
                      <a:r>
                        <a:rPr sz="1250" b="1" lang="en-US">
                          <a:solidFill>
                            <a:srgbClr val="FFFFFF"/>
                          </a:solidFill>
                          <a:latin typeface="Arial"/>
                        </a:rPr>
                        <a:t>service API</a:t>
                      </a:r>
                    </a:p>
                  </a:txBody>
                  <a:tcPr marL="128016" marR="128016" marT="36576" marB="36576" anchor="ctr">
                    <a:solidFill>
                      <a:srgbClr val="005238"/>
                    </a:solidFill>
                    <a:lnL w="5000">
                      <a:solidFill>
                        <a:srgbClr val="FFFFFF"/>
                      </a:solidFill>
                    </a:lnL>
                    <a:lnR w="5000">
                      <a:solidFill>
                        <a:srgbClr val="FFFFFF"/>
                      </a:solidFill>
                    </a:lnR>
                    <a:lnT w="5000">
                      <a:solidFill>
                        <a:srgbClr val="FFFFFF"/>
                      </a:solidFill>
                    </a:lnT>
                    <a:lnB w="5000">
                      <a:solidFill>
                        <a:srgbClr val="FFFFFF"/>
                      </a:solidFill>
                    </a:lnB>
                  </a:tcPr>
                </a:tc>
              </a:tr>
              <a:tr h="457200">
                <a:tc>
                  <a:txBody>
                    <a:bodyPr wrap="square">
                      <a:noAutofit/>
                    </a:bodyPr>
                    <a:lstStyle/>
                    <a:p>
                      <a:pPr algn="l">
                        <a:lnSpc>
                          <a:spcPct val="103000"/>
                        </a:lnSpc>
                        <a:spcBef>
                          <a:spcPts val="0"/>
                        </a:spcBef>
                        <a:spcAft>
                          <a:spcPts val="0"/>
                        </a:spcAft>
                      </a:pPr>
                      <a:r>
                        <a:rPr sz="1460" b="1" lang="en-US">
                          <a:solidFill>
                            <a:srgbClr val="005238"/>
                          </a:solidFill>
                          <a:latin typeface="Arial"/>
                        </a:rPr>
                        <a:t>Query compute</a:t>
                      </a:r>
                    </a:p>
                    <a:p>
                      <a:pPr algn="l">
                        <a:lnSpc>
                          <a:spcPct val="103000"/>
                        </a:lnSpc>
                        <a:spcBef>
                          <a:spcPts val="0"/>
                        </a:spcBef>
                        <a:spcAft>
                          <a:spcPts val="0"/>
                        </a:spcAft>
                      </a:pPr>
                      <a:r>
                        <a:rPr sz="1460" b="1" lang="en-US">
                          <a:solidFill>
                            <a:srgbClr val="005238"/>
                          </a:solidFill>
                          <a:latin typeface="Arial"/>
                        </a:rPr>
                        <a:t>(shared budget)</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$1,760</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$1,760</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$1,760</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r h="457200">
                <a:tc>
                  <a:txBody>
                    <a:bodyPr wrap="square">
                      <a:noAutofit/>
                    </a:bodyPr>
                    <a:lstStyle/>
                    <a:p>
                      <a:pPr algn="l">
                        <a:lnSpc>
                          <a:spcPct val="103000"/>
                        </a:lnSpc>
                        <a:spcBef>
                          <a:spcPts val="0"/>
                        </a:spcBef>
                        <a:spcAft>
                          <a:spcPts val="0"/>
                        </a:spcAft>
                      </a:pPr>
                      <a:r>
                        <a:rPr sz="1460" b="1" lang="en-US">
                          <a:solidFill>
                            <a:srgbClr val="005238"/>
                          </a:solidFill>
                          <a:latin typeface="Arial"/>
                        </a:rPr>
                        <a:t>App + control services</a:t>
                      </a:r>
                    </a:p>
                    <a:p>
                      <a:pPr algn="l">
                        <a:lnSpc>
                          <a:spcPct val="103000"/>
                        </a:lnSpc>
                        <a:spcBef>
                          <a:spcPts val="0"/>
                        </a:spcBef>
                        <a:spcAft>
                          <a:spcPts val="0"/>
                        </a:spcAft>
                      </a:pPr>
                      <a:r>
                        <a:rPr sz="1460" b="1" lang="en-US">
                          <a:solidFill>
                            <a:srgbClr val="005238"/>
                          </a:solidFill>
                          <a:latin typeface="Arial"/>
                        </a:rPr>
                        <a:t>(budget)</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$600</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$0**</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$600</a:t>
                      </a:r>
                    </a:p>
                  </a:txBody>
                  <a:tcPr marL="128016" marR="128016" marT="36576" marB="36576" anchor="ctr">
                    <a:solidFill>
                      <a:srgbClr val="FFFFFF"/>
                    </a:solidFill>
                    <a:lnL w="5000">
                      <a:solidFill>
                        <a:srgbClr val="D9E4DD"/>
                      </a:solidFill>
                    </a:lnL>
                    <a:lnR w="5000">
                      <a:solidFill>
                        <a:srgbClr val="D9E4DD"/>
                      </a:solidFill>
                    </a:lnR>
                    <a:lnT w="5000">
                      <a:solidFill>
                        <a:srgbClr val="D9E4DD"/>
                      </a:solidFill>
                    </a:lnT>
                    <a:lnB w="5000">
                      <a:solidFill>
                        <a:srgbClr val="D9E4DD"/>
                      </a:solidFill>
                    </a:lnB>
                  </a:tcPr>
                </a:tc>
              </a:tr>
              <a:tr h="457200">
                <a:tc>
                  <a:txBody>
                    <a:bodyPr wrap="square">
                      <a:noAutofit/>
                    </a:bodyPr>
                    <a:lstStyle/>
                    <a:p>
                      <a:pPr algn="l">
                        <a:lnSpc>
                          <a:spcPct val="103000"/>
                        </a:lnSpc>
                        <a:spcBef>
                          <a:spcPts val="0"/>
                        </a:spcBef>
                        <a:spcAft>
                          <a:spcPts val="0"/>
                        </a:spcAft>
                      </a:pPr>
                      <a:r>
                        <a:rPr sz="1460" b="1" lang="en-US">
                          <a:solidFill>
                            <a:srgbClr val="005238"/>
                          </a:solidFill>
                          <a:latin typeface="Arial"/>
                        </a:rPr>
                        <a:t>AI usage</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$385</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$0*</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460" b="0" lang="en-US">
                          <a:solidFill>
                            <a:srgbClr val="182425"/>
                          </a:solidFill>
                          <a:latin typeface="Arial"/>
                        </a:rPr>
                        <a:t>G — metered</a:t>
                      </a:r>
                    </a:p>
                  </a:txBody>
                  <a:tcPr marL="128016" marR="128016" marT="36576" marB="36576" anchor="ctr">
                    <a:solidFill>
                      <a:srgbClr val="F4F8F5"/>
                    </a:solidFill>
                    <a:lnL w="5000">
                      <a:solidFill>
                        <a:srgbClr val="D9E4DD"/>
                      </a:solidFill>
                    </a:lnL>
                    <a:lnR w="5000">
                      <a:solidFill>
                        <a:srgbClr val="D9E4DD"/>
                      </a:solidFill>
                    </a:lnR>
                    <a:lnT w="5000">
                      <a:solidFill>
                        <a:srgbClr val="D9E4DD"/>
                      </a:solidFill>
                    </a:lnT>
                    <a:lnB w="5000">
                      <a:solidFill>
                        <a:srgbClr val="D9E4DD"/>
                      </a:solidFill>
                    </a:lnB>
                  </a:tcPr>
                </a:tc>
              </a:tr>
              <a:tr h="539496">
                <a:tc>
                  <a:txBody>
                    <a:bodyPr wrap="square">
                      <a:noAutofit/>
                    </a:bodyPr>
                    <a:lstStyle/>
                    <a:p>
                      <a:pPr algn="l">
                        <a:lnSpc>
                          <a:spcPct val="103000"/>
                        </a:lnSpc>
                        <a:spcBef>
                          <a:spcPts val="0"/>
                        </a:spcBef>
                        <a:spcAft>
                          <a:spcPts val="0"/>
                        </a:spcAft>
                      </a:pPr>
                      <a:r>
                        <a:rPr sz="1610" b="1" lang="en-US">
                          <a:solidFill>
                            <a:srgbClr val="005238"/>
                          </a:solidFill>
                          <a:latin typeface="Arial"/>
                        </a:rPr>
                        <a:t>OPERATING SUBTOTAL</a:t>
                      </a:r>
                    </a:p>
                  </a:txBody>
                  <a:tcPr marL="128016" marR="128016" marT="36576" marB="36576" anchor="ctr">
                    <a:solidFill>
                      <a:srgbClr val="E8F3EC"/>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610" b="1" lang="en-US">
                          <a:solidFill>
                            <a:srgbClr val="005238"/>
                          </a:solidFill>
                          <a:latin typeface="Arial"/>
                        </a:rPr>
                        <a:t>$2,745</a:t>
                      </a:r>
                    </a:p>
                  </a:txBody>
                  <a:tcPr marL="128016" marR="128016" marT="36576" marB="36576" anchor="ctr">
                    <a:solidFill>
                      <a:srgbClr val="E8F3EC"/>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610" b="1" lang="en-US">
                          <a:solidFill>
                            <a:srgbClr val="005238"/>
                          </a:solidFill>
                          <a:latin typeface="Arial"/>
                        </a:rPr>
                        <a:t>$1,760*</a:t>
                      </a:r>
                    </a:p>
                  </a:txBody>
                  <a:tcPr marL="128016" marR="128016" marT="36576" marB="36576" anchor="ctr">
                    <a:solidFill>
                      <a:srgbClr val="E8F3EC"/>
                    </a:solidFill>
                    <a:lnL w="5000">
                      <a:solidFill>
                        <a:srgbClr val="D9E4DD"/>
                      </a:solidFill>
                    </a:lnL>
                    <a:lnR w="5000">
                      <a:solidFill>
                        <a:srgbClr val="D9E4DD"/>
                      </a:solidFill>
                    </a:lnR>
                    <a:lnT w="5000">
                      <a:solidFill>
                        <a:srgbClr val="D9E4DD"/>
                      </a:solidFill>
                    </a:lnT>
                    <a:lnB w="5000">
                      <a:solidFill>
                        <a:srgbClr val="D9E4DD"/>
                      </a:solidFill>
                    </a:lnB>
                  </a:tcPr>
                </a:tc>
                <a:tc>
                  <a:txBody>
                    <a:bodyPr wrap="square">
                      <a:noAutofit/>
                    </a:bodyPr>
                    <a:lstStyle/>
                    <a:p>
                      <a:pPr algn="r">
                        <a:lnSpc>
                          <a:spcPct val="103000"/>
                        </a:lnSpc>
                        <a:spcBef>
                          <a:spcPts val="0"/>
                        </a:spcBef>
                        <a:spcAft>
                          <a:spcPts val="0"/>
                        </a:spcAft>
                      </a:pPr>
                      <a:r>
                        <a:rPr sz="1610" b="1" lang="en-US">
                          <a:solidFill>
                            <a:srgbClr val="005238"/>
                          </a:solidFill>
                          <a:latin typeface="Arial"/>
                        </a:rPr>
                        <a:t>$2,360 + G</a:t>
                      </a:r>
                    </a:p>
                  </a:txBody>
                  <a:tcPr marL="128016" marR="128016" marT="36576" marB="36576" anchor="ctr">
                    <a:solidFill>
                      <a:srgbClr val="E8F3EC"/>
                    </a:solidFill>
                    <a:lnL w="5000">
                      <a:solidFill>
                        <a:srgbClr val="D9E4DD"/>
                      </a:solidFill>
                    </a:lnL>
                    <a:lnR w="5000">
                      <a:solidFill>
                        <a:srgbClr val="D9E4DD"/>
                      </a:solidFill>
                    </a:lnR>
                    <a:lnT w="5000">
                      <a:solidFill>
                        <a:srgbClr val="D9E4DD"/>
                      </a:solidFill>
                    </a:lnT>
                    <a:lnB w="5000">
                      <a:solidFill>
                        <a:srgbClr val="D9E4DD"/>
                      </a:solidFill>
                    </a:lnB>
                  </a:tcPr>
                </a:tc>
              </a:tr>
            </a:tbl>
          </a:graphicData>
        </a:graphic>
      </p:graphicFrame>
      <p:sp>
        <p:nvSpPr>
          <p:cNvPr id="15" name="Rectangle 14"/>
          <p:cNvSpPr/>
          <p:nvPr/>
        </p:nvSpPr>
        <p:spPr>
          <a:xfrm>
            <a:off x="8622792" y="2523744"/>
            <a:ext cx="2971800" cy="2441448"/>
          </a:xfrm>
          <a:prstGeom prst="rect">
            <a:avLst/>
          </a:prstGeom>
          <a:solidFill>
            <a:srgbClr val="E8F3EC"/>
          </a:solidFill>
          <a:ln w="889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22792" y="2523744"/>
            <a:ext cx="2971800" cy="50292"/>
          </a:xfrm>
          <a:prstGeom prst="rect">
            <a:avLst/>
          </a:prstGeom>
          <a:solidFill>
            <a:srgbClr val="00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14816" y="2715768"/>
            <a:ext cx="2596896" cy="201168"/>
          </a:xfrm>
          <a:prstGeom prst="rect">
            <a:avLst/>
          </a:prstGeom>
          <a:noFill/>
        </p:spPr>
        <p:txBody>
          <a:bodyPr wrap="square" lIns="0" rIns="0" tIns="0" bIns="0" anchor="t">
            <a:noAutofit/>
          </a:bodyPr>
          <a:lstStyle/>
          <a:p>
            <a:pPr algn="l">
              <a:lnSpc>
                <a:spcPct val="103000"/>
              </a:lnSpc>
              <a:spcBef>
                <a:spcPts val="0"/>
              </a:spcBef>
              <a:spcAft>
                <a:spcPts val="0"/>
              </a:spcAft>
            </a:pPr>
            <a:r>
              <a:rPr sz="1050" b="1" lang="en-US">
                <a:solidFill>
                  <a:srgbClr val="005238"/>
                </a:solidFill>
                <a:latin typeface="Arial"/>
              </a:rPr>
              <a:t>ASKALPHA MODEL CALCULATION</a:t>
            </a:r>
          </a:p>
        </p:txBody>
      </p:sp>
      <p:sp>
        <p:nvSpPr>
          <p:cNvPr id="18" name="TextBox 17"/>
          <p:cNvSpPr txBox="1"/>
          <p:nvPr/>
        </p:nvSpPr>
        <p:spPr>
          <a:xfrm>
            <a:off x="8814816" y="3044952"/>
            <a:ext cx="2587752" cy="438912"/>
          </a:xfrm>
          <a:prstGeom prst="rect">
            <a:avLst/>
          </a:prstGeom>
          <a:noFill/>
        </p:spPr>
        <p:txBody>
          <a:bodyPr wrap="square" lIns="0" rIns="0" tIns="0" bIns="0" anchor="t">
            <a:noAutofit/>
          </a:bodyPr>
          <a:lstStyle/>
          <a:p>
            <a:pPr algn="l">
              <a:lnSpc>
                <a:spcPct val="103000"/>
              </a:lnSpc>
              <a:spcBef>
                <a:spcPts val="0"/>
              </a:spcBef>
              <a:spcAft>
                <a:spcPts val="0"/>
              </a:spcAft>
            </a:pPr>
            <a:r>
              <a:rPr sz="1350" b="0" lang="en-US">
                <a:solidFill>
                  <a:srgbClr val="182425"/>
                </a:solidFill>
                <a:latin typeface="Arial"/>
              </a:rPr>
              <a:t>8,000 input + 1,500 output</a:t>
            </a:r>
          </a:p>
          <a:p>
            <a:pPr algn="l">
              <a:lnSpc>
                <a:spcPct val="103000"/>
              </a:lnSpc>
              <a:spcBef>
                <a:spcPts val="0"/>
              </a:spcBef>
              <a:spcAft>
                <a:spcPts val="0"/>
              </a:spcAft>
            </a:pPr>
            <a:r>
              <a:rPr sz="1350" b="0" lang="en-US">
                <a:solidFill>
                  <a:srgbClr val="182425"/>
                </a:solidFill>
                <a:latin typeface="Arial"/>
              </a:rPr>
              <a:t>tokens per question</a:t>
            </a:r>
          </a:p>
        </p:txBody>
      </p:sp>
      <p:sp>
        <p:nvSpPr>
          <p:cNvPr id="19" name="TextBox 18"/>
          <p:cNvSpPr txBox="1"/>
          <p:nvPr/>
        </p:nvSpPr>
        <p:spPr>
          <a:xfrm>
            <a:off x="8814816" y="3602736"/>
            <a:ext cx="2587752" cy="384048"/>
          </a:xfrm>
          <a:prstGeom prst="rect">
            <a:avLst/>
          </a:prstGeom>
          <a:noFill/>
        </p:spPr>
        <p:txBody>
          <a:bodyPr wrap="square" lIns="0" rIns="0" tIns="0" bIns="0" anchor="t">
            <a:noAutofit/>
          </a:bodyPr>
          <a:lstStyle/>
          <a:p>
            <a:pPr algn="l">
              <a:lnSpc>
                <a:spcPct val="103000"/>
              </a:lnSpc>
              <a:spcBef>
                <a:spcPts val="0"/>
              </a:spcBef>
              <a:spcAft>
                <a:spcPts val="0"/>
              </a:spcAft>
            </a:pPr>
            <a:r>
              <a:rPr sz="1250" b="0" lang="en-US">
                <a:solidFill>
                  <a:srgbClr val="52635E"/>
                </a:solidFill>
                <a:latin typeface="Arial"/>
              </a:rPr>
              <a:t>GPT-5.2 reference pricing</a:t>
            </a:r>
          </a:p>
          <a:p>
            <a:pPr algn="l">
              <a:lnSpc>
                <a:spcPct val="103000"/>
              </a:lnSpc>
              <a:spcBef>
                <a:spcPts val="0"/>
              </a:spcBef>
              <a:spcAft>
                <a:spcPts val="0"/>
              </a:spcAft>
            </a:pPr>
            <a:r>
              <a:rPr sz="1250" b="0" lang="en-US">
                <a:solidFill>
                  <a:srgbClr val="52635E"/>
                </a:solidFill>
                <a:latin typeface="Arial"/>
              </a:rPr>
              <a:t>+ 10% retry / repair allowance</a:t>
            </a:r>
          </a:p>
        </p:txBody>
      </p:sp>
      <p:sp>
        <p:nvSpPr>
          <p:cNvPr id="20" name="TextBox 19"/>
          <p:cNvSpPr txBox="1"/>
          <p:nvPr/>
        </p:nvSpPr>
        <p:spPr>
          <a:xfrm>
            <a:off x="8814816" y="4087368"/>
            <a:ext cx="2587752" cy="365760"/>
          </a:xfrm>
          <a:prstGeom prst="rect">
            <a:avLst/>
          </a:prstGeom>
          <a:noFill/>
        </p:spPr>
        <p:txBody>
          <a:bodyPr wrap="square" lIns="0" rIns="0" tIns="0" bIns="0" anchor="t">
            <a:noAutofit/>
          </a:bodyPr>
          <a:lstStyle/>
          <a:p>
            <a:pPr algn="l">
              <a:lnSpc>
                <a:spcPct val="103000"/>
              </a:lnSpc>
              <a:spcBef>
                <a:spcPts val="0"/>
              </a:spcBef>
              <a:spcAft>
                <a:spcPts val="0"/>
              </a:spcAft>
            </a:pPr>
            <a:r>
              <a:rPr sz="2500" b="1" lang="en-US">
                <a:solidFill>
                  <a:srgbClr val="005238"/>
                </a:solidFill>
                <a:latin typeface="Arial"/>
              </a:rPr>
              <a:t>$385 / month</a:t>
            </a:r>
          </a:p>
        </p:txBody>
      </p:sp>
      <p:sp>
        <p:nvSpPr>
          <p:cNvPr id="21" name="TextBox 20"/>
          <p:cNvSpPr txBox="1"/>
          <p:nvPr/>
        </p:nvSpPr>
        <p:spPr>
          <a:xfrm>
            <a:off x="8814816" y="4517136"/>
            <a:ext cx="2587752" cy="301752"/>
          </a:xfrm>
          <a:prstGeom prst="rect">
            <a:avLst/>
          </a:prstGeom>
          <a:noFill/>
        </p:spPr>
        <p:txBody>
          <a:bodyPr wrap="square" lIns="0" rIns="0" tIns="0" bIns="0" anchor="t">
            <a:noAutofit/>
          </a:bodyPr>
          <a:lstStyle/>
          <a:p>
            <a:pPr algn="l">
              <a:lnSpc>
                <a:spcPct val="103000"/>
              </a:lnSpc>
              <a:spcBef>
                <a:spcPts val="0"/>
              </a:spcBef>
              <a:spcAft>
                <a:spcPts val="0"/>
              </a:spcAft>
            </a:pPr>
            <a:r>
              <a:rPr sz="1050" b="0" lang="en-US">
                <a:solidFill>
                  <a:srgbClr val="52635E"/>
                </a:solidFill>
                <a:latin typeface="Arial"/>
              </a:rPr>
              <a:t>$0.0385 per question</a:t>
            </a:r>
          </a:p>
          <a:p>
            <a:pPr algn="l">
              <a:lnSpc>
                <a:spcPct val="103000"/>
              </a:lnSpc>
              <a:spcBef>
                <a:spcPts val="0"/>
              </a:spcBef>
              <a:spcAft>
                <a:spcPts val="0"/>
              </a:spcAft>
            </a:pPr>
            <a:r>
              <a:rPr sz="1050" b="0" lang="en-US">
                <a:solidFill>
                  <a:srgbClr val="52635E"/>
                </a:solidFill>
                <a:latin typeface="Arial"/>
              </a:rPr>
              <a:t>Public API rate—not an Azure quote.</a:t>
            </a:r>
          </a:p>
        </p:txBody>
      </p:sp>
      <p:sp>
        <p:nvSpPr>
          <p:cNvPr id="22" name="Rectangle 21"/>
          <p:cNvSpPr/>
          <p:nvPr/>
        </p:nvSpPr>
        <p:spPr>
          <a:xfrm>
            <a:off x="594360" y="5074920"/>
            <a:ext cx="11000232" cy="329184"/>
          </a:xfrm>
          <a:prstGeom prst="rect">
            <a:avLst/>
          </a:prstGeom>
          <a:solidFill>
            <a:srgbClr val="FFF4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143500"/>
            <a:ext cx="10634472" cy="182880"/>
          </a:xfrm>
          <a:prstGeom prst="rect">
            <a:avLst/>
          </a:prstGeom>
          <a:noFill/>
        </p:spPr>
        <p:txBody>
          <a:bodyPr wrap="square" lIns="0" rIns="0" tIns="0" bIns="0" anchor="t">
            <a:noAutofit/>
          </a:bodyPr>
          <a:lstStyle/>
          <a:p>
            <a:pPr algn="l">
              <a:lnSpc>
                <a:spcPct val="103000"/>
              </a:lnSpc>
              <a:spcBef>
                <a:spcPts val="0"/>
              </a:spcBef>
              <a:spcAft>
                <a:spcPts val="0"/>
              </a:spcAft>
            </a:pPr>
            <a:r>
              <a:rPr sz="1170" b="1" lang="en-US">
                <a:solidFill>
                  <a:srgbClr val="B87722"/>
                </a:solidFill>
                <a:latin typeface="Arial"/>
              </a:rPr>
              <a:t>Sensitivity only: at G = $500/month, the hybrid subtotal is $2,860. This is not a quoted Genie tariff.</a:t>
            </a:r>
          </a:p>
        </p:txBody>
      </p:sp>
      <p:sp>
        <p:nvSpPr>
          <p:cNvPr id="24" name="TextBox 23"/>
          <p:cNvSpPr txBox="1"/>
          <p:nvPr/>
        </p:nvSpPr>
        <p:spPr>
          <a:xfrm>
            <a:off x="621792" y="5500116"/>
            <a:ext cx="10963656" cy="246888"/>
          </a:xfrm>
          <a:prstGeom prst="rect">
            <a:avLst/>
          </a:prstGeom>
          <a:noFill/>
        </p:spPr>
        <p:txBody>
          <a:bodyPr wrap="square" lIns="0" rIns="0" tIns="0" bIns="0" anchor="t">
            <a:noAutofit/>
          </a:bodyPr>
          <a:lstStyle/>
          <a:p>
            <a:pPr algn="l">
              <a:lnSpc>
                <a:spcPct val="103000"/>
              </a:lnSpc>
              <a:spcBef>
                <a:spcPts val="0"/>
              </a:spcBef>
              <a:spcAft>
                <a:spcPts val="0"/>
              </a:spcAft>
            </a:pPr>
            <a:r>
              <a:rPr sz="980" b="0" lang="en-US">
                <a:solidFill>
                  <a:srgbClr val="52635E"/>
                </a:solidFill>
                <a:latin typeface="Arial"/>
              </a:rPr>
              <a:t>* Human Genie AI promotion ends 31 Jan 2027; service principals are billed. Query compute is separate.</a:t>
            </a:r>
          </a:p>
          <a:p>
            <a:pPr algn="l">
              <a:lnSpc>
                <a:spcPct val="103000"/>
              </a:lnSpc>
              <a:spcBef>
                <a:spcPts val="0"/>
              </a:spcBef>
              <a:spcAft>
                <a:spcPts val="0"/>
              </a:spcAft>
            </a:pPr>
            <a:r>
              <a:rPr sz="980" b="0" lang="en-US">
                <a:solidFill>
                  <a:srgbClr val="52635E"/>
                </a:solidFill>
                <a:latin typeface="Arial"/>
              </a:rPr>
              <a:t>** No custom app in native UI. All totals exclude people, delivery work, storage, network and security/DR.</a:t>
            </a:r>
          </a:p>
        </p:txBody>
      </p:sp>
      <p:sp>
        <p:nvSpPr>
          <p:cNvPr id="25" name="Rectangle 24"/>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5852160"/>
            <a:ext cx="54864" cy="475488"/>
          </a:xfrm>
          <a:prstGeom prst="rect">
            <a:avLst/>
          </a:prstGeom>
          <a:solidFill>
            <a:srgbClr val="00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975604"/>
            <a:ext cx="1709928" cy="182880"/>
          </a:xfrm>
          <a:prstGeom prst="rect">
            <a:avLst/>
          </a:prstGeom>
          <a:noFill/>
        </p:spPr>
        <p:txBody>
          <a:bodyPr wrap="square" lIns="0" rIns="0" tIns="0" bIns="0" anchor="t">
            <a:noAutofit/>
          </a:bodyPr>
          <a:lstStyle/>
          <a:p>
            <a:pPr algn="l">
              <a:lnSpc>
                <a:spcPct val="103000"/>
              </a:lnSpc>
              <a:spcBef>
                <a:spcPts val="0"/>
              </a:spcBef>
              <a:spcAft>
                <a:spcPts val="0"/>
              </a:spcAft>
            </a:pPr>
            <a:r>
              <a:rPr sz="910" b="1" lang="en-US">
                <a:solidFill>
                  <a:srgbClr val="FFFFFF"/>
                </a:solidFill>
                <a:latin typeface="Arial"/>
              </a:rPr>
              <a:t>INVESTMENT RULE</a:t>
            </a:r>
          </a:p>
        </p:txBody>
      </p:sp>
      <p:sp>
        <p:nvSpPr>
          <p:cNvPr id="28" name="TextBox 27"/>
          <p:cNvSpPr txBox="1"/>
          <p:nvPr/>
        </p:nvSpPr>
        <p:spPr>
          <a:xfrm>
            <a:off x="2542032" y="5907024"/>
            <a:ext cx="8796528" cy="356616"/>
          </a:xfrm>
          <a:prstGeom prst="rect">
            <a:avLst/>
          </a:prstGeom>
          <a:noFill/>
        </p:spPr>
        <p:txBody>
          <a:bodyPr wrap="square" lIns="0" rIns="0" tIns="0" bIns="0" anchor="ctr">
            <a:noAutofit/>
          </a:bodyPr>
          <a:lstStyle/>
          <a:p>
            <a:pPr algn="l">
              <a:lnSpc>
                <a:spcPct val="103000"/>
              </a:lnSpc>
              <a:spcBef>
                <a:spcPts val="0"/>
              </a:spcBef>
              <a:spcAft>
                <a:spcPts val="0"/>
              </a:spcAft>
            </a:pPr>
            <a:r>
              <a:rPr sz="1380" b="1" lang="en-US">
                <a:solidFill>
                  <a:srgbClr val="FFFFFF"/>
                </a:solidFill>
                <a:latin typeface="Arial"/>
              </a:rPr>
              <a:t>Compare full forward TCO per accepted answer; replace assumptions with metered usage.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askalpha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askalpha | Executive Progress, Roadmap, Genie Comparison and Cost</dc:title>
  <dc:subject>Executive key-factor comparison and transparent operating-cost scenarios</dc:subject>
  <dc:creator>askalpha</dc:creator>
  <cp:lastModifiedBy>Hesam Hakimi</cp:lastModifiedBy>
  <cp:revision>1</cp:revision>
  <dcterms:created xsi:type="dcterms:W3CDTF">2026-09-09T11:23:31Z</dcterms:created>
  <dcterms:modified xsi:type="dcterms:W3CDTF">2026-09-09T11:23:31Z</dcterms:modified>
  <cp:keywords>askalpha; Genie; roadmap; cost; comparison; executive; illustrative; September 2026</cp:keywords>
  <dc:description>Two editable analytical slides added after the Genie strategy slide; formulas, assumptions, sources and exclusions are recorded in speaker notes.</dc:description>
</cp:coreProperties>
</file>