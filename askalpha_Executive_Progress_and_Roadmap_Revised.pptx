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8" r:id="rId19"/>
    <p:sldId id="269" r:id="rId20"/>
    <p:sldId id="270" r:id="rId21"/>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MVP 2 now includes targeted enterprise integrations as well as efficiency. Genie, on-premises connectivity and Collibra are proposed workstreams; none is newly claimed as implemented.</a:t>
            </a:r>
          </a:p>
          <a:p/>
          <a:p>
            <a:r>
              <a:t>PRIOR SLIDE CONTEXT (retained where not superseded)</a:t>
            </a:r>
          </a:p>
          <a:p>
            <a:r>
              <a:t>Leadership update. This uses the documented accepted foundation through 2E, the 1 September architecture delta and owner decisions. Existing business-question capability is a bounded working proof of concept. The three-card summary does not imply that the governed business pilot or production rollout has already been approved. No financial return or launch date is asserted.</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[S1] Authoritative current-state record, updated 26 Aug 2026. ChatGPT Library file ID file_00000000794881fdbf5e728f1de30ebd. Foundation through 2E; one pilot dataset/recipe; 199 governed fields; bounded evidence and successful workflows.</a:t>
            </a:r>
          </a:p>
          <a:p>
            <a:r>
              <a:t>[S2] Phase journey and manager summary, updated 26 Aug 2026. ChatGPT Library file ID file_00000000e57881fda2f0c1cc493a8779. Management roadmap and feature map, updated 26 Aug 2026: file_00000000212881fd8df615c438684075.</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Integration discovery can proceed alongside MVP 1; runtime integrations remain gated. The proposed workstreams do not replace approval, privacy or production-readiness obligations.</a:t>
            </a:r>
          </a:p>
          <a:p/>
          <a:p>
            <a:r>
              <a:t>PRIOR SLIDE CONTEXT (retained where not superseded)</a:t>
            </a:r>
          </a:p>
          <a:p>
            <a:r>
              <a:t>The completed column refers to engineering-delivered capability in the governed pilot, not enterprise-wide certification. The next column combines reported in-progress lifecycle work and later planned governance/templates/pilot work. The leadership asks are recommendations, not already approved funding or ownership.</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[S1] Authoritative current-state record, updated 26 Aug 2026. ChatGPT Library file ID file_00000000794881fdbf5e728f1de30ebd. Foundation through 2E; one pilot dataset/recipe; 199 governed fields; bounded evidence and successful workflows.</a:t>
            </a:r>
          </a:p>
          <a:p>
            <a:r>
              <a:t>[S2] Phase journey and manager summary, updated 26 Aug 2026. ChatGPT Library file ID file_00000000e57881fda2f0c1cc493a8779. Management roadmap and feature map, updated 26 Aug 2026: file_00000000212881fd8df615c438684075.</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No additional delivered integration or production capability is asserted. Existing SQL execution support is not evidence of a working on-premises deployment.</a:t>
            </a:r>
          </a:p>
          <a:p/>
          <a:p>
            <a:r>
              <a:t>PRIOR SLIDE CONTEXT (retained where not superseded)</a:t>
            </a:r>
          </a:p>
          <a:p>
            <a:r>
              <a:t>Source S1 records one governed pilot dataset, one approved recipe and 199 strictly evidenced governed fields. These are not enterprise-wide coverage or 199 certified metrics. The documented accepted provider-neutral DataSourceAdapter boundary does not mean Databricks or other source integrations are live. Existing metadata-snapshot caching is not distributed result caching. No current repository state is asserted.</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[S1] Authoritative current-state record, updated 26 Aug 2026. ChatGPT Library file ID file_00000000794881fdbf5e728f1de30ebd. Foundation through 2E; one pilot dataset/recipe; 199 governed fields; bounded evidence and successful workflows.</a:t>
            </a:r>
          </a:p>
          <a:p>
            <a:r>
              <a:t>[S2] Phase journey and manager summary, updated 26 Aug 2026. ChatGPT Library file ID file_00000000e57881fda2f0c1cc493a8779. Management roadmap and feature map, updated 26 Aug 2026: file_00000000212881fd8df615c438684075.</a:t>
            </a:r>
          </a:p>
          <a:p>
            <a:r>
              <a:t>[S5] Architecture and roadmap update, updated 26 Aug 2026: file_00000000a02081fd918c3632e0a5a902. Assumption and decision log: file_00000000e3648230adcaafa37e6315c6. Approximately 5 TB or more is planning context; provider-side execution and bounded results; scale qualification remains later work.</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Collibra source-of-record and import contracts should be considered during Phase 2F.3. The runtime Semantic Registry remains the canonical published semantic snapshot. No new Collibra API or network work belongs in the pure Phase 2F.1 evaluator. Existing 2F.1 status remains reported implementation/review with final integration requiring verification.</a:t>
            </a:r>
          </a:p>
          <a:p/>
          <a:p>
            <a:r>
              <a:t>PRIOR SLIDE CONTEXT (retained where not superseded)</a:t>
            </a:r>
          </a:p>
          <a:p>
            <a:r>
              <a:t>The 1 September impact report supersedes older statements that all Phase 2F implementation was not started. It reports 2F.1 implemented and independently reviewed, but merge acceptance remains REVERIFY_REQUIRED. Its lifecycle classifier is default-OFF, classification-only and does not itself activate a production execution policy. The cards show next work (2F.2, 2F.3 and 2F.4), not delivery already achieved. Warn versus block for resolvable governed change is an owner decision; missing authorization and invalid required evidence must still fail closed.</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[S4] Phase 2F Scope Discovery, 26 Aug 2026. ChatGPT Library file ID file_00000000c24c81fdbfea4ccb0f4e409b. Lifecycle, approval policy, certified meaning, templates, evidence-gated relationships and acceptance conditions.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[W3] Collibra developer documentation: APIs https://developer.collibra.com/api ; Output Module https://developer.collibra.com/api/guides/output-module . Checked 9 Sep 2026. Supported APIs can retrieve assets, attributes and relationships. Availability, populated metadata, credentials, permissions and enterprise approval remain to be confirmed in the relevant environment.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original three executive milestones are preserved; the second is renamed Enterprise Integration &amp; Efficiency. This is proposed delivery packaging, not a renumbering of engineering phases. MVP 1 integrates the accepted foundation and pending 2F/2G trust controls. Genie feasibility and on-premises access discovery may run alongside it; Collibra ownership and metadata contracts belong with Phase 2F.3. Targeted runtime integration follows in engineering Phase 3 / proposed MVP 2 only after readiness and value gates. Genie is conditional, not guaranteed. An on-premises connector may move into MVP 1 only if essential to the approved pilot. Efficiency work spans later engineering phases; advanced visualization aligns with Phase 8. No milestone date or deployment is asserted.</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[S6] Owner-supplied conversation and previous roadmap photographs. Three executive milestones and green/white design direction. Application-owned entity authorization; service-identity source access; no mirrored user ACLs; governed semantics, templates and cache design. Photos are visual/reference material, not evidence of delivery or measured ROI.</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The four core-delivery steps remain intact. Parallel work is bounded discovery: one Genie domain comparison, one on-premises source/access feasibility study and one Collibra metadata contract. Do not postpone the SQL-based governed pilot for optional integrations. Return an owner-backed go/no-go recommendation before runtime implementation.</a:t>
            </a:r>
          </a:p>
          <a:p/>
          <a:p>
            <a:r>
              <a:t>PRIOR SLIDE CONTEXT (retained where not superseded)</a:t>
            </a:r>
          </a:p>
          <a:p>
            <a:r>
              <a:t>This is a proposed executive work sequence based on the 1 September impact report, not authorization to change code or a dated plan. Detailed engineering sequence: reverify current baseline; close 2F.2 policy; certified semantic objects in 2F.3; template contracts and deterministic formatting in 2F.4; relationship impact only after governed evidence; hardening; controlled publish/rollback. AI formatting is optional and should stay disabled until approved. Delivery cadence comes from the supplied roadmap and must be agreed against capacity. Core work can proceed while integration approvals are resolved; an unapproved path cannot be used for a production pilot.</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[S4] Phase 2F Scope Discovery, 26 Aug 2026. ChatGPT Library file ID file_00000000c24c81fdbfea4ccb0f4e409b. Lifecycle, approval policy, certified meaning, templates, evidence-gated relationships and acceptance conditions.</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Efficiency is one track within Enterprise Integration &amp; Efficiency. No additional infrastructure or cache product is selected. Early-cache matching must be deterministic before any LLM call, include exact request parameters and authorization context, and validate entry eligibility. If a cache returns only a plan, source execution is still required; only an eligible result hit can skip the data query.</a:t>
            </a:r>
          </a:p>
          <a:p/>
          <a:p>
            <a:r>
              <a:t>PRIOR SLIDE CONTEXT (retained where not superseded)</a:t>
            </a:r>
          </a:p>
          <a:p>
            <a:r>
              <a:t>Two planned caches serve different purposes: an early request/template lookup must use deterministic information available before an AI call; the post-plan result cache may use a semantic plan hash. No current cache delivery is asserted. Safe keys need scope, exact request/template parameters and context, registry/recipe/template/policy/freshness identity and output semantics. Authorization precedes lookup. Cached results must be revalidated for scope and policy where applicable; a source revocation policy must be defined rather than assuming cache access bypasses platform controls. Approximately 5 TB or more is owner-provided planning context, not tested capacity. Monthly curated release is a working direction, not mandatory daily automation.</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[S5] Architecture and roadmap update, updated 26 Aug 2026: file_00000000a02081fd918c3632e0a5a902. Assumption and decision log: file_00000000e3648230adcaafa37e6315c6. Approximately 5 TB or more is planning context; provider-side execution and bounded results; scale qualification remains later work.</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three proposed integration workstreams with different roles: Genie provides a candidate analytics route; on-premises connectors extend data access; Collibra provides governed metadata. They are not substitutes for one another. Current SQL support remains unchanged. The three integration scopes are proposed, not active dependencies. Engineering Phase 3 is the integration phase, not executive MVP 3. Provider-native access and approval prerequisites must be verified. No user-permission synchronization is introduced.</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[W1] Microsoft Learn: Use the Genie Agents API. https://learn.microsoft.com/en-us/azure/databricks/genie-agents/conversation-api . Checked 9 Sep 2026. The API supports embedding conversational analytics; quality still depends on curated context and testing. API authorization and data/warehouse permissions must be confirmed for the chosen enterprise identity pattern.</a:t>
            </a:r>
          </a:p>
          <a:p>
            <a:r>
              <a:t>[W2] Microsoft Learn: Connect to external databases and catalogs. https://learn.microsoft.com/en-us/azure/databricks/query-federation/ . SQL Server: https://learn.microsoft.com/en-us/azure/databricks/query-federation/sql-server . Oracle: https://learn.microsoft.com/en-us/azure/databricks/query-federation/oracle . Checked 9 Sep 2026. External database access is also possible through Databricks federation; the askalpha proposal is platform choice, not exclusive connectivity or guaranteed lower cost.</a:t>
            </a:r>
          </a:p>
          <a:p>
            <a:r>
              <a:t>[W3] Collibra developer documentation: APIs https://developer.collibra.com/api ; Output Module https://developer.collibra.com/api/guides/output-module . Checked 9 Sep 2026. Supported APIs can retrieve assets, attributes and relationships. Availability, populated metadata, credentials, permissions and enterprise approval remain to be confirmed in the relevant environment.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Add integration-specific measurement to the pilot scorecard. Compare Genie and direct execution only on equivalent questions, data and permitted scope. For on-premises, include source workload and network impact. For Collibra, measure metadata completeness for the chosen scope, freshness and manual upkeep avoided. Do not claim measured benefits until baselines and tests exist.</a:t>
            </a:r>
          </a:p>
          <a:p/>
          <a:p>
            <a:r>
              <a:t>PRIOR SLIDE CONTEXT (retained where not superseded)</a:t>
            </a:r>
          </a:p>
          <a:p>
            <a:r>
              <a:t>All measures on this slide are recommendations and not achieved outcomes. No measured productivity gain, reporting reduction, adoption or ROI is available in the reviewed evidence. Peak concurrency is to be agreed for aggregate scope; previous use-case estimates must not be presented as validated enterprise capacity. A pilot acceptance test is not a universal guarantee of security or reliability. Existing regulated/scheduled reports continue unless their owners approve rationalization. The pilot complements those reporting channels rather than committing to replacing them.</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[S2] Phase journey and manager summary, updated 26 Aug 2026. ChatGPT Library file ID file_00000000e57881fda2f0c1cc493a8779. Management roadmap and feature map, updated 26 Aug 2026: file_00000000212881fd8df615c438684075.</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[S5] Architecture and roadmap update, updated 26 Aug 2026: file_00000000a02081fd918c3632e0a5a902. Assumption and decision log: file_00000000e3648230adcaafa37e6315c6. Approximately 5 TB or more is planning context; provider-side execution and bounded results; scale qualification remains later work.</a:t>
            </a:r>
          </a:p>
          <a:p>
            <a:r>
              <a:t>[S6] Owner-provided conversation and roadmap photographs. Preserves three delivery milestones: Foundation &amp; Trust; Scale &amp; Efficiency; Advanced Visualization. Latest owner direction: application-owned entity authorization with Managed Identity source access and no user-ACL synchronization; early and post-plan caching; Semantic Registry business authority; deterministic output routing; Genie future evaluation. Two-week demos are a proposed cadence, not committed release dates.</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new rows explicitly request decisions for Genie, on-premises connectivity and Collibra, not just general platform approval. These are accountable-function proposals; no named owner is assigned by this deck. Core business approval/renewal/change policy, AI privacy, operational targets and release evidence remain required. Do not interpret the six decisions as blanket production approval, an open-ended connector program or a funding commitment. No quantified spend or fixed date is invented. Entity-level application authorization and service-identity access remain the working MVP model with no user-ACL synchronization.</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Planned integration opportunities are now timed, not reclassified as implemented. Genie remains a candidate and may fail its evaluation. On-premises access and Collibra API readiness are not established by the current SQL foundation. Source/version metadata provenance complements the runtime Registry authority; no competing definition store is proposed.</a:t>
            </a:r>
          </a:p>
          <a:p/>
          <a:p>
            <a:r>
              <a:t>PRIOR SLIDE CONTEXT (retained where not superseded)</a:t>
            </a:r>
          </a:p>
          <a:p>
            <a:r>
              <a:t>This status matrix reconciles the historical 26 August current-state record with the 1 September impact report. It does not assign a percentage completion or infer any deployment. 2F.1 evidence concerns a classification-only evaluator, default OFF; this does not mean approved operational policy is active. The design decisions are owner-level working program direction, not blanket enterprise approval. Treat every new provider and optional AI result boundary as separately qualified.</a:t>
            </a:r>
          </a:p>
          <a:p/>
          <a:p>
            <a:r>
              <a:t>EVIDENCE AND STATUS DISCIPLINE</a:t>
            </a:r>
          </a:p>
          <a:p>
            <a:r>
              <a:t>Completed means documented engineering delivery in the stated scope, not enterprise production rollout. No live repository or deployment check was performed for this presentation. Roadmap targets and benefits are not measured achievements.</a:t>
            </a:r>
          </a:p>
          <a:p/>
          <a:p>
            <a:r>
              <a:t>SOURCES</a:t>
            </a:r>
          </a:p>
          <a:p>
            <a:r>
              <a:t>[S1] Authoritative current-state record, updated 26 Aug 2026. ChatGPT Library file ID file_00000000794881fdbf5e728f1de30ebd. Foundation through 2E; one pilot dataset/recipe; 199 governed fields; bounded evidence and successful workflows.</a:t>
            </a:r>
          </a:p>
          <a:p>
            <a:r>
              <a:t>[S2] Phase journey and manager summary, updated 26 Aug 2026. ChatGPT Library file ID file_00000000e57881fda2f0c1cc493a8779. Management roadmap and feature map, updated 26 Aug 2026: file_00000000212881fd8df615c438684075.</a:t>
            </a:r>
          </a:p>
          <a:p>
            <a:r>
              <a:t>[S3] Architecture Delta Impact Report, 1 Sep 2026. ChatGPT Library file ID file_00000000d9c081f6a266f8bdbf5b513f. Reports 2F.1 implementation and independent review, but current merge acceptance is REVERIFY_REQUIRED. Explicit semantic ownership, no ACL-sync MVP, planned two-stage caching and conditional AI formatting.</a:t>
            </a:r>
          </a:p>
          <a:p>
            <a:r>
              <a:t>[S4] Phase 2F Scope Discovery, 26 Aug 2026. ChatGPT Library file ID file_00000000c24c81fdbfea4ccb0f4e409b. Lifecycle, approval policy, certified meaning, templates, evidence-gated relationships and acceptance conditions.</a:t>
            </a:r>
          </a:p>
          <a:p>
            <a:r>
              <a:t>[S5] Architecture and roadmap update, updated 26 Aug 2026: file_00000000a02081fd918c3632e0a5a902. Assumption and decision log: file_00000000e3648230adcaafa37e6315c6. Approximately 5 TB or more is planning context; provider-side execution and bounded results; scale qualification remains later work.</a:t>
            </a:r>
          </a:p>
          <a:p/>
          <a:p>
            <a:r>
              <a:t>Design: user-supplied green-and-white executive and three-milestone roadmap screenshots. Native PowerPoint shapes and text; no screenshot content copied as delivery evidence.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Crosswalk is an executive presentation recommendation, not an approved technical renumbering. Existing engineering roadmap is preserved. Phase 2F.3 defines certified semantic contracts; integrating live Collibra and other provider APIs is separate Phase 3 work. Phase 3 also contains Databricks/provider work and the Genie coexistence boundary. Broader safety/evaluation/performance/self-service phases contribute to executive MVP 2; engineering Phase 8 supports executive MVP 3. Preparatory discovery does not require waiting for the end of MVP 1, but runtime activation still requires the relevant gates. Source evidence remains historical through accepted 2E with a 1 September 2F.1 review. No repository, deployment, service-access or environment check was conducted for this presentation. Vendor docs only support external feature feasibility. Approximately 5 TB or more is a planning context, not a demonstrated capacity.</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[S1] Authoritative current-state record, updated 26 Aug 2026. Library file ID file_00000000794881fdbf5e728f1de30ebd. Accepted foundation through 2E; one governed pilot dataset and calculation; 199 evidenced fields. Historical delivery evidence, not a live production check.</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[S6] Owner-supplied conversation and previous roadmap photographs. Three executive milestones and green/white design direction. Application-owned entity authorization; service-identity source access; no mirrored user ACLs; governed semantics, templates and cache design. Photos are visual/reference material, not evidence of delivery or measured ROI.</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[W1] Microsoft Learn: Use the Genie Agents API. https://learn.microsoft.com/en-us/azure/databricks/genie-agents/conversation-api . Checked 9 Sep 2026. The API supports embedding conversational analytics; quality still depends on curated context and testing. API authorization and data/warehouse permissions must be confirmed for the chosen enterprise identity pattern.</a:t>
            </a:r>
          </a:p>
          <a:p>
            <a:r>
              <a:t>[W2] Microsoft Learn: Connect to external databases and catalogs. https://learn.microsoft.com/en-us/azure/databricks/query-federation/ . SQL Server: https://learn.microsoft.com/en-us/azure/databricks/query-federation/sql-server . Oracle: https://learn.microsoft.com/en-us/azure/databricks/query-federation/oracle . Checked 9 Sep 2026. External database access is also possible through Databricks federation; the askalpha proposal is platform choice, not exclusive connectivity or guaranteed lower cost.</a:t>
            </a:r>
          </a:p>
          <a:p>
            <a:r>
              <a:t>[W3] Collibra developer documentation: APIs https://developer.collibra.com/api ; Output Module https://developer.collibra.com/api/guides/output-module . Checked 9 Sep 2026. Supported APIs can retrieve assets, attributes and relationships. Availability, populated metadata, credentials, permissions and enterprise approval remain to be confirmed in the relevant environment.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not started or approved: assess Genie on one curated Databricks-resident domain using the same golden questions and authorization scopes as the direct path. The API offers an embedding route, but the vendor capability is not evidence of enterprise deployment or answer quality. A Genie request may execute queries; wrapping the returned answer in an application check is not sufficient. With shared workload identity, an approved restricted domain/object boundary or equivalent pre-execution control must enforce the end user’s permitted entity scope. No continuous user-ACL mirror is introduced. Reject or defer the candidate if the chosen provider cannot satisfy that boundary. Compare accuracy, evidence, response time, query cost, model cost, operations and maintainability before recommending rollout. Timing is MVP 1 assessment, conditional MVP 2 implementation via engineering Phase 3.</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[W1] Microsoft Learn: Use the Genie Agents API. https://learn.microsoft.com/en-us/azure/databricks/genie-agents/conversation-api . Checked 9 Sep 2026. The API supports embedding conversational analytics; quality still depends on curated context and testing. API authorization and data/warehouse permissions must be confirmed for the chosen enterprise identity pattern.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sequence: confirm the business question and one required on-premises database during MVP 1; deliver a source-specific read-only adapter and tested connectivity in engineering Phase 3 / MVP 2. A single essential source may be moved into MVP 1 by explicit scope and readiness approval, not by making every on-premises platform a prerequisite. Managed Identity is preferred where actually supported; do not assume all on-premises SQL Server or Oracle systems accept it. IAM must approve the source-appropriate workload identity, secret handling where needed, network and server configuration. Service identity only defines the application envelope; askalpha continues to enforce end-user entity scope before execution. Execute heavy analytical work on an approved source/read replica and return bounded results; assess source workload impact, licenses, network and operations as costs. Databricks federation also supports external SQL Server and Oracle access. The differentiator proposed here is the option of direct execution without a mandatory Databricks intermediary, not a claim that Genie/Databricks cannot access external data or that this route is free.</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[S2] Phase journey and management roadmap, updated 26 Aug 2026. Library file IDs file_00000000e57881fda2f0c1cc493a8779 and file_00000000212881fd8df615c438684075. Engineering Phase 3: approved providers and Genie coexistence; Phases 4-7: safety, evaluation, performance and publishing; Phase 8: visualization and exports.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[S5] Architecture/roadmap and decision log, updated 26 Aug 2026. Library file IDs file_00000000a02081fd918c3632e0a5a902 and file_00000000e3648230adcaafa37e6315c6. Approximately 5 TB or more is planning context; provider-side execution with bounded results. No enterprise scale qualification claimed.</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[W2] Microsoft Learn: Connect to external databases and catalogs. https://learn.microsoft.com/en-us/azure/databricks/query-federation/ . SQL Server: https://learn.microsoft.com/en-us/azure/databricks/query-federation/sql-server . Oracle: https://learn.microsoft.com/en-us/azure/databricks/query-federation/oracle . Checked 9 Sep 2026. External database access is also possible through Databricks federation; the askalpha proposal is platform choice, not exclusive connectivity or guaranteed lower cost.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Collibra boundary: the enterprise owner decides which approved definitions and governance attributes originate in Collibra or another system of record. askalpha publishes a validated, versioned canonical runtime snapshot; it must not become a competing authoring authority for imported definitions. Templates reference semantic IDs and versions, not re-encoded KPIs. The Collibra API/Output Module can retrieve relevant assets, attributes and relationships. Actual enterprise metadata population, API access, authentication, approval and freshness remain to be verified. Contract and ownership work can be included in Phase 2F.3 during MVP 1. Read-only adapter, refresh and operational integration are separate Phase 3 / proposed MVP 2 work; avoid expanding the Phase 2F.1 evaluator. Start with one domain and scheduled/controlled refresh rather than a per-question catalog call. Preserve provenance, reject conflicting required evidence, and define stale/unavailable behavior. This is governance metadata intake, not an ACL synchronization engine, and metadata never grants access.</a:t>
            </a:r>
          </a:p>
          <a:p/>
          <a:p>
            <a:r>
              <a:t>EVIDENCE / STATUS</a:t>
            </a:r>
          </a:p>
          <a:p>
            <a:r>
              <a:t>This is a presentation revision, not a live repository or deployment verification. Completed refers only to documented engineering delivery. Vendor capability does not establish enterprise readiness. Recommended timing and benefits are not approved launch commitments or measured outcomes.</a:t>
            </a:r>
          </a:p>
          <a:p/>
          <a:p>
            <a:r>
              <a:t>REFERENCES</a:t>
            </a:r>
          </a:p>
          <a:p>
            <a:r>
              <a:t>[S3] Architecture Delta Impact Report, 1 Sep 2026. Library file ID file_00000000d9c081f6a266f8bdbf5b513f. Phase 2F.1 implementation/review reported; final merge and activation require re-verification. Registry semantic authority, referenced templates, no user-ACL synchronization, optional AI formatting and planned early/result cache contracts.</a:t>
            </a:r>
          </a:p>
          <a:p>
            <a:r>
              <a:t>[S4] Phase 2F Scope Discovery, 26 Aug 2026. Library file ID file_00000000c24c81fdbfea4ccb0f4e409b. Approval policy; certified semantics; output templates; governed relationship impact and independently reviewed slices.</a:t>
            </a:r>
          </a:p>
          <a:p>
            <a:r>
              <a:t>[S7] Owner-requested integration-roadmap revision in this conversation. Proposed timing: evaluate Genie alongside MVP 1 and conditionally integrate in MVP 2; discover on-premises access in MVP 1 and deliver one selected source in MVP 2, brought forward only if essential to the approved pilot; define Collibra metadata ownership/contracts in MVP 1 and implement read-only integration in MVP 2. MVP 2 is reframed as Enterprise Integration &amp; Efficiency. These are recommended priorities, not environment approvals or dated commitments.</a:t>
            </a:r>
          </a:p>
          <a:p>
            <a:r>
              <a:t>[W3] Collibra developer documentation: APIs https://developer.collibra.com/api ; Output Module https://developer.collibra.com/api/guides/output-module . Checked 9 Sep 2026. Supported APIs can retrieve assets, attributes and relationships. Availability, populated metadata, credentials, permissions and enterprise approval remain to be confirmed in the relevant environment.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238"/>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87722"/>
          </a:solidFill>
          <a:ln w="12700">
            <a:solidFill>
              <a:srgbClr val="B87722"/>
            </a:solidFill>
            <a:prstDash val="solid"/>
          </a:ln>
        </p:spPr>
        <p:txBody>
          <a:bodyPr/>
          <a:p/>
        </p:txBody>
      </p:sp>
      <p:sp>
        <p:nvSpPr>
          <p:cNvPr id="3" name="Shape 1"/>
          <p:cNvSpPr/>
          <p:nvPr/>
        </p:nvSpPr>
        <p:spPr>
          <a:xfrm>
            <a:off x="9052560" y="0"/>
            <a:ext cx="3136392" cy="6858000"/>
          </a:xfrm>
          <a:prstGeom prst="rect">
            <a:avLst/>
          </a:prstGeom>
          <a:solidFill>
            <a:srgbClr val="004B34"/>
          </a:solidFill>
          <a:ln w="12700">
            <a:solidFill>
              <a:srgbClr val="004B34"/>
            </a:solidFill>
            <a:prstDash val="solid"/>
          </a:ln>
        </p:spPr>
        <p:txBody>
          <a:bodyPr/>
          <a:p/>
        </p:txBody>
      </p:sp>
      <p:sp>
        <p:nvSpPr>
          <p:cNvPr id="4" name="Text 2"/>
          <p:cNvSpPr/>
          <p:nvPr/>
        </p:nvSpPr>
        <p:spPr>
          <a:xfrm>
            <a:off x="9582912" y="484632"/>
            <a:ext cx="1938528" cy="502920"/>
          </a:xfrm>
          <a:prstGeom prst="rect">
            <a:avLst/>
          </a:prstGeom>
          <a:noFill/>
          <a:ln/>
        </p:spPr>
        <p:txBody>
          <a:bodyPr wrap="square" lIns="0" tIns="0" rIns="0" bIns="0" rtlCol="0" anchor="ctr"/>
          <a:lstStyle/>
          <a:p>
            <a:pPr algn="r" indent="0" marL="0">
              <a:buNone/>
            </a:pPr>
            <a:r>
              <a:rPr lang="en-US" sz="3000" b="1" dirty="0">
                <a:solidFill>
                  <a:srgbClr val="FFFFFF"/>
                </a:solidFill>
                <a:latin typeface="Arial" pitchFamily="34" charset="0"/>
                <a:ea typeface="Arial" pitchFamily="34" charset="-122"/>
                <a:cs typeface="Arial" pitchFamily="34" charset="-120"/>
              </a:rPr>
              <a:t>askalpha</a:t>
            </a:r>
            <a:endParaRPr lang="en-US" sz="3000" dirty="0"/>
          </a:p>
        </p:txBody>
      </p:sp>
      <p:sp>
        <p:nvSpPr>
          <p:cNvPr id="5" name="Text 3"/>
          <p:cNvSpPr/>
          <p:nvPr/>
        </p:nvSpPr>
        <p:spPr>
          <a:xfrm>
            <a:off x="704088" y="530352"/>
            <a:ext cx="7955280" cy="256032"/>
          </a:xfrm>
          <a:prstGeom prst="rect">
            <a:avLst/>
          </a:prstGeom>
          <a:noFill/>
          <a:ln/>
        </p:spPr>
        <p:txBody>
          <a:bodyPr wrap="square" lIns="0" tIns="0" rIns="0" bIns="0" rtlCol="0" anchor="ctr"/>
          <a:lstStyle/>
          <a:p>
            <a:pPr indent="0" marL="0">
              <a:buNone/>
            </a:pPr>
            <a:r>
              <a:rPr lang="en-US" sz="1200" b="1" spc="200" kern="0" dirty="0">
                <a:solidFill>
                  <a:srgbClr val="C8E4D2"/>
                </a:solidFill>
                <a:latin typeface="Arial" pitchFamily="34" charset="0"/>
                <a:ea typeface="Arial" pitchFamily="34" charset="-122"/>
                <a:cs typeface="Arial" pitchFamily="34" charset="-120"/>
              </a:rPr>
              <a:t>EXECUTIVE DELIVERY UPDATE</a:t>
            </a:r>
            <a:endParaRPr lang="en-US" sz="1200" dirty="0"/>
          </a:p>
        </p:txBody>
      </p:sp>
      <p:sp>
        <p:nvSpPr>
          <p:cNvPr id="6" name="Text 4"/>
          <p:cNvSpPr/>
          <p:nvPr/>
        </p:nvSpPr>
        <p:spPr>
          <a:xfrm>
            <a:off x="704088" y="1344168"/>
            <a:ext cx="10424160" cy="1618488"/>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From working answers</a:t>
            </a:r>
            <a:endParaRPr lang="en-US" sz="4400" dirty="0"/>
          </a:p>
          <a:p>
            <a:pPr indent="0" marL="0">
              <a:buNone/>
            </a:pPr>
            <a:r>
              <a:rPr lang="en-US" sz="4400" b="1" dirty="0">
                <a:solidFill>
                  <a:srgbClr val="FFFFFF"/>
                </a:solidFill>
                <a:latin typeface="Arial" pitchFamily="34" charset="0"/>
                <a:ea typeface="Arial" pitchFamily="34" charset="-122"/>
                <a:cs typeface="Arial" pitchFamily="34" charset="-120"/>
              </a:rPr>
              <a:t>to governed scale</a:t>
            </a:r>
            <a:endParaRPr lang="en-US" sz="4400" dirty="0"/>
          </a:p>
        </p:txBody>
      </p:sp>
      <p:sp>
        <p:nvSpPr>
          <p:cNvPr id="7" name="Text 5"/>
          <p:cNvSpPr/>
          <p:nvPr/>
        </p:nvSpPr>
        <p:spPr>
          <a:xfrm>
            <a:off x="731520" y="3154680"/>
            <a:ext cx="9966960" cy="411480"/>
          </a:xfrm>
          <a:prstGeom prst="rect">
            <a:avLst/>
          </a:prstGeom>
          <a:noFill/>
          <a:ln/>
        </p:spPr>
        <p:txBody>
          <a:bodyPr wrap="square" lIns="0" tIns="0" rIns="0" bIns="0" rtlCol="0" anchor="ctr"/>
          <a:lstStyle/>
          <a:p>
            <a:pPr indent="0" marL="0">
              <a:buNone/>
            </a:pPr>
            <a:r>
              <a:rPr lang="en-US" sz="2000" dirty="0">
                <a:solidFill>
                  <a:srgbClr val="DBEEE2"/>
                </a:solidFill>
                <a:latin typeface="Arial" pitchFamily="34" charset="0"/>
                <a:ea typeface="Arial" pitchFamily="34" charset="-122"/>
                <a:cs typeface="Arial" pitchFamily="34" charset="-120"/>
              </a:rPr>
              <a:t>Progress delivered. Strategic integrations. Decisions required.</a:t>
            </a:r>
            <a:endParaRPr lang="en-US" sz="2000" dirty="0"/>
          </a:p>
        </p:txBody>
      </p:sp>
      <p:sp>
        <p:nvSpPr>
          <p:cNvPr id="8" name="Shape 6"/>
          <p:cNvSpPr/>
          <p:nvPr/>
        </p:nvSpPr>
        <p:spPr>
          <a:xfrm>
            <a:off x="731520" y="4242816"/>
            <a:ext cx="3401568" cy="1252728"/>
          </a:xfrm>
          <a:prstGeom prst="rect">
            <a:avLst/>
          </a:prstGeom>
          <a:solidFill>
            <a:srgbClr val="096549"/>
          </a:solidFill>
          <a:ln w="8890">
            <a:solidFill>
              <a:srgbClr val="318467"/>
            </a:solidFill>
            <a:prstDash val="solid"/>
          </a:ln>
        </p:spPr>
        <p:txBody>
          <a:bodyPr/>
          <a:p/>
        </p:txBody>
      </p:sp>
      <p:sp>
        <p:nvSpPr>
          <p:cNvPr id="9" name="Text 7"/>
          <p:cNvSpPr/>
          <p:nvPr/>
        </p:nvSpPr>
        <p:spPr>
          <a:xfrm>
            <a:off x="932688" y="4416552"/>
            <a:ext cx="2944368" cy="228600"/>
          </a:xfrm>
          <a:prstGeom prst="rect">
            <a:avLst/>
          </a:prstGeom>
          <a:noFill/>
          <a:ln/>
        </p:spPr>
        <p:txBody>
          <a:bodyPr wrap="square" lIns="0" tIns="0" rIns="0" bIns="0" rtlCol="0" anchor="ctr"/>
          <a:lstStyle/>
          <a:p>
            <a:pPr indent="0" marL="0">
              <a:buNone/>
            </a:pPr>
            <a:r>
              <a:rPr lang="en-US" sz="1100" b="1" spc="100" kern="0" dirty="0">
                <a:solidFill>
                  <a:srgbClr val="BDE1CB"/>
                </a:solidFill>
                <a:latin typeface="Arial" pitchFamily="34" charset="0"/>
                <a:ea typeface="Arial" pitchFamily="34" charset="-122"/>
                <a:cs typeface="Arial" pitchFamily="34" charset="-120"/>
              </a:rPr>
              <a:t>DELIVERED</a:t>
            </a:r>
            <a:endParaRPr lang="en-US" sz="1100" dirty="0"/>
          </a:p>
        </p:txBody>
      </p:sp>
      <p:sp>
        <p:nvSpPr>
          <p:cNvPr id="10" name="Text 8"/>
          <p:cNvSpPr/>
          <p:nvPr/>
        </p:nvSpPr>
        <p:spPr>
          <a:xfrm>
            <a:off x="932688" y="4773168"/>
            <a:ext cx="2944368" cy="557784"/>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A governed SQL</a:t>
            </a:r>
            <a:endParaRPr lang="en-US" sz="2100" dirty="0"/>
          </a:p>
          <a:p>
            <a:pPr indent="0" marL="0">
              <a:buNone/>
            </a:pPr>
            <a:r>
              <a:rPr lang="en-US" sz="2100" b="1" dirty="0">
                <a:solidFill>
                  <a:srgbClr val="FFFFFF"/>
                </a:solidFill>
                <a:latin typeface="Arial" pitchFamily="34" charset="0"/>
                <a:ea typeface="Arial" pitchFamily="34" charset="-122"/>
                <a:cs typeface="Arial" pitchFamily="34" charset="-120"/>
              </a:rPr>
              <a:t>foundation</a:t>
            </a:r>
            <a:endParaRPr lang="en-US" sz="2100" dirty="0"/>
          </a:p>
        </p:txBody>
      </p:sp>
      <p:sp>
        <p:nvSpPr>
          <p:cNvPr id="11" name="Shape 9"/>
          <p:cNvSpPr/>
          <p:nvPr/>
        </p:nvSpPr>
        <p:spPr>
          <a:xfrm>
            <a:off x="4407408" y="4242816"/>
            <a:ext cx="3401568" cy="1252728"/>
          </a:xfrm>
          <a:prstGeom prst="rect">
            <a:avLst/>
          </a:prstGeom>
          <a:solidFill>
            <a:srgbClr val="096549"/>
          </a:solidFill>
          <a:ln w="8890">
            <a:solidFill>
              <a:srgbClr val="318467"/>
            </a:solidFill>
            <a:prstDash val="solid"/>
          </a:ln>
        </p:spPr>
        <p:txBody>
          <a:bodyPr/>
          <a:p/>
        </p:txBody>
      </p:sp>
      <p:sp>
        <p:nvSpPr>
          <p:cNvPr id="12" name="Text 10"/>
          <p:cNvSpPr/>
          <p:nvPr/>
        </p:nvSpPr>
        <p:spPr>
          <a:xfrm>
            <a:off x="4608576" y="4416552"/>
            <a:ext cx="2944368" cy="228600"/>
          </a:xfrm>
          <a:prstGeom prst="rect">
            <a:avLst/>
          </a:prstGeom>
          <a:noFill/>
          <a:ln/>
        </p:spPr>
        <p:txBody>
          <a:bodyPr wrap="square" lIns="0" tIns="0" rIns="0" bIns="0" rtlCol="0" anchor="ctr"/>
          <a:lstStyle/>
          <a:p>
            <a:pPr indent="0" marL="0">
              <a:buNone/>
            </a:pPr>
            <a:r>
              <a:rPr lang="en-US" sz="1100" b="1" spc="100" kern="0" dirty="0">
                <a:solidFill>
                  <a:srgbClr val="BDE1CB"/>
                </a:solidFill>
                <a:latin typeface="Arial" pitchFamily="34" charset="0"/>
                <a:ea typeface="Arial" pitchFamily="34" charset="-122"/>
                <a:cs typeface="Arial" pitchFamily="34" charset="-120"/>
              </a:rPr>
              <a:t>NEXT</a:t>
            </a:r>
            <a:endParaRPr lang="en-US" sz="1100" dirty="0"/>
          </a:p>
        </p:txBody>
      </p:sp>
      <p:sp>
        <p:nvSpPr>
          <p:cNvPr id="13" name="Text 11"/>
          <p:cNvSpPr/>
          <p:nvPr/>
        </p:nvSpPr>
        <p:spPr>
          <a:xfrm>
            <a:off x="4608576" y="4773168"/>
            <a:ext cx="2944368" cy="557784"/>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A controlled</a:t>
            </a:r>
            <a:endParaRPr lang="en-US" sz="2100" dirty="0"/>
          </a:p>
          <a:p>
            <a:pPr indent="0" marL="0">
              <a:buNone/>
            </a:pPr>
            <a:r>
              <a:rPr lang="en-US" sz="2100" b="1" dirty="0">
                <a:solidFill>
                  <a:srgbClr val="FFFFFF"/>
                </a:solidFill>
                <a:latin typeface="Arial" pitchFamily="34" charset="0"/>
                <a:ea typeface="Arial" pitchFamily="34" charset="-122"/>
                <a:cs typeface="Arial" pitchFamily="34" charset="-120"/>
              </a:rPr>
              <a:t>business pilot</a:t>
            </a:r>
            <a:endParaRPr lang="en-US" sz="2100" dirty="0"/>
          </a:p>
        </p:txBody>
      </p:sp>
      <p:sp>
        <p:nvSpPr>
          <p:cNvPr id="14" name="Shape 12"/>
          <p:cNvSpPr/>
          <p:nvPr/>
        </p:nvSpPr>
        <p:spPr>
          <a:xfrm>
            <a:off x="8083296" y="4242816"/>
            <a:ext cx="3401568" cy="1252728"/>
          </a:xfrm>
          <a:prstGeom prst="rect">
            <a:avLst/>
          </a:prstGeom>
          <a:solidFill>
            <a:srgbClr val="096549"/>
          </a:solidFill>
          <a:ln w="8890">
            <a:solidFill>
              <a:srgbClr val="318467"/>
            </a:solidFill>
            <a:prstDash val="solid"/>
          </a:ln>
        </p:spPr>
        <p:txBody>
          <a:bodyPr/>
          <a:p/>
        </p:txBody>
      </p:sp>
      <p:sp>
        <p:nvSpPr>
          <p:cNvPr id="15" name="Text 13"/>
          <p:cNvSpPr/>
          <p:nvPr/>
        </p:nvSpPr>
        <p:spPr>
          <a:xfrm>
            <a:off x="8284464" y="4416552"/>
            <a:ext cx="2944368" cy="228600"/>
          </a:xfrm>
          <a:prstGeom prst="rect">
            <a:avLst/>
          </a:prstGeom>
          <a:noFill/>
          <a:ln/>
        </p:spPr>
        <p:txBody>
          <a:bodyPr wrap="square" lIns="0" tIns="0" rIns="0" bIns="0" rtlCol="0" anchor="ctr"/>
          <a:lstStyle/>
          <a:p>
            <a:pPr indent="0" marL="0">
              <a:buNone/>
            </a:pPr>
            <a:r>
              <a:rPr lang="en-US" sz="1100" b="1" spc="100" kern="0" dirty="0">
                <a:solidFill>
                  <a:srgbClr val="BDE1CB"/>
                </a:solidFill>
                <a:latin typeface="Arial" pitchFamily="34" charset="0"/>
                <a:ea typeface="Arial" pitchFamily="34" charset="-122"/>
                <a:cs typeface="Arial" pitchFamily="34" charset="-120"/>
              </a:rPr>
              <a:t>DECIDE</a:t>
            </a:r>
            <a:endParaRPr lang="en-US" sz="1100" dirty="0"/>
          </a:p>
        </p:txBody>
      </p:sp>
      <p:sp>
        <p:nvSpPr>
          <p:cNvPr id="16" name="Text 14"/>
          <p:cNvSpPr/>
          <p:nvPr/>
        </p:nvSpPr>
        <p:spPr>
          <a:xfrm>
            <a:off x="8284464" y="4773168"/>
            <a:ext cx="2944368" cy="557784"/>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Priorities, ownership</a:t>
            </a:r>
            <a:endParaRPr lang="en-US" sz="2100" dirty="0"/>
          </a:p>
          <a:p>
            <a:pPr indent="0" marL="0">
              <a:buNone/>
            </a:pPr>
            <a:r>
              <a:rPr lang="en-US" sz="2100" b="1" dirty="0">
                <a:solidFill>
                  <a:srgbClr val="FFFFFF"/>
                </a:solidFill>
                <a:latin typeface="Arial" pitchFamily="34" charset="0"/>
                <a:ea typeface="Arial" pitchFamily="34" charset="-122"/>
                <a:cs typeface="Arial" pitchFamily="34" charset="-120"/>
              </a:rPr>
              <a:t>and readiness</a:t>
            </a:r>
          </a:p>
        </p:txBody>
      </p:sp>
      <p:sp>
        <p:nvSpPr>
          <p:cNvPr id="17" name="Shape 15"/>
          <p:cNvSpPr/>
          <p:nvPr/>
        </p:nvSpPr>
        <p:spPr>
          <a:xfrm>
            <a:off x="731520" y="5961888"/>
            <a:ext cx="10744200" cy="0"/>
          </a:xfrm>
          <a:prstGeom prst="line">
            <a:avLst/>
          </a:prstGeom>
          <a:noFill/>
          <a:ln w="10160">
            <a:solidFill>
              <a:srgbClr val="368366"/>
            </a:solidFill>
            <a:prstDash val="solid"/>
          </a:ln>
        </p:spPr>
        <p:txBody>
          <a:bodyPr/>
          <a:p/>
        </p:txBody>
      </p:sp>
      <p:sp>
        <p:nvSpPr>
          <p:cNvPr id="18" name="Text 16"/>
          <p:cNvSpPr/>
          <p:nvPr/>
        </p:nvSpPr>
        <p:spPr>
          <a:xfrm>
            <a:off x="731520" y="6153912"/>
            <a:ext cx="9921240" cy="292608"/>
          </a:xfrm>
          <a:prstGeom prst="rect">
            <a:avLst/>
          </a:prstGeom>
          <a:noFill/>
          <a:ln/>
        </p:spPr>
        <p:txBody>
          <a:bodyPr wrap="square" lIns="0" tIns="0" rIns="0" bIns="0" rtlCol="0" anchor="ctr"/>
          <a:lstStyle/>
          <a:p>
            <a:pPr indent="0" marL="0">
              <a:buNone/>
            </a:pPr>
            <a:r>
              <a:rPr lang="en-US" sz="1600" dirty="0">
                <a:solidFill>
                  <a:srgbClr val="DDEFE3"/>
                </a:solidFill>
                <a:latin typeface="Arial" pitchFamily="34" charset="0"/>
                <a:ea typeface="Arial" pitchFamily="34" charset="-122"/>
                <a:cs typeface="Arial" pitchFamily="34" charset="-120"/>
              </a:rPr>
              <a:t>Foundation &amp; Trust  →  Enterprise Integration &amp; Efficiency  →  Advanced Visualization</a:t>
            </a:r>
            <a:endParaRPr lang="en-US" sz="1500" dirty="0"/>
          </a:p>
        </p:txBody>
      </p:sp>
      <p:sp>
        <p:nvSpPr>
          <p:cNvPr id="19" name="Text 17"/>
          <p:cNvSpPr/>
          <p:nvPr/>
        </p:nvSpPr>
        <p:spPr>
          <a:xfrm>
            <a:off x="9912096" y="6556248"/>
            <a:ext cx="1581912" cy="155448"/>
          </a:xfrm>
          <a:prstGeom prst="rect">
            <a:avLst/>
          </a:prstGeom>
          <a:noFill/>
          <a:ln/>
        </p:spPr>
        <p:txBody>
          <a:bodyPr wrap="square" lIns="0" tIns="0" rIns="0" bIns="0" rtlCol="0" anchor="ctr"/>
          <a:lstStyle/>
          <a:p>
            <a:pPr algn="r" indent="0" marL="0">
              <a:buNone/>
            </a:pPr>
            <a:r>
              <a:rPr lang="en-US" sz="900" dirty="0">
                <a:solidFill>
                  <a:srgbClr val="C2DDCE"/>
                </a:solidFill>
                <a:latin typeface="Arial" pitchFamily="34" charset="0"/>
                <a:ea typeface="Arial" pitchFamily="34" charset="-122"/>
                <a:cs typeface="Arial" pitchFamily="34" charset="-120"/>
              </a:rPr>
              <a:t>September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LEADERSHIP BRIEF</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Deliver the trust milestone; prepare targeted integrations.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Keep core delivery moving while clarifying the next sources, services and owners.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S1–S3, S7</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02</a:t>
            </a:r>
            <a:endParaRPr lang="en-US" sz="1050" dirty="0"/>
          </a:p>
        </p:txBody>
      </p:sp>
      <p:sp>
        <p:nvSpPr>
          <p:cNvPr id="12" name="Shape 10"/>
          <p:cNvSpPr/>
          <p:nvPr/>
        </p:nvSpPr>
        <p:spPr>
          <a:xfrm>
            <a:off x="594360" y="2048256"/>
            <a:ext cx="3520440" cy="3511296"/>
          </a:xfrm>
          <a:prstGeom prst="rect">
            <a:avLst/>
          </a:prstGeom>
          <a:solidFill>
            <a:srgbClr val="F4F8F5"/>
          </a:solidFill>
          <a:ln w="10160">
            <a:solidFill>
              <a:srgbClr val="D9E4DD"/>
            </a:solidFill>
            <a:prstDash val="solid"/>
          </a:ln>
        </p:spPr>
        <p:txBody>
          <a:bodyPr/>
          <a:p/>
        </p:txBody>
      </p:sp>
      <p:sp>
        <p:nvSpPr>
          <p:cNvPr id="13" name="Shape 11"/>
          <p:cNvSpPr/>
          <p:nvPr/>
        </p:nvSpPr>
        <p:spPr>
          <a:xfrm>
            <a:off x="594360" y="2048256"/>
            <a:ext cx="3520440" cy="50292"/>
          </a:xfrm>
          <a:prstGeom prst="rect">
            <a:avLst/>
          </a:prstGeom>
          <a:solidFill>
            <a:srgbClr val="00843D"/>
          </a:solidFill>
          <a:ln w="12700">
            <a:solidFill>
              <a:srgbClr val="00843D"/>
            </a:solidFill>
            <a:prstDash val="solid"/>
          </a:ln>
        </p:spPr>
        <p:txBody>
          <a:bodyPr/>
          <a:p/>
        </p:txBody>
      </p:sp>
      <p:sp>
        <p:nvSpPr>
          <p:cNvPr id="14" name="Text 12"/>
          <p:cNvSpPr/>
          <p:nvPr/>
        </p:nvSpPr>
        <p:spPr>
          <a:xfrm>
            <a:off x="795528" y="2267712"/>
            <a:ext cx="3017520" cy="201168"/>
          </a:xfrm>
          <a:prstGeom prst="rect">
            <a:avLst/>
          </a:prstGeom>
          <a:noFill/>
          <a:ln/>
        </p:spPr>
        <p:txBody>
          <a:bodyPr wrap="square" lIns="0" tIns="0" rIns="0" bIns="0" rtlCol="0" anchor="ctr"/>
          <a:lstStyle/>
          <a:p>
            <a:pPr indent="0" marL="0">
              <a:buNone/>
            </a:pPr>
            <a:r>
              <a:rPr lang="en-US" sz="1010" b="1" spc="50" kern="0" dirty="0">
                <a:solidFill>
                  <a:srgbClr val="005238"/>
                </a:solidFill>
                <a:latin typeface="Arial" pitchFamily="34" charset="0"/>
                <a:ea typeface="Arial" pitchFamily="34" charset="-122"/>
                <a:cs typeface="Arial" pitchFamily="34" charset="-120"/>
              </a:rPr>
              <a:t>COMPLETED FOUNDATION</a:t>
            </a:r>
            <a:endParaRPr lang="en-US" sz="1010" dirty="0"/>
          </a:p>
        </p:txBody>
      </p:sp>
      <p:sp>
        <p:nvSpPr>
          <p:cNvPr id="15" name="Shape 13"/>
          <p:cNvSpPr/>
          <p:nvPr/>
        </p:nvSpPr>
        <p:spPr>
          <a:xfrm rot="10800000">
            <a:off x="862965" y="2741600"/>
            <a:ext cx="349758" cy="396392"/>
          </a:xfrm>
          <a:prstGeom prst="pentagon">
            <a:avLst/>
          </a:prstGeom>
          <a:solidFill>
            <a:srgbClr val="F4F8F5"/>
          </a:solidFill>
          <a:ln w="19050">
            <a:solidFill>
              <a:srgbClr val="00843D"/>
            </a:solidFill>
            <a:prstDash val="solid"/>
          </a:ln>
        </p:spPr>
        <p:txBody>
          <a:bodyPr/>
          <a:p/>
        </p:txBody>
      </p:sp>
      <p:sp>
        <p:nvSpPr>
          <p:cNvPr id="16" name="Shape 14"/>
          <p:cNvSpPr/>
          <p:nvPr/>
        </p:nvSpPr>
        <p:spPr>
          <a:xfrm>
            <a:off x="944575" y="2928137"/>
            <a:ext cx="69952" cy="69952"/>
          </a:xfrm>
          <a:prstGeom prst="line">
            <a:avLst/>
          </a:prstGeom>
          <a:noFill/>
          <a:ln w="22860">
            <a:solidFill>
              <a:srgbClr val="00843D"/>
            </a:solidFill>
            <a:prstDash val="solid"/>
          </a:ln>
        </p:spPr>
        <p:txBody>
          <a:bodyPr/>
          <a:p/>
        </p:txBody>
      </p:sp>
      <p:sp>
        <p:nvSpPr>
          <p:cNvPr id="17" name="Shape 15"/>
          <p:cNvSpPr/>
          <p:nvPr/>
        </p:nvSpPr>
        <p:spPr>
          <a:xfrm>
            <a:off x="1014527" y="2998089"/>
            <a:ext cx="128245" cy="-151562"/>
          </a:xfrm>
          <a:prstGeom prst="line">
            <a:avLst/>
          </a:prstGeom>
          <a:noFill/>
          <a:ln w="22860">
            <a:solidFill>
              <a:srgbClr val="00843D"/>
            </a:solidFill>
            <a:prstDash val="solid"/>
          </a:ln>
        </p:spPr>
        <p:txBody>
          <a:bodyPr/>
          <a:p/>
        </p:txBody>
      </p:sp>
      <p:sp>
        <p:nvSpPr>
          <p:cNvPr id="18" name="Text 16"/>
          <p:cNvSpPr/>
          <p:nvPr/>
        </p:nvSpPr>
        <p:spPr>
          <a:xfrm>
            <a:off x="1426464" y="2688336"/>
            <a:ext cx="2478024" cy="740664"/>
          </a:xfrm>
          <a:prstGeom prst="rect">
            <a:avLst/>
          </a:prstGeom>
          <a:noFill/>
          <a:ln/>
        </p:spPr>
        <p:txBody>
          <a:bodyPr wrap="square" lIns="0" tIns="0" rIns="0" bIns="0" rtlCol="0" anchor="t"/>
          <a:lstStyle/>
          <a:p>
            <a:pPr indent="0" marL="0">
              <a:buNone/>
            </a:pPr>
            <a:r>
              <a:rPr lang="en-US" sz="2050" b="1" dirty="0">
                <a:solidFill>
                  <a:srgbClr val="182425"/>
                </a:solidFill>
                <a:latin typeface="Arial" pitchFamily="34" charset="0"/>
                <a:ea typeface="Arial" pitchFamily="34" charset="-122"/>
                <a:cs typeface="Arial" pitchFamily="34" charset="-120"/>
              </a:rPr>
              <a:t>Safer, repeatable</a:t>
            </a:r>
            <a:endParaRPr lang="en-US" sz="2050" dirty="0"/>
          </a:p>
          <a:p>
            <a:pPr indent="0" marL="0">
              <a:buNone/>
            </a:pPr>
            <a:r>
              <a:rPr lang="en-US" sz="2050" b="1" dirty="0">
                <a:solidFill>
                  <a:srgbClr val="182425"/>
                </a:solidFill>
                <a:latin typeface="Arial" pitchFamily="34" charset="0"/>
                <a:ea typeface="Arial" pitchFamily="34" charset="-122"/>
                <a:cs typeface="Arial" pitchFamily="34" charset="-120"/>
              </a:rPr>
              <a:t>answers</a:t>
            </a:r>
            <a:endParaRPr lang="en-US" sz="2050" dirty="0"/>
          </a:p>
        </p:txBody>
      </p:sp>
      <p:sp>
        <p:nvSpPr>
          <p:cNvPr id="19" name="Shape 17"/>
          <p:cNvSpPr/>
          <p:nvPr/>
        </p:nvSpPr>
        <p:spPr>
          <a:xfrm>
            <a:off x="813816" y="3767328"/>
            <a:ext cx="45720" cy="45720"/>
          </a:xfrm>
          <a:prstGeom prst="rect">
            <a:avLst/>
          </a:prstGeom>
          <a:solidFill>
            <a:srgbClr val="00843D"/>
          </a:solidFill>
          <a:ln w="12700">
            <a:solidFill>
              <a:srgbClr val="00843D"/>
            </a:solidFill>
            <a:prstDash val="solid"/>
          </a:ln>
        </p:spPr>
        <p:txBody>
          <a:bodyPr/>
          <a:p/>
        </p:txBody>
      </p:sp>
      <p:sp>
        <p:nvSpPr>
          <p:cNvPr id="20" name="Text 18"/>
          <p:cNvSpPr/>
          <p:nvPr/>
        </p:nvSpPr>
        <p:spPr>
          <a:xfrm>
            <a:off x="960120" y="3657600"/>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Secure, read-only access</a:t>
            </a:r>
            <a:endParaRPr lang="en-US" sz="1600" dirty="0"/>
          </a:p>
        </p:txBody>
      </p:sp>
      <p:sp>
        <p:nvSpPr>
          <p:cNvPr id="21" name="Shape 19"/>
          <p:cNvSpPr/>
          <p:nvPr/>
        </p:nvSpPr>
        <p:spPr>
          <a:xfrm>
            <a:off x="813816" y="4325112"/>
            <a:ext cx="45720" cy="45720"/>
          </a:xfrm>
          <a:prstGeom prst="rect">
            <a:avLst/>
          </a:prstGeom>
          <a:solidFill>
            <a:srgbClr val="00843D"/>
          </a:solidFill>
          <a:ln w="12700">
            <a:solidFill>
              <a:srgbClr val="00843D"/>
            </a:solidFill>
            <a:prstDash val="solid"/>
          </a:ln>
        </p:spPr>
        <p:txBody>
          <a:bodyPr/>
          <a:p/>
        </p:txBody>
      </p:sp>
      <p:sp>
        <p:nvSpPr>
          <p:cNvPr id="22" name="Text 20"/>
          <p:cNvSpPr/>
          <p:nvPr/>
        </p:nvSpPr>
        <p:spPr>
          <a:xfrm>
            <a:off x="960120" y="4215384"/>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Versioned metadata and validated analytical plans</a:t>
            </a:r>
            <a:endParaRPr lang="en-US" sz="1600" dirty="0"/>
          </a:p>
        </p:txBody>
      </p:sp>
      <p:sp>
        <p:nvSpPr>
          <p:cNvPr id="23" name="Shape 21"/>
          <p:cNvSpPr/>
          <p:nvPr/>
        </p:nvSpPr>
        <p:spPr>
          <a:xfrm>
            <a:off x="813816" y="4882896"/>
            <a:ext cx="45720" cy="45720"/>
          </a:xfrm>
          <a:prstGeom prst="rect">
            <a:avLst/>
          </a:prstGeom>
          <a:solidFill>
            <a:srgbClr val="00843D"/>
          </a:solidFill>
          <a:ln w="12700">
            <a:solidFill>
              <a:srgbClr val="00843D"/>
            </a:solidFill>
            <a:prstDash val="solid"/>
          </a:ln>
        </p:spPr>
        <p:txBody>
          <a:bodyPr/>
          <a:p/>
        </p:txBody>
      </p:sp>
      <p:sp>
        <p:nvSpPr>
          <p:cNvPr id="24" name="Text 22"/>
          <p:cNvSpPr/>
          <p:nvPr/>
        </p:nvSpPr>
        <p:spPr>
          <a:xfrm>
            <a:off x="960120" y="4773168"/>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One governed calculation with field-change protection</a:t>
            </a:r>
            <a:endParaRPr lang="en-US" sz="1600" dirty="0"/>
          </a:p>
        </p:txBody>
      </p:sp>
      <p:sp>
        <p:nvSpPr>
          <p:cNvPr id="25" name="Shape 23"/>
          <p:cNvSpPr/>
          <p:nvPr/>
        </p:nvSpPr>
        <p:spPr>
          <a:xfrm>
            <a:off x="4334256" y="2048256"/>
            <a:ext cx="3520440" cy="3511296"/>
          </a:xfrm>
          <a:prstGeom prst="rect">
            <a:avLst/>
          </a:prstGeom>
          <a:solidFill>
            <a:srgbClr val="F4F8F5"/>
          </a:solidFill>
          <a:ln w="10160">
            <a:solidFill>
              <a:srgbClr val="D9E4DD"/>
            </a:solidFill>
            <a:prstDash val="solid"/>
          </a:ln>
        </p:spPr>
        <p:txBody>
          <a:bodyPr/>
          <a:p/>
        </p:txBody>
      </p:sp>
      <p:sp>
        <p:nvSpPr>
          <p:cNvPr id="26" name="Shape 24"/>
          <p:cNvSpPr/>
          <p:nvPr/>
        </p:nvSpPr>
        <p:spPr>
          <a:xfrm>
            <a:off x="4334256" y="2048256"/>
            <a:ext cx="3520440" cy="50292"/>
          </a:xfrm>
          <a:prstGeom prst="rect">
            <a:avLst/>
          </a:prstGeom>
          <a:solidFill>
            <a:srgbClr val="B87722"/>
          </a:solidFill>
          <a:ln w="12700">
            <a:solidFill>
              <a:srgbClr val="B87722"/>
            </a:solidFill>
            <a:prstDash val="solid"/>
          </a:ln>
        </p:spPr>
        <p:txBody>
          <a:bodyPr/>
          <a:p/>
        </p:txBody>
      </p:sp>
      <p:sp>
        <p:nvSpPr>
          <p:cNvPr id="27" name="Text 25"/>
          <p:cNvSpPr/>
          <p:nvPr/>
        </p:nvSpPr>
        <p:spPr>
          <a:xfrm>
            <a:off x="4535424" y="2267712"/>
            <a:ext cx="3017520" cy="201168"/>
          </a:xfrm>
          <a:prstGeom prst="rect">
            <a:avLst/>
          </a:prstGeom>
          <a:noFill/>
          <a:ln/>
        </p:spPr>
        <p:txBody>
          <a:bodyPr wrap="square" lIns="0" tIns="0" rIns="0" bIns="0" rtlCol="0" anchor="ctr"/>
          <a:lstStyle/>
          <a:p>
            <a:pPr indent="0" marL="0">
              <a:buNone/>
            </a:pPr>
            <a:r>
              <a:rPr lang="en-US" sz="1010" b="1" spc="50" kern="0" dirty="0">
                <a:solidFill>
                  <a:srgbClr val="B87722"/>
                </a:solidFill>
                <a:latin typeface="Arial" pitchFamily="34" charset="0"/>
                <a:ea typeface="Arial" pitchFamily="34" charset="-122"/>
                <a:cs typeface="Arial" pitchFamily="34" charset="-120"/>
              </a:rPr>
              <a:t>IN DELIVERY / NEXT</a:t>
            </a:r>
            <a:endParaRPr lang="en-US" sz="1010" dirty="0"/>
          </a:p>
        </p:txBody>
      </p:sp>
      <p:sp>
        <p:nvSpPr>
          <p:cNvPr id="28" name="Shape 26"/>
          <p:cNvSpPr/>
          <p:nvPr/>
        </p:nvSpPr>
        <p:spPr>
          <a:xfrm>
            <a:off x="4579544" y="2788234"/>
            <a:ext cx="174879" cy="314782"/>
          </a:xfrm>
          <a:prstGeom prst="rect">
            <a:avLst/>
          </a:prstGeom>
          <a:solidFill>
            <a:srgbClr val="FFFFFF"/>
          </a:solidFill>
          <a:ln w="15240">
            <a:solidFill>
              <a:srgbClr val="00843D"/>
            </a:solidFill>
            <a:prstDash val="solid"/>
          </a:ln>
        </p:spPr>
        <p:txBody>
          <a:bodyPr/>
          <a:p/>
        </p:txBody>
      </p:sp>
      <p:sp>
        <p:nvSpPr>
          <p:cNvPr id="29" name="Shape 27"/>
          <p:cNvSpPr/>
          <p:nvPr/>
        </p:nvSpPr>
        <p:spPr>
          <a:xfrm>
            <a:off x="4789399" y="2788234"/>
            <a:ext cx="174879" cy="314782"/>
          </a:xfrm>
          <a:prstGeom prst="rect">
            <a:avLst/>
          </a:prstGeom>
          <a:solidFill>
            <a:srgbClr val="FFFFFF"/>
          </a:solidFill>
          <a:ln w="15240">
            <a:solidFill>
              <a:srgbClr val="00843D"/>
            </a:solidFill>
            <a:prstDash val="solid"/>
          </a:ln>
        </p:spPr>
        <p:txBody>
          <a:bodyPr/>
          <a:p/>
        </p:txBody>
      </p:sp>
      <p:sp>
        <p:nvSpPr>
          <p:cNvPr id="30" name="Shape 28"/>
          <p:cNvSpPr/>
          <p:nvPr/>
        </p:nvSpPr>
        <p:spPr>
          <a:xfrm>
            <a:off x="4777740" y="2776576"/>
            <a:ext cx="0" cy="349758"/>
          </a:xfrm>
          <a:prstGeom prst="line">
            <a:avLst/>
          </a:prstGeom>
          <a:noFill/>
          <a:ln w="20320">
            <a:solidFill>
              <a:srgbClr val="00843D"/>
            </a:solidFill>
            <a:prstDash val="solid"/>
          </a:ln>
        </p:spPr>
        <p:txBody>
          <a:bodyPr/>
          <a:p/>
        </p:txBody>
      </p:sp>
      <p:sp>
        <p:nvSpPr>
          <p:cNvPr id="31" name="Shape 29"/>
          <p:cNvSpPr/>
          <p:nvPr/>
        </p:nvSpPr>
        <p:spPr>
          <a:xfrm>
            <a:off x="4626178" y="2858186"/>
            <a:ext cx="81610" cy="0"/>
          </a:xfrm>
          <a:prstGeom prst="line">
            <a:avLst/>
          </a:prstGeom>
          <a:noFill/>
          <a:ln w="20320">
            <a:solidFill>
              <a:srgbClr val="00843D"/>
            </a:solidFill>
            <a:prstDash val="solid"/>
          </a:ln>
        </p:spPr>
        <p:txBody>
          <a:bodyPr/>
          <a:p/>
        </p:txBody>
      </p:sp>
      <p:sp>
        <p:nvSpPr>
          <p:cNvPr id="32" name="Shape 30"/>
          <p:cNvSpPr/>
          <p:nvPr/>
        </p:nvSpPr>
        <p:spPr>
          <a:xfrm>
            <a:off x="4836033" y="2858186"/>
            <a:ext cx="93269" cy="0"/>
          </a:xfrm>
          <a:prstGeom prst="line">
            <a:avLst/>
          </a:prstGeom>
          <a:noFill/>
          <a:ln w="20320">
            <a:solidFill>
              <a:srgbClr val="00843D"/>
            </a:solidFill>
            <a:prstDash val="solid"/>
          </a:ln>
        </p:spPr>
        <p:txBody>
          <a:bodyPr/>
          <a:p/>
        </p:txBody>
      </p:sp>
      <p:sp>
        <p:nvSpPr>
          <p:cNvPr id="33" name="Shape 31"/>
          <p:cNvSpPr/>
          <p:nvPr/>
        </p:nvSpPr>
        <p:spPr>
          <a:xfrm>
            <a:off x="4626178" y="2939796"/>
            <a:ext cx="81610" cy="0"/>
          </a:xfrm>
          <a:prstGeom prst="line">
            <a:avLst/>
          </a:prstGeom>
          <a:noFill/>
          <a:ln w="20320">
            <a:solidFill>
              <a:srgbClr val="00843D"/>
            </a:solidFill>
            <a:prstDash val="solid"/>
          </a:ln>
        </p:spPr>
        <p:txBody>
          <a:bodyPr/>
          <a:p/>
        </p:txBody>
      </p:sp>
      <p:sp>
        <p:nvSpPr>
          <p:cNvPr id="34" name="Shape 32"/>
          <p:cNvSpPr/>
          <p:nvPr/>
        </p:nvSpPr>
        <p:spPr>
          <a:xfrm>
            <a:off x="4836033" y="2939796"/>
            <a:ext cx="93269" cy="0"/>
          </a:xfrm>
          <a:prstGeom prst="line">
            <a:avLst/>
          </a:prstGeom>
          <a:noFill/>
          <a:ln w="20320">
            <a:solidFill>
              <a:srgbClr val="00843D"/>
            </a:solidFill>
            <a:prstDash val="solid"/>
          </a:ln>
        </p:spPr>
        <p:txBody>
          <a:bodyPr/>
          <a:p/>
        </p:txBody>
      </p:sp>
      <p:sp>
        <p:nvSpPr>
          <p:cNvPr id="35" name="Text 33"/>
          <p:cNvSpPr/>
          <p:nvPr/>
        </p:nvSpPr>
        <p:spPr>
          <a:xfrm>
            <a:off x="5166360" y="2688336"/>
            <a:ext cx="2478024" cy="740664"/>
          </a:xfrm>
          <a:prstGeom prst="rect">
            <a:avLst/>
          </a:prstGeom>
          <a:noFill/>
          <a:ln/>
        </p:spPr>
        <p:txBody>
          <a:bodyPr wrap="square" lIns="0" tIns="0" rIns="0" bIns="0" rtlCol="0" anchor="t"/>
          <a:lstStyle/>
          <a:p>
            <a:pPr indent="0" marL="0">
              <a:buNone/>
            </a:pPr>
            <a:r>
              <a:rPr lang="en-US" sz="2050" b="1" dirty="0">
                <a:solidFill>
                  <a:srgbClr val="182425"/>
                </a:solidFill>
                <a:latin typeface="Arial" pitchFamily="34" charset="0"/>
                <a:ea typeface="Arial" pitchFamily="34" charset="-122"/>
                <a:cs typeface="Arial" pitchFamily="34" charset="-120"/>
              </a:rPr>
              <a:t>Governed business</a:t>
            </a:r>
            <a:endParaRPr lang="en-US" sz="2050" dirty="0"/>
          </a:p>
          <a:p>
            <a:pPr indent="0" marL="0">
              <a:buNone/>
            </a:pPr>
            <a:r>
              <a:rPr lang="en-US" sz="2050" b="1" dirty="0">
                <a:solidFill>
                  <a:srgbClr val="182425"/>
                </a:solidFill>
                <a:latin typeface="Arial" pitchFamily="34" charset="0"/>
                <a:ea typeface="Arial" pitchFamily="34" charset="-122"/>
                <a:cs typeface="Arial" pitchFamily="34" charset="-120"/>
              </a:rPr>
              <a:t>readiness</a:t>
            </a:r>
            <a:endParaRPr lang="en-US" sz="2050" dirty="0"/>
          </a:p>
        </p:txBody>
      </p:sp>
      <p:sp>
        <p:nvSpPr>
          <p:cNvPr id="36" name="Shape 34"/>
          <p:cNvSpPr/>
          <p:nvPr/>
        </p:nvSpPr>
        <p:spPr>
          <a:xfrm>
            <a:off x="4553712" y="3767328"/>
            <a:ext cx="45720" cy="45720"/>
          </a:xfrm>
          <a:prstGeom prst="rect">
            <a:avLst/>
          </a:prstGeom>
          <a:solidFill>
            <a:srgbClr val="00843D"/>
          </a:solidFill>
          <a:ln w="12700">
            <a:solidFill>
              <a:srgbClr val="00843D"/>
            </a:solidFill>
            <a:prstDash val="solid"/>
          </a:ln>
        </p:spPr>
        <p:txBody>
          <a:bodyPr/>
          <a:p/>
        </p:txBody>
      </p:sp>
      <p:sp>
        <p:nvSpPr>
          <p:cNvPr id="37" name="Text 35"/>
          <p:cNvSpPr/>
          <p:nvPr/>
        </p:nvSpPr>
        <p:spPr>
          <a:xfrm>
            <a:off x="4700016" y="3657600"/>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Approval and change policies</a:t>
            </a:r>
            <a:endParaRPr lang="en-US" sz="1600" dirty="0"/>
          </a:p>
        </p:txBody>
      </p:sp>
      <p:sp>
        <p:nvSpPr>
          <p:cNvPr id="38" name="Shape 36"/>
          <p:cNvSpPr/>
          <p:nvPr/>
        </p:nvSpPr>
        <p:spPr>
          <a:xfrm>
            <a:off x="4553712" y="4325112"/>
            <a:ext cx="45720" cy="45720"/>
          </a:xfrm>
          <a:prstGeom prst="rect">
            <a:avLst/>
          </a:prstGeom>
          <a:solidFill>
            <a:srgbClr val="00843D"/>
          </a:solidFill>
          <a:ln w="12700">
            <a:solidFill>
              <a:srgbClr val="00843D"/>
            </a:solidFill>
            <a:prstDash val="solid"/>
          </a:ln>
        </p:spPr>
        <p:txBody>
          <a:bodyPr/>
          <a:p/>
        </p:txBody>
      </p:sp>
      <p:sp>
        <p:nvSpPr>
          <p:cNvPr id="39" name="Text 37"/>
          <p:cNvSpPr/>
          <p:nvPr/>
        </p:nvSpPr>
        <p:spPr>
          <a:xfrm>
            <a:off x="4700016" y="4215384"/>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Certified definitions and consistent output templates</a:t>
            </a:r>
            <a:endParaRPr lang="en-US" sz="1600" dirty="0"/>
          </a:p>
        </p:txBody>
      </p:sp>
      <p:sp>
        <p:nvSpPr>
          <p:cNvPr id="40" name="Shape 38"/>
          <p:cNvSpPr/>
          <p:nvPr/>
        </p:nvSpPr>
        <p:spPr>
          <a:xfrm>
            <a:off x="4553712" y="4882896"/>
            <a:ext cx="45720" cy="45720"/>
          </a:xfrm>
          <a:prstGeom prst="rect">
            <a:avLst/>
          </a:prstGeom>
          <a:solidFill>
            <a:srgbClr val="00843D"/>
          </a:solidFill>
          <a:ln w="12700">
            <a:solidFill>
              <a:srgbClr val="00843D"/>
            </a:solidFill>
            <a:prstDash val="solid"/>
          </a:ln>
        </p:spPr>
        <p:txBody>
          <a:bodyPr/>
          <a:p/>
        </p:txBody>
      </p:sp>
      <p:sp>
        <p:nvSpPr>
          <p:cNvPr id="41" name="Text 39"/>
          <p:cNvSpPr/>
          <p:nvPr/>
        </p:nvSpPr>
        <p:spPr>
          <a:xfrm>
            <a:off x="4700016" y="4773168"/>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Controlled pilot and integration discovery</a:t>
            </a:r>
            <a:endParaRPr lang="en-US" sz="1600" dirty="0"/>
          </a:p>
        </p:txBody>
      </p:sp>
      <p:sp>
        <p:nvSpPr>
          <p:cNvPr id="42" name="Shape 40"/>
          <p:cNvSpPr/>
          <p:nvPr/>
        </p:nvSpPr>
        <p:spPr>
          <a:xfrm>
            <a:off x="8074152" y="2048256"/>
            <a:ext cx="3520440" cy="3511296"/>
          </a:xfrm>
          <a:prstGeom prst="rect">
            <a:avLst/>
          </a:prstGeom>
          <a:solidFill>
            <a:srgbClr val="F4F8F5"/>
          </a:solidFill>
          <a:ln w="10160">
            <a:solidFill>
              <a:srgbClr val="D9E4DD"/>
            </a:solidFill>
            <a:prstDash val="solid"/>
          </a:ln>
        </p:spPr>
        <p:txBody>
          <a:bodyPr/>
          <a:p/>
        </p:txBody>
      </p:sp>
      <p:sp>
        <p:nvSpPr>
          <p:cNvPr id="43" name="Shape 41"/>
          <p:cNvSpPr/>
          <p:nvPr/>
        </p:nvSpPr>
        <p:spPr>
          <a:xfrm>
            <a:off x="8074152" y="2048256"/>
            <a:ext cx="3520440" cy="50292"/>
          </a:xfrm>
          <a:prstGeom prst="rect">
            <a:avLst/>
          </a:prstGeom>
          <a:solidFill>
            <a:srgbClr val="00843D"/>
          </a:solidFill>
          <a:ln w="12700">
            <a:solidFill>
              <a:srgbClr val="00843D"/>
            </a:solidFill>
            <a:prstDash val="solid"/>
          </a:ln>
        </p:spPr>
        <p:txBody>
          <a:bodyPr/>
          <a:p/>
        </p:txBody>
      </p:sp>
      <p:sp>
        <p:nvSpPr>
          <p:cNvPr id="44" name="Text 42"/>
          <p:cNvSpPr/>
          <p:nvPr/>
        </p:nvSpPr>
        <p:spPr>
          <a:xfrm>
            <a:off x="8275320" y="2267712"/>
            <a:ext cx="3017520" cy="201168"/>
          </a:xfrm>
          <a:prstGeom prst="rect">
            <a:avLst/>
          </a:prstGeom>
          <a:noFill/>
          <a:ln/>
        </p:spPr>
        <p:txBody>
          <a:bodyPr wrap="square" lIns="0" tIns="0" rIns="0" bIns="0" rtlCol="0" anchor="ctr"/>
          <a:lstStyle/>
          <a:p>
            <a:pPr indent="0" marL="0">
              <a:buNone/>
            </a:pPr>
            <a:r>
              <a:rPr lang="en-US" sz="1010" b="1" spc="50" kern="0" dirty="0">
                <a:solidFill>
                  <a:srgbClr val="005238"/>
                </a:solidFill>
                <a:latin typeface="Arial" pitchFamily="34" charset="0"/>
                <a:ea typeface="Arial" pitchFamily="34" charset="-122"/>
                <a:cs typeface="Arial" pitchFamily="34" charset="-120"/>
              </a:rPr>
              <a:t>LEADERSHIP ASK</a:t>
            </a:r>
            <a:endParaRPr lang="en-US" sz="1010" dirty="0"/>
          </a:p>
        </p:txBody>
      </p:sp>
      <p:sp>
        <p:nvSpPr>
          <p:cNvPr id="45" name="Shape 43"/>
          <p:cNvSpPr/>
          <p:nvPr/>
        </p:nvSpPr>
        <p:spPr>
          <a:xfrm>
            <a:off x="8517636" y="2799893"/>
            <a:ext cx="-151562" cy="233172"/>
          </a:xfrm>
          <a:prstGeom prst="line">
            <a:avLst/>
          </a:prstGeom>
          <a:noFill/>
          <a:ln w="20320">
            <a:solidFill>
              <a:srgbClr val="00843D"/>
            </a:solidFill>
            <a:prstDash val="solid"/>
          </a:ln>
        </p:spPr>
        <p:txBody>
          <a:bodyPr/>
          <a:p/>
        </p:txBody>
      </p:sp>
      <p:sp>
        <p:nvSpPr>
          <p:cNvPr id="46" name="Shape 44"/>
          <p:cNvSpPr/>
          <p:nvPr/>
        </p:nvSpPr>
        <p:spPr>
          <a:xfrm>
            <a:off x="8517636" y="2799893"/>
            <a:ext cx="151562" cy="233172"/>
          </a:xfrm>
          <a:prstGeom prst="line">
            <a:avLst/>
          </a:prstGeom>
          <a:noFill/>
          <a:ln w="20320">
            <a:solidFill>
              <a:srgbClr val="00843D"/>
            </a:solidFill>
            <a:prstDash val="solid"/>
          </a:ln>
        </p:spPr>
        <p:txBody>
          <a:bodyPr/>
          <a:p/>
        </p:txBody>
      </p:sp>
      <p:sp>
        <p:nvSpPr>
          <p:cNvPr id="47" name="Shape 45"/>
          <p:cNvSpPr/>
          <p:nvPr/>
        </p:nvSpPr>
        <p:spPr>
          <a:xfrm>
            <a:off x="8366074" y="3033065"/>
            <a:ext cx="303124" cy="0"/>
          </a:xfrm>
          <a:prstGeom prst="line">
            <a:avLst/>
          </a:prstGeom>
          <a:noFill/>
          <a:ln w="20320">
            <a:solidFill>
              <a:srgbClr val="00843D"/>
            </a:solidFill>
            <a:prstDash val="solid"/>
          </a:ln>
        </p:spPr>
        <p:txBody>
          <a:bodyPr/>
          <a:p/>
        </p:txBody>
      </p:sp>
      <p:sp>
        <p:nvSpPr>
          <p:cNvPr id="48" name="Shape 46"/>
          <p:cNvSpPr/>
          <p:nvPr/>
        </p:nvSpPr>
        <p:spPr>
          <a:xfrm>
            <a:off x="8447684" y="2718283"/>
            <a:ext cx="139903" cy="139903"/>
          </a:xfrm>
          <a:prstGeom prst="ellipse">
            <a:avLst/>
          </a:prstGeom>
          <a:solidFill>
            <a:srgbClr val="EAF4EE"/>
          </a:solidFill>
          <a:ln w="17780">
            <a:solidFill>
              <a:srgbClr val="00843D"/>
            </a:solidFill>
            <a:prstDash val="solid"/>
          </a:ln>
        </p:spPr>
        <p:txBody>
          <a:bodyPr/>
          <a:p/>
        </p:txBody>
      </p:sp>
      <p:sp>
        <p:nvSpPr>
          <p:cNvPr id="49" name="Shape 47"/>
          <p:cNvSpPr/>
          <p:nvPr/>
        </p:nvSpPr>
        <p:spPr>
          <a:xfrm>
            <a:off x="8296123" y="2974772"/>
            <a:ext cx="139903" cy="139903"/>
          </a:xfrm>
          <a:prstGeom prst="ellipse">
            <a:avLst/>
          </a:prstGeom>
          <a:solidFill>
            <a:srgbClr val="EAF4EE"/>
          </a:solidFill>
          <a:ln w="17780">
            <a:solidFill>
              <a:srgbClr val="00843D"/>
            </a:solidFill>
            <a:prstDash val="solid"/>
          </a:ln>
        </p:spPr>
        <p:txBody>
          <a:bodyPr/>
          <a:p/>
        </p:txBody>
      </p:sp>
      <p:sp>
        <p:nvSpPr>
          <p:cNvPr id="50" name="Shape 48"/>
          <p:cNvSpPr/>
          <p:nvPr/>
        </p:nvSpPr>
        <p:spPr>
          <a:xfrm>
            <a:off x="8599246" y="2974772"/>
            <a:ext cx="139903" cy="139903"/>
          </a:xfrm>
          <a:prstGeom prst="ellipse">
            <a:avLst/>
          </a:prstGeom>
          <a:solidFill>
            <a:srgbClr val="EAF4EE"/>
          </a:solidFill>
          <a:ln w="17780">
            <a:solidFill>
              <a:srgbClr val="00843D"/>
            </a:solidFill>
            <a:prstDash val="solid"/>
          </a:ln>
        </p:spPr>
        <p:txBody>
          <a:bodyPr/>
          <a:p/>
        </p:txBody>
      </p:sp>
      <p:sp>
        <p:nvSpPr>
          <p:cNvPr id="51" name="Text 49"/>
          <p:cNvSpPr/>
          <p:nvPr/>
        </p:nvSpPr>
        <p:spPr>
          <a:xfrm>
            <a:off x="8906256" y="2688336"/>
            <a:ext cx="2478024" cy="740664"/>
          </a:xfrm>
          <a:prstGeom prst="rect">
            <a:avLst/>
          </a:prstGeom>
          <a:noFill/>
          <a:ln/>
        </p:spPr>
        <p:txBody>
          <a:bodyPr wrap="square" lIns="0" tIns="0" rIns="0" bIns="0" rtlCol="0" anchor="t"/>
          <a:lstStyle/>
          <a:p>
            <a:pPr indent="0" marL="0">
              <a:buNone/>
            </a:pPr>
            <a:r>
              <a:rPr lang="en-US" sz="2050" b="1" dirty="0">
                <a:solidFill>
                  <a:srgbClr val="182425"/>
                </a:solidFill>
                <a:latin typeface="Arial" pitchFamily="34" charset="0"/>
                <a:ea typeface="Arial" pitchFamily="34" charset="-122"/>
                <a:cs typeface="Arial" pitchFamily="34" charset="-120"/>
              </a:rPr>
              <a:t>Close the decisions</a:t>
            </a:r>
            <a:endParaRPr lang="en-US" sz="2050" dirty="0"/>
          </a:p>
          <a:p>
            <a:pPr indent="0" marL="0">
              <a:buNone/>
            </a:pPr>
            <a:r>
              <a:rPr lang="en-US" sz="2050" b="1" dirty="0">
                <a:solidFill>
                  <a:srgbClr val="182425"/>
                </a:solidFill>
                <a:latin typeface="Arial" pitchFamily="34" charset="0"/>
                <a:ea typeface="Arial" pitchFamily="34" charset="-122"/>
                <a:cs typeface="Arial" pitchFamily="34" charset="-120"/>
              </a:rPr>
              <a:t>that unlock delivery</a:t>
            </a:r>
            <a:endParaRPr lang="en-US" sz="2050" dirty="0"/>
          </a:p>
        </p:txBody>
      </p:sp>
      <p:sp>
        <p:nvSpPr>
          <p:cNvPr id="52" name="Shape 50"/>
          <p:cNvSpPr/>
          <p:nvPr/>
        </p:nvSpPr>
        <p:spPr>
          <a:xfrm>
            <a:off x="8293608" y="3767328"/>
            <a:ext cx="45720" cy="45720"/>
          </a:xfrm>
          <a:prstGeom prst="rect">
            <a:avLst/>
          </a:prstGeom>
          <a:solidFill>
            <a:srgbClr val="00843D"/>
          </a:solidFill>
          <a:ln w="12700">
            <a:solidFill>
              <a:srgbClr val="00843D"/>
            </a:solidFill>
            <a:prstDash val="solid"/>
          </a:ln>
        </p:spPr>
        <p:txBody>
          <a:bodyPr/>
          <a:p/>
        </p:txBody>
      </p:sp>
      <p:sp>
        <p:nvSpPr>
          <p:cNvPr id="53" name="Text 51"/>
          <p:cNvSpPr/>
          <p:nvPr/>
        </p:nvSpPr>
        <p:spPr>
          <a:xfrm>
            <a:off x="8439912" y="3657600"/>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Pilot scope and accountable owners</a:t>
            </a:r>
            <a:endParaRPr lang="en-US" sz="1600" dirty="0"/>
          </a:p>
        </p:txBody>
      </p:sp>
      <p:sp>
        <p:nvSpPr>
          <p:cNvPr id="54" name="Shape 52"/>
          <p:cNvSpPr/>
          <p:nvPr/>
        </p:nvSpPr>
        <p:spPr>
          <a:xfrm>
            <a:off x="8293608" y="4325112"/>
            <a:ext cx="45720" cy="45720"/>
          </a:xfrm>
          <a:prstGeom prst="rect">
            <a:avLst/>
          </a:prstGeom>
          <a:solidFill>
            <a:srgbClr val="00843D"/>
          </a:solidFill>
          <a:ln w="12700">
            <a:solidFill>
              <a:srgbClr val="00843D"/>
            </a:solidFill>
            <a:prstDash val="solid"/>
          </a:ln>
        </p:spPr>
        <p:txBody>
          <a:bodyPr/>
          <a:p/>
        </p:txBody>
      </p:sp>
      <p:sp>
        <p:nvSpPr>
          <p:cNvPr id="55" name="Text 53"/>
          <p:cNvSpPr/>
          <p:nvPr/>
        </p:nvSpPr>
        <p:spPr>
          <a:xfrm>
            <a:off x="8439912" y="4215384"/>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Genie, on-premises and Collibra priorities</a:t>
            </a:r>
            <a:endParaRPr lang="en-US" sz="1600" dirty="0"/>
          </a:p>
        </p:txBody>
      </p:sp>
      <p:sp>
        <p:nvSpPr>
          <p:cNvPr id="56" name="Shape 54"/>
          <p:cNvSpPr/>
          <p:nvPr/>
        </p:nvSpPr>
        <p:spPr>
          <a:xfrm>
            <a:off x="8293608" y="4882896"/>
            <a:ext cx="45720" cy="45720"/>
          </a:xfrm>
          <a:prstGeom prst="rect">
            <a:avLst/>
          </a:prstGeom>
          <a:solidFill>
            <a:srgbClr val="00843D"/>
          </a:solidFill>
          <a:ln w="12700">
            <a:solidFill>
              <a:srgbClr val="00843D"/>
            </a:solidFill>
            <a:prstDash val="solid"/>
          </a:ln>
        </p:spPr>
        <p:txBody>
          <a:bodyPr/>
          <a:p/>
        </p:txBody>
      </p:sp>
      <p:sp>
        <p:nvSpPr>
          <p:cNvPr id="57" name="Text 55"/>
          <p:cNvSpPr/>
          <p:nvPr/>
        </p:nvSpPr>
        <p:spPr>
          <a:xfrm>
            <a:off x="8439912" y="4773168"/>
            <a:ext cx="2916936" cy="475488"/>
          </a:xfrm>
          <a:prstGeom prst="rect">
            <a:avLst/>
          </a:prstGeom>
          <a:noFill/>
          <a:ln/>
        </p:spPr>
        <p:txBody>
          <a:bodyPr wrap="square" lIns="0" tIns="0" rIns="0" bIns="0" rtlCol="0" anchor="t"/>
          <a:lstStyle/>
          <a:p>
            <a:pPr indent="0" marL="0">
              <a:buNone/>
            </a:pPr>
            <a:r>
              <a:rPr lang="en-US" sz="1600" dirty="0">
                <a:solidFill>
                  <a:srgbClr val="182425"/>
                </a:solidFill>
                <a:latin typeface="Arial" pitchFamily="34" charset="0"/>
                <a:ea typeface="Arial" pitchFamily="34" charset="-122"/>
                <a:cs typeface="Arial" pitchFamily="34" charset="-120"/>
              </a:rPr>
              <a:t>Value, privacy and operating gates</a:t>
            </a:r>
            <a:endParaRPr lang="en-US" sz="1600" dirty="0"/>
          </a:p>
        </p:txBody>
      </p:sp>
      <p:sp>
        <p:nvSpPr>
          <p:cNvPr id="58" name="Shape 56"/>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59" name="Shape 57"/>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60" name="Text 58"/>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RECOMMENDATION</a:t>
            </a:r>
            <a:endParaRPr lang="en-US" sz="950" dirty="0"/>
          </a:p>
        </p:txBody>
      </p:sp>
      <p:sp>
        <p:nvSpPr>
          <p:cNvPr id="61" name="Text 59"/>
          <p:cNvSpPr/>
          <p:nvPr/>
        </p:nvSpPr>
        <p:spPr>
          <a:xfrm>
            <a:off x="2596896" y="5907024"/>
            <a:ext cx="8778240" cy="35661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Complete the core pilot; qualify integrations before committing to wider rollout.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DELIVERED FOUNDATION</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Completed work makes the pilot safer and repeatable.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Documented delivery through Phase 2E; verification recorded on 26 August 2026.</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S1, S2, S5</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03</a:t>
            </a:r>
            <a:endParaRPr lang="en-US" sz="1050" dirty="0"/>
          </a:p>
        </p:txBody>
      </p:sp>
      <p:sp>
        <p:nvSpPr>
          <p:cNvPr id="12" name="Shape 10"/>
          <p:cNvSpPr/>
          <p:nvPr/>
        </p:nvSpPr>
        <p:spPr>
          <a:xfrm>
            <a:off x="594360" y="2039112"/>
            <a:ext cx="11000232" cy="338328"/>
          </a:xfrm>
          <a:prstGeom prst="rect">
            <a:avLst/>
          </a:prstGeom>
          <a:solidFill>
            <a:srgbClr val="005238"/>
          </a:solidFill>
          <a:ln w="12700">
            <a:solidFill>
              <a:srgbClr val="005238"/>
            </a:solidFill>
            <a:prstDash val="solid"/>
          </a:ln>
        </p:spPr>
        <p:txBody>
          <a:bodyPr/>
          <a:p/>
        </p:txBody>
      </p:sp>
      <p:sp>
        <p:nvSpPr>
          <p:cNvPr id="13" name="Text 11"/>
          <p:cNvSpPr/>
          <p:nvPr/>
        </p:nvSpPr>
        <p:spPr>
          <a:xfrm>
            <a:off x="740664" y="2093976"/>
            <a:ext cx="1956816" cy="201168"/>
          </a:xfrm>
          <a:prstGeom prst="rect">
            <a:avLst/>
          </a:prstGeom>
          <a:noFill/>
          <a:ln/>
        </p:spPr>
        <p:txBody>
          <a:bodyPr wrap="square" lIns="0" tIns="0" rIns="0" bIns="0" rtlCol="0" anchor="ctr"/>
          <a:lstStyle/>
          <a:p>
            <a:pPr indent="0" marL="0">
              <a:buNone/>
            </a:pPr>
            <a:r>
              <a:rPr lang="en-US" sz="1000" b="1" spc="55" kern="0" dirty="0">
                <a:solidFill>
                  <a:srgbClr val="FFFFFF"/>
                </a:solidFill>
                <a:latin typeface="Arial" pitchFamily="34" charset="0"/>
                <a:ea typeface="Arial" pitchFamily="34" charset="-122"/>
                <a:cs typeface="Arial" pitchFamily="34" charset="-120"/>
              </a:rPr>
              <a:t>CAPABILITY</a:t>
            </a:r>
            <a:endParaRPr lang="en-US" sz="1000" dirty="0"/>
          </a:p>
        </p:txBody>
      </p:sp>
      <p:sp>
        <p:nvSpPr>
          <p:cNvPr id="14" name="Text 12"/>
          <p:cNvSpPr/>
          <p:nvPr/>
        </p:nvSpPr>
        <p:spPr>
          <a:xfrm>
            <a:off x="2953512" y="2093976"/>
            <a:ext cx="4754880" cy="201168"/>
          </a:xfrm>
          <a:prstGeom prst="rect">
            <a:avLst/>
          </a:prstGeom>
          <a:noFill/>
          <a:ln/>
        </p:spPr>
        <p:txBody>
          <a:bodyPr wrap="square" lIns="0" tIns="0" rIns="0" bIns="0" rtlCol="0" anchor="ctr"/>
          <a:lstStyle/>
          <a:p>
            <a:pPr indent="0" marL="0">
              <a:buNone/>
            </a:pPr>
            <a:r>
              <a:rPr lang="en-US" sz="1000" b="1" spc="55" kern="0" dirty="0">
                <a:solidFill>
                  <a:srgbClr val="FFFFFF"/>
                </a:solidFill>
                <a:latin typeface="Arial" pitchFamily="34" charset="0"/>
                <a:ea typeface="Arial" pitchFamily="34" charset="-122"/>
                <a:cs typeface="Arial" pitchFamily="34" charset="-120"/>
              </a:rPr>
              <a:t>WHAT HAS BEEN DELIVERED</a:t>
            </a:r>
            <a:endParaRPr lang="en-US" sz="1000" dirty="0"/>
          </a:p>
        </p:txBody>
      </p:sp>
      <p:sp>
        <p:nvSpPr>
          <p:cNvPr id="15" name="Text 13"/>
          <p:cNvSpPr/>
          <p:nvPr/>
        </p:nvSpPr>
        <p:spPr>
          <a:xfrm>
            <a:off x="7964424" y="2093976"/>
            <a:ext cx="3520440" cy="201168"/>
          </a:xfrm>
          <a:prstGeom prst="rect">
            <a:avLst/>
          </a:prstGeom>
          <a:noFill/>
          <a:ln/>
        </p:spPr>
        <p:txBody>
          <a:bodyPr wrap="square" lIns="0" tIns="0" rIns="0" bIns="0" rtlCol="0" anchor="ctr"/>
          <a:lstStyle/>
          <a:p>
            <a:pPr indent="0" marL="0">
              <a:buNone/>
            </a:pPr>
            <a:r>
              <a:rPr lang="en-US" sz="1000" b="1" spc="55" kern="0" dirty="0">
                <a:solidFill>
                  <a:srgbClr val="FFFFFF"/>
                </a:solidFill>
                <a:latin typeface="Arial" pitchFamily="34" charset="0"/>
                <a:ea typeface="Arial" pitchFamily="34" charset="-122"/>
                <a:cs typeface="Arial" pitchFamily="34" charset="-120"/>
              </a:rPr>
              <a:t>WHY IT MATTERS</a:t>
            </a:r>
            <a:endParaRPr lang="en-US" sz="1000" dirty="0"/>
          </a:p>
        </p:txBody>
      </p:sp>
      <p:sp>
        <p:nvSpPr>
          <p:cNvPr id="16" name="Shape 14"/>
          <p:cNvSpPr/>
          <p:nvPr/>
        </p:nvSpPr>
        <p:spPr>
          <a:xfrm>
            <a:off x="594360" y="2377440"/>
            <a:ext cx="11000232" cy="516636"/>
          </a:xfrm>
          <a:prstGeom prst="rect">
            <a:avLst/>
          </a:prstGeom>
          <a:solidFill>
            <a:srgbClr val="F4F8F5"/>
          </a:solidFill>
          <a:ln w="12700">
            <a:solidFill>
              <a:srgbClr val="F4F8F5"/>
            </a:solidFill>
            <a:prstDash val="solid"/>
          </a:ln>
        </p:spPr>
        <p:txBody>
          <a:bodyPr/>
          <a:p/>
        </p:txBody>
      </p:sp>
      <p:sp>
        <p:nvSpPr>
          <p:cNvPr id="17" name="Text 15"/>
          <p:cNvSpPr/>
          <p:nvPr/>
        </p:nvSpPr>
        <p:spPr>
          <a:xfrm>
            <a:off x="740664" y="2427732"/>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Secure access</a:t>
            </a:r>
            <a:endParaRPr lang="en-US" sz="1500" dirty="0"/>
          </a:p>
        </p:txBody>
      </p:sp>
      <p:sp>
        <p:nvSpPr>
          <p:cNvPr id="18" name="Text 16"/>
          <p:cNvSpPr/>
          <p:nvPr/>
        </p:nvSpPr>
        <p:spPr>
          <a:xfrm>
            <a:off x="2953512" y="2427732"/>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Authenticated users, entity permissions</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and bounded read-only queries.</a:t>
            </a:r>
            <a:endParaRPr lang="en-US" sz="1440" dirty="0"/>
          </a:p>
        </p:txBody>
      </p:sp>
      <p:sp>
        <p:nvSpPr>
          <p:cNvPr id="19" name="Text 17"/>
          <p:cNvSpPr/>
          <p:nvPr/>
        </p:nvSpPr>
        <p:spPr>
          <a:xfrm>
            <a:off x="7964424" y="2427732"/>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Constrains access and</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protects source data.</a:t>
            </a:r>
            <a:endParaRPr lang="en-US" sz="1440" dirty="0"/>
          </a:p>
        </p:txBody>
      </p:sp>
      <p:sp>
        <p:nvSpPr>
          <p:cNvPr id="20" name="Shape 18"/>
          <p:cNvSpPr/>
          <p:nvPr/>
        </p:nvSpPr>
        <p:spPr>
          <a:xfrm>
            <a:off x="594360" y="2894076"/>
            <a:ext cx="11000232" cy="0"/>
          </a:xfrm>
          <a:prstGeom prst="line">
            <a:avLst/>
          </a:prstGeom>
          <a:noFill/>
          <a:ln w="6985">
            <a:solidFill>
              <a:srgbClr val="D9E4DD"/>
            </a:solidFill>
            <a:prstDash val="solid"/>
          </a:ln>
        </p:spPr>
        <p:txBody>
          <a:bodyPr/>
          <a:p/>
        </p:txBody>
      </p:sp>
      <p:sp>
        <p:nvSpPr>
          <p:cNvPr id="21" name="Shape 19"/>
          <p:cNvSpPr/>
          <p:nvPr/>
        </p:nvSpPr>
        <p:spPr>
          <a:xfrm>
            <a:off x="594360" y="2894076"/>
            <a:ext cx="11000232" cy="516636"/>
          </a:xfrm>
          <a:prstGeom prst="rect">
            <a:avLst/>
          </a:prstGeom>
          <a:solidFill>
            <a:srgbClr val="FFFFFF"/>
          </a:solidFill>
          <a:ln w="12700">
            <a:solidFill>
              <a:srgbClr val="FFFFFF"/>
            </a:solidFill>
            <a:prstDash val="solid"/>
          </a:ln>
        </p:spPr>
        <p:txBody>
          <a:bodyPr/>
          <a:p/>
        </p:txBody>
      </p:sp>
      <p:sp>
        <p:nvSpPr>
          <p:cNvPr id="22" name="Text 20"/>
          <p:cNvSpPr/>
          <p:nvPr/>
        </p:nvSpPr>
        <p:spPr>
          <a:xfrm>
            <a:off x="740664" y="2944368"/>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Governed planning</a:t>
            </a:r>
            <a:endParaRPr lang="en-US" sz="1500" dirty="0"/>
          </a:p>
        </p:txBody>
      </p:sp>
      <p:sp>
        <p:nvSpPr>
          <p:cNvPr id="23" name="Text 21"/>
          <p:cNvSpPr/>
          <p:nvPr/>
        </p:nvSpPr>
        <p:spPr>
          <a:xfrm>
            <a:off x="2953512" y="2944368"/>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Versioned metadata and validation</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of selected data and fields.</a:t>
            </a:r>
            <a:endParaRPr lang="en-US" sz="1440" dirty="0"/>
          </a:p>
        </p:txBody>
      </p:sp>
      <p:sp>
        <p:nvSpPr>
          <p:cNvPr id="24" name="Text 22"/>
          <p:cNvSpPr/>
          <p:nvPr/>
        </p:nvSpPr>
        <p:spPr>
          <a:xfrm>
            <a:off x="7964424" y="2944368"/>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Provides a reviewable basis</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for the answer.</a:t>
            </a:r>
            <a:endParaRPr lang="en-US" sz="1440" dirty="0"/>
          </a:p>
        </p:txBody>
      </p:sp>
      <p:sp>
        <p:nvSpPr>
          <p:cNvPr id="25" name="Shape 23"/>
          <p:cNvSpPr/>
          <p:nvPr/>
        </p:nvSpPr>
        <p:spPr>
          <a:xfrm>
            <a:off x="594360" y="3410712"/>
            <a:ext cx="11000232" cy="0"/>
          </a:xfrm>
          <a:prstGeom prst="line">
            <a:avLst/>
          </a:prstGeom>
          <a:noFill/>
          <a:ln w="6985">
            <a:solidFill>
              <a:srgbClr val="D9E4DD"/>
            </a:solidFill>
            <a:prstDash val="solid"/>
          </a:ln>
        </p:spPr>
        <p:txBody>
          <a:bodyPr/>
          <a:p/>
        </p:txBody>
      </p:sp>
      <p:sp>
        <p:nvSpPr>
          <p:cNvPr id="26" name="Shape 24"/>
          <p:cNvSpPr/>
          <p:nvPr/>
        </p:nvSpPr>
        <p:spPr>
          <a:xfrm>
            <a:off x="594360" y="3410712"/>
            <a:ext cx="11000232" cy="516636"/>
          </a:xfrm>
          <a:prstGeom prst="rect">
            <a:avLst/>
          </a:prstGeom>
          <a:solidFill>
            <a:srgbClr val="F4F8F5"/>
          </a:solidFill>
          <a:ln w="12700">
            <a:solidFill>
              <a:srgbClr val="F4F8F5"/>
            </a:solidFill>
            <a:prstDash val="solid"/>
          </a:ln>
        </p:spPr>
        <p:txBody>
          <a:bodyPr/>
          <a:p/>
        </p:txBody>
      </p:sp>
      <p:sp>
        <p:nvSpPr>
          <p:cNvPr id="27" name="Text 25"/>
          <p:cNvSpPr/>
          <p:nvPr/>
        </p:nvSpPr>
        <p:spPr>
          <a:xfrm>
            <a:off x="740664" y="3461004"/>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Repeatable logic</a:t>
            </a:r>
            <a:endParaRPr lang="en-US" sz="1500" dirty="0"/>
          </a:p>
        </p:txBody>
      </p:sp>
      <p:sp>
        <p:nvSpPr>
          <p:cNvPr id="28" name="Text 26"/>
          <p:cNvSpPr/>
          <p:nvPr/>
        </p:nvSpPr>
        <p:spPr>
          <a:xfrm>
            <a:off x="2953512" y="3461004"/>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One approved calculation pilot</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using governed dependencies.</a:t>
            </a:r>
            <a:endParaRPr lang="en-US" sz="1440" dirty="0"/>
          </a:p>
        </p:txBody>
      </p:sp>
      <p:sp>
        <p:nvSpPr>
          <p:cNvPr id="29" name="Text 27"/>
          <p:cNvSpPr/>
          <p:nvPr/>
        </p:nvSpPr>
        <p:spPr>
          <a:xfrm>
            <a:off x="7964424" y="3461004"/>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Reduces improvisation in</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important business logic.</a:t>
            </a:r>
            <a:endParaRPr lang="en-US" sz="1440" dirty="0"/>
          </a:p>
        </p:txBody>
      </p:sp>
      <p:sp>
        <p:nvSpPr>
          <p:cNvPr id="30" name="Shape 28"/>
          <p:cNvSpPr/>
          <p:nvPr/>
        </p:nvSpPr>
        <p:spPr>
          <a:xfrm>
            <a:off x="594360" y="3927348"/>
            <a:ext cx="11000232" cy="0"/>
          </a:xfrm>
          <a:prstGeom prst="line">
            <a:avLst/>
          </a:prstGeom>
          <a:noFill/>
          <a:ln w="6985">
            <a:solidFill>
              <a:srgbClr val="D9E4DD"/>
            </a:solidFill>
            <a:prstDash val="solid"/>
          </a:ln>
        </p:spPr>
        <p:txBody>
          <a:bodyPr/>
          <a:p/>
        </p:txBody>
      </p:sp>
      <p:sp>
        <p:nvSpPr>
          <p:cNvPr id="31" name="Shape 29"/>
          <p:cNvSpPr/>
          <p:nvPr/>
        </p:nvSpPr>
        <p:spPr>
          <a:xfrm>
            <a:off x="594360" y="3927348"/>
            <a:ext cx="11000232" cy="516636"/>
          </a:xfrm>
          <a:prstGeom prst="rect">
            <a:avLst/>
          </a:prstGeom>
          <a:solidFill>
            <a:srgbClr val="FFFFFF"/>
          </a:solidFill>
          <a:ln w="12700">
            <a:solidFill>
              <a:srgbClr val="FFFFFF"/>
            </a:solidFill>
            <a:prstDash val="solid"/>
          </a:ln>
        </p:spPr>
        <p:txBody>
          <a:bodyPr/>
          <a:p/>
        </p:txBody>
      </p:sp>
      <p:sp>
        <p:nvSpPr>
          <p:cNvPr id="32" name="Text 30"/>
          <p:cNvSpPr/>
          <p:nvPr/>
        </p:nvSpPr>
        <p:spPr>
          <a:xfrm>
            <a:off x="740664" y="3977640"/>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Change protection</a:t>
            </a:r>
            <a:endParaRPr lang="en-US" sz="1500" dirty="0"/>
          </a:p>
        </p:txBody>
      </p:sp>
      <p:sp>
        <p:nvSpPr>
          <p:cNvPr id="33" name="Text 31"/>
          <p:cNvSpPr/>
          <p:nvPr/>
        </p:nvSpPr>
        <p:spPr>
          <a:xfrm>
            <a:off x="2953512" y="3977640"/>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Checks for missing or materially</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changed required field evidence.</a:t>
            </a:r>
            <a:endParaRPr lang="en-US" sz="1440" dirty="0"/>
          </a:p>
        </p:txBody>
      </p:sp>
      <p:sp>
        <p:nvSpPr>
          <p:cNvPr id="34" name="Text 32"/>
          <p:cNvSpPr/>
          <p:nvPr/>
        </p:nvSpPr>
        <p:spPr>
          <a:xfrm>
            <a:off x="7964424" y="3977640"/>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Stops affected answers rather</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than silently using invalid inputs.</a:t>
            </a:r>
            <a:endParaRPr lang="en-US" sz="1440" dirty="0"/>
          </a:p>
        </p:txBody>
      </p:sp>
      <p:sp>
        <p:nvSpPr>
          <p:cNvPr id="35" name="Shape 33"/>
          <p:cNvSpPr/>
          <p:nvPr/>
        </p:nvSpPr>
        <p:spPr>
          <a:xfrm>
            <a:off x="594360" y="4443984"/>
            <a:ext cx="11000232" cy="0"/>
          </a:xfrm>
          <a:prstGeom prst="line">
            <a:avLst/>
          </a:prstGeom>
          <a:noFill/>
          <a:ln w="6985">
            <a:solidFill>
              <a:srgbClr val="D9E4DD"/>
            </a:solidFill>
            <a:prstDash val="solid"/>
          </a:ln>
        </p:spPr>
        <p:txBody>
          <a:bodyPr/>
          <a:p/>
        </p:txBody>
      </p:sp>
      <p:sp>
        <p:nvSpPr>
          <p:cNvPr id="36" name="Shape 34"/>
          <p:cNvSpPr/>
          <p:nvPr/>
        </p:nvSpPr>
        <p:spPr>
          <a:xfrm>
            <a:off x="594360" y="4443984"/>
            <a:ext cx="11000232" cy="516636"/>
          </a:xfrm>
          <a:prstGeom prst="rect">
            <a:avLst/>
          </a:prstGeom>
          <a:solidFill>
            <a:srgbClr val="F4F8F5"/>
          </a:solidFill>
          <a:ln w="12700">
            <a:solidFill>
              <a:srgbClr val="F4F8F5"/>
            </a:solidFill>
            <a:prstDash val="solid"/>
          </a:ln>
        </p:spPr>
        <p:txBody>
          <a:bodyPr/>
          <a:p/>
        </p:txBody>
      </p:sp>
      <p:sp>
        <p:nvSpPr>
          <p:cNvPr id="37" name="Text 35"/>
          <p:cNvSpPr/>
          <p:nvPr/>
        </p:nvSpPr>
        <p:spPr>
          <a:xfrm>
            <a:off x="740664" y="4494276"/>
            <a:ext cx="1938528" cy="402336"/>
          </a:xfrm>
          <a:prstGeom prst="rect">
            <a:avLst/>
          </a:prstGeom>
          <a:noFill/>
          <a:ln/>
        </p:spPr>
        <p:txBody>
          <a:bodyPr wrap="square" lIns="0" tIns="0" rIns="0" bIns="0" rtlCol="0" anchor="ctr"/>
          <a:lstStyle/>
          <a:p>
            <a:pPr indent="0" marL="0">
              <a:buNone/>
            </a:pPr>
            <a:r>
              <a:rPr lang="en-US" sz="1500" b="1" dirty="0">
                <a:solidFill>
                  <a:srgbClr val="005238"/>
                </a:solidFill>
                <a:latin typeface="Arial" pitchFamily="34" charset="0"/>
                <a:ea typeface="Arial" pitchFamily="34" charset="-122"/>
                <a:cs typeface="Arial" pitchFamily="34" charset="-120"/>
              </a:rPr>
              <a:t>Platform flexibility</a:t>
            </a:r>
            <a:endParaRPr lang="en-US" sz="1500" dirty="0"/>
          </a:p>
        </p:txBody>
      </p:sp>
      <p:sp>
        <p:nvSpPr>
          <p:cNvPr id="38" name="Text 36"/>
          <p:cNvSpPr/>
          <p:nvPr/>
        </p:nvSpPr>
        <p:spPr>
          <a:xfrm>
            <a:off x="2953512" y="4494276"/>
            <a:ext cx="473659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A source-adapter boundary around</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the current SQL execution path.</a:t>
            </a:r>
            <a:endParaRPr lang="en-US" sz="1440" dirty="0"/>
          </a:p>
        </p:txBody>
      </p:sp>
      <p:sp>
        <p:nvSpPr>
          <p:cNvPr id="39" name="Text 37"/>
          <p:cNvSpPr/>
          <p:nvPr/>
        </p:nvSpPr>
        <p:spPr>
          <a:xfrm>
            <a:off x="7964424" y="4494276"/>
            <a:ext cx="3502152" cy="402336"/>
          </a:xfrm>
          <a:prstGeom prst="rect">
            <a:avLst/>
          </a:prstGeom>
          <a:noFill/>
          <a:ln/>
        </p:spPr>
        <p:txBody>
          <a:bodyPr wrap="square" lIns="0" tIns="0" rIns="0" bIns="0" rtlCol="0" anchor="ctr"/>
          <a:lstStyle/>
          <a:p>
            <a:pPr indent="0" marL="0">
              <a:buNone/>
            </a:pPr>
            <a:r>
              <a:rPr lang="en-US" sz="1440" dirty="0">
                <a:solidFill>
                  <a:srgbClr val="182425"/>
                </a:solidFill>
                <a:latin typeface="Arial" pitchFamily="34" charset="0"/>
                <a:ea typeface="Arial" pitchFamily="34" charset="-122"/>
                <a:cs typeface="Arial" pitchFamily="34" charset="-120"/>
              </a:rPr>
              <a:t>Preserves the core when</a:t>
            </a:r>
            <a:endParaRPr lang="en-US" sz="1440" dirty="0"/>
          </a:p>
          <a:p>
            <a:pPr indent="0" marL="0">
              <a:buNone/>
            </a:pPr>
            <a:r>
              <a:rPr lang="en-US" sz="1440" dirty="0">
                <a:solidFill>
                  <a:srgbClr val="182425"/>
                </a:solidFill>
                <a:latin typeface="Arial" pitchFamily="34" charset="0"/>
                <a:ea typeface="Arial" pitchFamily="34" charset="-122"/>
                <a:cs typeface="Arial" pitchFamily="34" charset="-120"/>
              </a:rPr>
              <a:t>approved sources are added.</a:t>
            </a:r>
            <a:endParaRPr lang="en-US" sz="1440" dirty="0"/>
          </a:p>
        </p:txBody>
      </p:sp>
      <p:sp>
        <p:nvSpPr>
          <p:cNvPr id="40" name="Shape 38"/>
          <p:cNvSpPr/>
          <p:nvPr/>
        </p:nvSpPr>
        <p:spPr>
          <a:xfrm>
            <a:off x="594360" y="4960620"/>
            <a:ext cx="11000232" cy="0"/>
          </a:xfrm>
          <a:prstGeom prst="line">
            <a:avLst/>
          </a:prstGeom>
          <a:noFill/>
          <a:ln w="6985">
            <a:solidFill>
              <a:srgbClr val="D9E4DD"/>
            </a:solidFill>
            <a:prstDash val="solid"/>
          </a:ln>
        </p:spPr>
        <p:txBody>
          <a:bodyPr/>
          <a:p/>
        </p:txBody>
      </p:sp>
      <p:sp>
        <p:nvSpPr>
          <p:cNvPr id="41" name="Text 39"/>
          <p:cNvSpPr/>
          <p:nvPr/>
        </p:nvSpPr>
        <p:spPr>
          <a:xfrm>
            <a:off x="731520" y="5212080"/>
            <a:ext cx="768096" cy="402336"/>
          </a:xfrm>
          <a:prstGeom prst="rect">
            <a:avLst/>
          </a:prstGeom>
          <a:noFill/>
          <a:ln/>
        </p:spPr>
        <p:txBody>
          <a:bodyPr wrap="square" lIns="0" tIns="0" rIns="0" bIns="0" rtlCol="0" anchor="ctr"/>
          <a:lstStyle/>
          <a:p>
            <a:pPr indent="0" marL="0">
              <a:buNone/>
            </a:pPr>
            <a:r>
              <a:rPr lang="en-US" sz="3000" b="1" dirty="0">
                <a:solidFill>
                  <a:srgbClr val="00843D"/>
                </a:solidFill>
                <a:latin typeface="Arial" pitchFamily="34" charset="0"/>
                <a:ea typeface="Arial" pitchFamily="34" charset="-122"/>
                <a:cs typeface="Arial" pitchFamily="34" charset="-120"/>
              </a:rPr>
              <a:t>1</a:t>
            </a:r>
            <a:endParaRPr lang="en-US" sz="3000" dirty="0"/>
          </a:p>
        </p:txBody>
      </p:sp>
      <p:sp>
        <p:nvSpPr>
          <p:cNvPr id="42" name="Text 40"/>
          <p:cNvSpPr/>
          <p:nvPr/>
        </p:nvSpPr>
        <p:spPr>
          <a:xfrm>
            <a:off x="1636776" y="5248656"/>
            <a:ext cx="2587752" cy="310896"/>
          </a:xfrm>
          <a:prstGeom prst="rect">
            <a:avLst/>
          </a:prstGeom>
          <a:noFill/>
          <a:ln/>
        </p:spPr>
        <p:txBody>
          <a:bodyPr wrap="square" lIns="0" tIns="0" rIns="0" bIns="0" rtlCol="0" anchor="ctr"/>
          <a:lstStyle/>
          <a:p>
            <a:pPr indent="0" marL="0">
              <a:buNone/>
            </a:pPr>
            <a:r>
              <a:rPr lang="en-US" sz="1380" b="1" dirty="0">
                <a:solidFill>
                  <a:srgbClr val="52635E"/>
                </a:solidFill>
                <a:latin typeface="Arial" pitchFamily="34" charset="0"/>
                <a:ea typeface="Arial" pitchFamily="34" charset="-122"/>
                <a:cs typeface="Arial" pitchFamily="34" charset="-120"/>
              </a:rPr>
              <a:t>governed pilot dataset</a:t>
            </a:r>
            <a:endParaRPr lang="en-US" sz="1380" dirty="0"/>
          </a:p>
        </p:txBody>
      </p:sp>
      <p:sp>
        <p:nvSpPr>
          <p:cNvPr id="43" name="Text 41"/>
          <p:cNvSpPr/>
          <p:nvPr/>
        </p:nvSpPr>
        <p:spPr>
          <a:xfrm>
            <a:off x="4443984" y="5212080"/>
            <a:ext cx="768096" cy="402336"/>
          </a:xfrm>
          <a:prstGeom prst="rect">
            <a:avLst/>
          </a:prstGeom>
          <a:noFill/>
          <a:ln/>
        </p:spPr>
        <p:txBody>
          <a:bodyPr wrap="square" lIns="0" tIns="0" rIns="0" bIns="0" rtlCol="0" anchor="ctr"/>
          <a:lstStyle/>
          <a:p>
            <a:pPr indent="0" marL="0">
              <a:buNone/>
            </a:pPr>
            <a:r>
              <a:rPr lang="en-US" sz="3000" b="1" dirty="0">
                <a:solidFill>
                  <a:srgbClr val="00843D"/>
                </a:solidFill>
                <a:latin typeface="Arial" pitchFamily="34" charset="0"/>
                <a:ea typeface="Arial" pitchFamily="34" charset="-122"/>
                <a:cs typeface="Arial" pitchFamily="34" charset="-120"/>
              </a:rPr>
              <a:t>1</a:t>
            </a:r>
            <a:endParaRPr lang="en-US" sz="3000" dirty="0"/>
          </a:p>
        </p:txBody>
      </p:sp>
      <p:sp>
        <p:nvSpPr>
          <p:cNvPr id="44" name="Text 42"/>
          <p:cNvSpPr/>
          <p:nvPr/>
        </p:nvSpPr>
        <p:spPr>
          <a:xfrm>
            <a:off x="5349240" y="5248656"/>
            <a:ext cx="2587752" cy="310896"/>
          </a:xfrm>
          <a:prstGeom prst="rect">
            <a:avLst/>
          </a:prstGeom>
          <a:noFill/>
          <a:ln/>
        </p:spPr>
        <p:txBody>
          <a:bodyPr wrap="square" lIns="0" tIns="0" rIns="0" bIns="0" rtlCol="0" anchor="ctr"/>
          <a:lstStyle/>
          <a:p>
            <a:pPr indent="0" marL="0">
              <a:buNone/>
            </a:pPr>
            <a:r>
              <a:rPr lang="en-US" sz="1380" b="1" dirty="0">
                <a:solidFill>
                  <a:srgbClr val="52635E"/>
                </a:solidFill>
                <a:latin typeface="Arial" pitchFamily="34" charset="0"/>
                <a:ea typeface="Arial" pitchFamily="34" charset="-122"/>
                <a:cs typeface="Arial" pitchFamily="34" charset="-120"/>
              </a:rPr>
              <a:t>approved calculation</a:t>
            </a:r>
            <a:endParaRPr lang="en-US" sz="1380" dirty="0"/>
          </a:p>
        </p:txBody>
      </p:sp>
      <p:sp>
        <p:nvSpPr>
          <p:cNvPr id="45" name="Text 43"/>
          <p:cNvSpPr/>
          <p:nvPr/>
        </p:nvSpPr>
        <p:spPr>
          <a:xfrm>
            <a:off x="8156448" y="5212080"/>
            <a:ext cx="768096" cy="402336"/>
          </a:xfrm>
          <a:prstGeom prst="rect">
            <a:avLst/>
          </a:prstGeom>
          <a:noFill/>
          <a:ln/>
        </p:spPr>
        <p:txBody>
          <a:bodyPr wrap="square" lIns="0" tIns="0" rIns="0" bIns="0" rtlCol="0" anchor="ctr"/>
          <a:lstStyle/>
          <a:p>
            <a:pPr indent="0" marL="0">
              <a:buNone/>
            </a:pPr>
            <a:r>
              <a:rPr lang="en-US" sz="3000" b="1" dirty="0">
                <a:solidFill>
                  <a:srgbClr val="00843D"/>
                </a:solidFill>
                <a:latin typeface="Arial" pitchFamily="34" charset="0"/>
                <a:ea typeface="Arial" pitchFamily="34" charset="-122"/>
                <a:cs typeface="Arial" pitchFamily="34" charset="-120"/>
              </a:rPr>
              <a:t>199</a:t>
            </a:r>
            <a:endParaRPr lang="en-US" sz="3000" dirty="0"/>
          </a:p>
        </p:txBody>
      </p:sp>
      <p:sp>
        <p:nvSpPr>
          <p:cNvPr id="46" name="Text 44"/>
          <p:cNvSpPr/>
          <p:nvPr/>
        </p:nvSpPr>
        <p:spPr>
          <a:xfrm>
            <a:off x="9061704" y="5248656"/>
            <a:ext cx="2587752" cy="310896"/>
          </a:xfrm>
          <a:prstGeom prst="rect">
            <a:avLst/>
          </a:prstGeom>
          <a:noFill/>
          <a:ln/>
        </p:spPr>
        <p:txBody>
          <a:bodyPr wrap="square" lIns="0" tIns="0" rIns="0" bIns="0" rtlCol="0" anchor="ctr"/>
          <a:lstStyle/>
          <a:p>
            <a:pPr indent="0" marL="0">
              <a:buNone/>
            </a:pPr>
            <a:r>
              <a:rPr lang="en-US" sz="1380" b="1" dirty="0">
                <a:solidFill>
                  <a:srgbClr val="52635E"/>
                </a:solidFill>
                <a:latin typeface="Arial" pitchFamily="34" charset="0"/>
                <a:ea typeface="Arial" pitchFamily="34" charset="-122"/>
                <a:cs typeface="Arial" pitchFamily="34" charset="-120"/>
              </a:rPr>
              <a:t>evidenced field definitions</a:t>
            </a:r>
            <a:endParaRPr lang="en-US" sz="1380" dirty="0"/>
          </a:p>
        </p:txBody>
      </p:sp>
      <p:sp>
        <p:nvSpPr>
          <p:cNvPr id="47" name="Shape 45"/>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48" name="Shape 46"/>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49" name="Text 47"/>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SCOPE MATTERS</a:t>
            </a:r>
            <a:endParaRPr lang="en-US" sz="950" dirty="0"/>
          </a:p>
        </p:txBody>
      </p:sp>
      <p:sp>
        <p:nvSpPr>
          <p:cNvPr id="50" name="Text 48"/>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These are accepted pilot capabilities—not a claim of enterprise production rollout.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CURRENT DELIVERY FOCUS</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Make governed answers operationally manageable.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Extend the accepted foundation without restarting completed work.</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S3, S4</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04</a:t>
            </a:r>
            <a:endParaRPr lang="en-US" sz="1050" dirty="0"/>
          </a:p>
        </p:txBody>
      </p:sp>
      <p:sp>
        <p:nvSpPr>
          <p:cNvPr id="12" name="Shape 10"/>
          <p:cNvSpPr/>
          <p:nvPr/>
        </p:nvSpPr>
        <p:spPr>
          <a:xfrm>
            <a:off x="594360" y="2039112"/>
            <a:ext cx="11000232" cy="576072"/>
          </a:xfrm>
          <a:prstGeom prst="rect">
            <a:avLst/>
          </a:prstGeom>
          <a:solidFill>
            <a:srgbClr val="FBF2E5"/>
          </a:solidFill>
          <a:ln w="7620">
            <a:solidFill>
              <a:srgbClr val="EBD6B4"/>
            </a:solidFill>
            <a:prstDash val="solid"/>
          </a:ln>
        </p:spPr>
        <p:txBody>
          <a:bodyPr/>
          <a:p/>
        </p:txBody>
      </p:sp>
      <p:sp>
        <p:nvSpPr>
          <p:cNvPr id="13" name="Text 11"/>
          <p:cNvSpPr/>
          <p:nvPr/>
        </p:nvSpPr>
        <p:spPr>
          <a:xfrm>
            <a:off x="777240" y="2139696"/>
            <a:ext cx="2999232" cy="228600"/>
          </a:xfrm>
          <a:prstGeom prst="rect">
            <a:avLst/>
          </a:prstGeom>
          <a:noFill/>
          <a:ln/>
        </p:spPr>
        <p:txBody>
          <a:bodyPr wrap="square" lIns="0" tIns="0" rIns="0" bIns="0" rtlCol="0" anchor="ctr"/>
          <a:lstStyle/>
          <a:p>
            <a:pPr indent="0" marL="0">
              <a:buNone/>
            </a:pPr>
            <a:r>
              <a:rPr lang="en-US" sz="1080" b="1" dirty="0">
                <a:solidFill>
                  <a:srgbClr val="B87722"/>
                </a:solidFill>
                <a:latin typeface="Arial" pitchFamily="34" charset="0"/>
                <a:ea typeface="Arial" pitchFamily="34" charset="-122"/>
                <a:cs typeface="Arial" pitchFamily="34" charset="-120"/>
              </a:rPr>
              <a:t>LIFECYCLE CLASSIFICATION</a:t>
            </a:r>
            <a:endParaRPr lang="en-US" sz="1080" dirty="0"/>
          </a:p>
        </p:txBody>
      </p:sp>
      <p:sp>
        <p:nvSpPr>
          <p:cNvPr id="14" name="Text 12"/>
          <p:cNvSpPr/>
          <p:nvPr/>
        </p:nvSpPr>
        <p:spPr>
          <a:xfrm>
            <a:off x="3776472" y="2103120"/>
            <a:ext cx="7589520" cy="384048"/>
          </a:xfrm>
          <a:prstGeom prst="rect">
            <a:avLst/>
          </a:prstGeom>
          <a:noFill/>
          <a:ln/>
        </p:spPr>
        <p:txBody>
          <a:bodyPr wrap="square" lIns="0" tIns="0" rIns="0" bIns="0" rtlCol="0" anchor="ctr"/>
          <a:lstStyle/>
          <a:p>
            <a:pPr indent="0" marL="0">
              <a:buNone/>
            </a:pPr>
            <a:r>
              <a:rPr lang="en-US" sz="1360" dirty="0">
                <a:solidFill>
                  <a:srgbClr val="182425"/>
                </a:solidFill>
                <a:latin typeface="Arial" pitchFamily="34" charset="0"/>
                <a:ea typeface="Arial" pitchFamily="34" charset="-122"/>
                <a:cs typeface="Arial" pitchFamily="34" charset="-120"/>
              </a:rPr>
              <a:t>Implementation and independent-review evidence reported; final integration status to confirm.</a:t>
            </a:r>
            <a:endParaRPr lang="en-US" sz="1360" dirty="0"/>
          </a:p>
        </p:txBody>
      </p:sp>
      <p:sp>
        <p:nvSpPr>
          <p:cNvPr id="15" name="Shape 13"/>
          <p:cNvSpPr/>
          <p:nvPr/>
        </p:nvSpPr>
        <p:spPr>
          <a:xfrm>
            <a:off x="786384" y="2798064"/>
            <a:ext cx="2505456" cy="402336"/>
          </a:xfrm>
          <a:prstGeom prst="rect">
            <a:avLst/>
          </a:prstGeom>
          <a:solidFill>
            <a:srgbClr val="EAF4EE"/>
          </a:solidFill>
          <a:ln w="12700">
            <a:solidFill>
              <a:srgbClr val="EAF4EE"/>
            </a:solidFill>
            <a:prstDash val="solid"/>
          </a:ln>
        </p:spPr>
        <p:txBody>
          <a:bodyPr/>
          <a:p/>
        </p:txBody>
      </p:sp>
      <p:sp>
        <p:nvSpPr>
          <p:cNvPr id="16" name="Text 14"/>
          <p:cNvSpPr/>
          <p:nvPr/>
        </p:nvSpPr>
        <p:spPr>
          <a:xfrm>
            <a:off x="877824" y="2862072"/>
            <a:ext cx="2322576" cy="228600"/>
          </a:xfrm>
          <a:prstGeom prst="rect">
            <a:avLst/>
          </a:prstGeom>
          <a:noFill/>
          <a:ln/>
        </p:spPr>
        <p:txBody>
          <a:bodyPr wrap="square" lIns="0" tIns="0" rIns="0" bIns="0" rtlCol="0" anchor="ctr"/>
          <a:lstStyle/>
          <a:p>
            <a:pPr algn="ctr" indent="0" marL="0">
              <a:buNone/>
            </a:pPr>
            <a:r>
              <a:rPr lang="en-US" sz="1280" b="1" dirty="0">
                <a:solidFill>
                  <a:srgbClr val="005238"/>
                </a:solidFill>
                <a:latin typeface="Arial" pitchFamily="34" charset="0"/>
                <a:ea typeface="Arial" pitchFamily="34" charset="-122"/>
                <a:cs typeface="Arial" pitchFamily="34" charset="-120"/>
              </a:rPr>
              <a:t>VALID</a:t>
            </a:r>
            <a:endParaRPr lang="en-US" sz="1280" dirty="0"/>
          </a:p>
        </p:txBody>
      </p:sp>
      <p:sp>
        <p:nvSpPr>
          <p:cNvPr id="17" name="Shape 15"/>
          <p:cNvSpPr/>
          <p:nvPr/>
        </p:nvSpPr>
        <p:spPr>
          <a:xfrm>
            <a:off x="3557016" y="2798064"/>
            <a:ext cx="2505456" cy="402336"/>
          </a:xfrm>
          <a:prstGeom prst="rect">
            <a:avLst/>
          </a:prstGeom>
          <a:solidFill>
            <a:srgbClr val="FBF2E5"/>
          </a:solidFill>
          <a:ln w="12700">
            <a:solidFill>
              <a:srgbClr val="FBF2E5"/>
            </a:solidFill>
            <a:prstDash val="solid"/>
          </a:ln>
        </p:spPr>
        <p:txBody>
          <a:bodyPr/>
          <a:p/>
        </p:txBody>
      </p:sp>
      <p:sp>
        <p:nvSpPr>
          <p:cNvPr id="18" name="Text 16"/>
          <p:cNvSpPr/>
          <p:nvPr/>
        </p:nvSpPr>
        <p:spPr>
          <a:xfrm>
            <a:off x="3648456" y="2862072"/>
            <a:ext cx="2322576" cy="228600"/>
          </a:xfrm>
          <a:prstGeom prst="rect">
            <a:avLst/>
          </a:prstGeom>
          <a:noFill/>
          <a:ln/>
        </p:spPr>
        <p:txBody>
          <a:bodyPr wrap="square" lIns="0" tIns="0" rIns="0" bIns="0" rtlCol="0" anchor="ctr"/>
          <a:lstStyle/>
          <a:p>
            <a:pPr algn="ctr" indent="0" marL="0">
              <a:buNone/>
            </a:pPr>
            <a:r>
              <a:rPr lang="en-US" sz="1280" b="1" dirty="0">
                <a:solidFill>
                  <a:srgbClr val="B87722"/>
                </a:solidFill>
                <a:latin typeface="Arial" pitchFamily="34" charset="0"/>
                <a:ea typeface="Arial" pitchFamily="34" charset="-122"/>
                <a:cs typeface="Arial" pitchFamily="34" charset="-120"/>
              </a:rPr>
              <a:t>NEEDS REVIEW</a:t>
            </a:r>
            <a:endParaRPr lang="en-US" sz="1280" dirty="0"/>
          </a:p>
        </p:txBody>
      </p:sp>
      <p:sp>
        <p:nvSpPr>
          <p:cNvPr id="19" name="Shape 17"/>
          <p:cNvSpPr/>
          <p:nvPr/>
        </p:nvSpPr>
        <p:spPr>
          <a:xfrm>
            <a:off x="6327648" y="2798064"/>
            <a:ext cx="2505456" cy="402336"/>
          </a:xfrm>
          <a:prstGeom prst="rect">
            <a:avLst/>
          </a:prstGeom>
          <a:solidFill>
            <a:srgbClr val="FBECE7"/>
          </a:solidFill>
          <a:ln w="12700">
            <a:solidFill>
              <a:srgbClr val="FBECE7"/>
            </a:solidFill>
            <a:prstDash val="solid"/>
          </a:ln>
        </p:spPr>
        <p:txBody>
          <a:bodyPr/>
          <a:p/>
        </p:txBody>
      </p:sp>
      <p:sp>
        <p:nvSpPr>
          <p:cNvPr id="20" name="Text 18"/>
          <p:cNvSpPr/>
          <p:nvPr/>
        </p:nvSpPr>
        <p:spPr>
          <a:xfrm>
            <a:off x="6419088" y="2862072"/>
            <a:ext cx="2322576" cy="228600"/>
          </a:xfrm>
          <a:prstGeom prst="rect">
            <a:avLst/>
          </a:prstGeom>
          <a:noFill/>
          <a:ln/>
        </p:spPr>
        <p:txBody>
          <a:bodyPr wrap="square" lIns="0" tIns="0" rIns="0" bIns="0" rtlCol="0" anchor="ctr"/>
          <a:lstStyle/>
          <a:p>
            <a:pPr algn="ctr" indent="0" marL="0">
              <a:buNone/>
            </a:pPr>
            <a:r>
              <a:rPr lang="en-US" sz="1280" b="1" dirty="0">
                <a:solidFill>
                  <a:srgbClr val="9A3F24"/>
                </a:solidFill>
                <a:latin typeface="Arial" pitchFamily="34" charset="0"/>
                <a:ea typeface="Arial" pitchFamily="34" charset="-122"/>
                <a:cs typeface="Arial" pitchFamily="34" charset="-120"/>
              </a:rPr>
              <a:t>BROKEN</a:t>
            </a:r>
            <a:endParaRPr lang="en-US" sz="1280" dirty="0"/>
          </a:p>
        </p:txBody>
      </p:sp>
      <p:sp>
        <p:nvSpPr>
          <p:cNvPr id="21" name="Shape 19"/>
          <p:cNvSpPr/>
          <p:nvPr/>
        </p:nvSpPr>
        <p:spPr>
          <a:xfrm>
            <a:off x="9098280" y="2798064"/>
            <a:ext cx="2505456" cy="402336"/>
          </a:xfrm>
          <a:prstGeom prst="rect">
            <a:avLst/>
          </a:prstGeom>
          <a:solidFill>
            <a:srgbClr val="F4F6F5"/>
          </a:solidFill>
          <a:ln w="12700">
            <a:solidFill>
              <a:srgbClr val="F4F6F5"/>
            </a:solidFill>
            <a:prstDash val="solid"/>
          </a:ln>
        </p:spPr>
        <p:txBody>
          <a:bodyPr/>
          <a:p/>
        </p:txBody>
      </p:sp>
      <p:sp>
        <p:nvSpPr>
          <p:cNvPr id="22" name="Text 20"/>
          <p:cNvSpPr/>
          <p:nvPr/>
        </p:nvSpPr>
        <p:spPr>
          <a:xfrm>
            <a:off x="9189720" y="2862072"/>
            <a:ext cx="2322576" cy="228600"/>
          </a:xfrm>
          <a:prstGeom prst="rect">
            <a:avLst/>
          </a:prstGeom>
          <a:noFill/>
          <a:ln/>
        </p:spPr>
        <p:txBody>
          <a:bodyPr wrap="square" lIns="0" tIns="0" rIns="0" bIns="0" rtlCol="0" anchor="ctr"/>
          <a:lstStyle/>
          <a:p>
            <a:pPr algn="ctr" indent="0" marL="0">
              <a:buNone/>
            </a:pPr>
            <a:r>
              <a:rPr lang="en-US" sz="1280" b="1" dirty="0">
                <a:solidFill>
                  <a:srgbClr val="52635E"/>
                </a:solidFill>
                <a:latin typeface="Arial" pitchFamily="34" charset="0"/>
                <a:ea typeface="Arial" pitchFamily="34" charset="-122"/>
                <a:cs typeface="Arial" pitchFamily="34" charset="-120"/>
              </a:rPr>
              <a:t>NOT APPROVED</a:t>
            </a:r>
            <a:endParaRPr lang="en-US" sz="1280" dirty="0"/>
          </a:p>
        </p:txBody>
      </p:sp>
      <p:sp>
        <p:nvSpPr>
          <p:cNvPr id="23" name="Shape 21"/>
          <p:cNvSpPr/>
          <p:nvPr/>
        </p:nvSpPr>
        <p:spPr>
          <a:xfrm>
            <a:off x="594360" y="3493008"/>
            <a:ext cx="3520440" cy="2084832"/>
          </a:xfrm>
          <a:prstGeom prst="rect">
            <a:avLst/>
          </a:prstGeom>
          <a:solidFill>
            <a:srgbClr val="F4F8F5"/>
          </a:solidFill>
          <a:ln w="8890">
            <a:solidFill>
              <a:srgbClr val="D9E4DD"/>
            </a:solidFill>
            <a:prstDash val="solid"/>
          </a:ln>
        </p:spPr>
        <p:txBody>
          <a:bodyPr/>
          <a:p/>
        </p:txBody>
      </p:sp>
      <p:sp>
        <p:nvSpPr>
          <p:cNvPr id="24" name="Text 22"/>
          <p:cNvSpPr/>
          <p:nvPr/>
        </p:nvSpPr>
        <p:spPr>
          <a:xfrm>
            <a:off x="804672" y="3685032"/>
            <a:ext cx="429768" cy="374904"/>
          </a:xfrm>
          <a:prstGeom prst="rect">
            <a:avLst/>
          </a:prstGeom>
          <a:noFill/>
          <a:ln/>
        </p:spPr>
        <p:txBody>
          <a:bodyPr wrap="square" lIns="0" tIns="0" rIns="0" bIns="0" rtlCol="0" anchor="ctr"/>
          <a:lstStyle/>
          <a:p>
            <a:pPr indent="0" marL="0">
              <a:buNone/>
            </a:pPr>
            <a:r>
              <a:rPr lang="en-US" sz="2500" b="1" dirty="0">
                <a:solidFill>
                  <a:srgbClr val="00843D"/>
                </a:solidFill>
                <a:latin typeface="Arial" pitchFamily="34" charset="0"/>
                <a:ea typeface="Arial" pitchFamily="34" charset="-122"/>
                <a:cs typeface="Arial" pitchFamily="34" charset="-120"/>
              </a:rPr>
              <a:t>01</a:t>
            </a:r>
            <a:endParaRPr lang="en-US" sz="2500" dirty="0"/>
          </a:p>
        </p:txBody>
      </p:sp>
      <p:sp>
        <p:nvSpPr>
          <p:cNvPr id="25" name="Text 23"/>
          <p:cNvSpPr/>
          <p:nvPr/>
        </p:nvSpPr>
        <p:spPr>
          <a:xfrm>
            <a:off x="804672" y="4178808"/>
            <a:ext cx="3090672" cy="329184"/>
          </a:xfrm>
          <a:prstGeom prst="rect">
            <a:avLst/>
          </a:prstGeom>
          <a:noFill/>
          <a:ln/>
        </p:spPr>
        <p:txBody>
          <a:bodyPr wrap="square" lIns="0" tIns="0" rIns="0" bIns="0" rtlCol="0" anchor="ctr"/>
          <a:lstStyle/>
          <a:p>
            <a:pPr indent="0" marL="0">
              <a:buNone/>
            </a:pPr>
            <a:r>
              <a:rPr lang="en-US" sz="2000" b="1" dirty="0">
                <a:solidFill>
                  <a:srgbClr val="182425"/>
                </a:solidFill>
                <a:latin typeface="Arial" pitchFamily="34" charset="0"/>
                <a:ea typeface="Arial" pitchFamily="34" charset="-122"/>
                <a:cs typeface="Arial" pitchFamily="34" charset="-120"/>
              </a:rPr>
              <a:t>Approval &amp; renewal</a:t>
            </a:r>
            <a:endParaRPr lang="en-US" sz="2000" dirty="0"/>
          </a:p>
        </p:txBody>
      </p:sp>
      <p:sp>
        <p:nvSpPr>
          <p:cNvPr id="26" name="Text 24"/>
          <p:cNvSpPr/>
          <p:nvPr/>
        </p:nvSpPr>
        <p:spPr>
          <a:xfrm>
            <a:off x="804672" y="4645152"/>
            <a:ext cx="3081528" cy="603504"/>
          </a:xfrm>
          <a:prstGeom prst="rect">
            <a:avLst/>
          </a:prstGeom>
          <a:noFill/>
          <a:ln/>
        </p:spPr>
        <p:txBody>
          <a:bodyPr wrap="square" lIns="0" tIns="0" rIns="0" bIns="0" rtlCol="0" anchor="t"/>
          <a:lstStyle/>
          <a:p>
            <a:pPr indent="0" marL="0">
              <a:buNone/>
            </a:pPr>
            <a:r>
              <a:rPr lang="en-US" sz="1600" dirty="0">
                <a:solidFill>
                  <a:srgbClr val="52635E"/>
                </a:solidFill>
                <a:latin typeface="Arial" pitchFamily="34" charset="0"/>
                <a:ea typeface="Arial" pitchFamily="34" charset="-122"/>
                <a:cs typeface="Arial" pitchFamily="34" charset="-120"/>
              </a:rPr>
              <a:t>Name accountable approvers.</a:t>
            </a:r>
            <a:endParaRPr lang="en-US" sz="1600" dirty="0"/>
          </a:p>
          <a:p>
            <a:pPr indent="0" marL="0">
              <a:buNone/>
            </a:pPr>
            <a:r>
              <a:rPr lang="en-US" sz="1600" dirty="0">
                <a:solidFill>
                  <a:srgbClr val="52635E"/>
                </a:solidFill>
                <a:latin typeface="Arial" pitchFamily="34" charset="0"/>
                <a:ea typeface="Arial" pitchFamily="34" charset="-122"/>
                <a:cs typeface="Arial" pitchFamily="34" charset="-120"/>
              </a:rPr>
              <a:t>Define renewal and change rules.</a:t>
            </a:r>
            <a:endParaRPr lang="en-US" sz="1600" dirty="0"/>
          </a:p>
        </p:txBody>
      </p:sp>
      <p:sp>
        <p:nvSpPr>
          <p:cNvPr id="27" name="Shape 25"/>
          <p:cNvSpPr/>
          <p:nvPr/>
        </p:nvSpPr>
        <p:spPr>
          <a:xfrm>
            <a:off x="4334256" y="3493008"/>
            <a:ext cx="3520440" cy="2084832"/>
          </a:xfrm>
          <a:prstGeom prst="rect">
            <a:avLst/>
          </a:prstGeom>
          <a:solidFill>
            <a:srgbClr val="F4F8F5"/>
          </a:solidFill>
          <a:ln w="8890">
            <a:solidFill>
              <a:srgbClr val="D9E4DD"/>
            </a:solidFill>
            <a:prstDash val="solid"/>
          </a:ln>
        </p:spPr>
        <p:txBody>
          <a:bodyPr/>
          <a:p/>
        </p:txBody>
      </p:sp>
      <p:sp>
        <p:nvSpPr>
          <p:cNvPr id="28" name="Text 26"/>
          <p:cNvSpPr/>
          <p:nvPr/>
        </p:nvSpPr>
        <p:spPr>
          <a:xfrm>
            <a:off x="4544568" y="3685032"/>
            <a:ext cx="429768" cy="374904"/>
          </a:xfrm>
          <a:prstGeom prst="rect">
            <a:avLst/>
          </a:prstGeom>
          <a:noFill/>
          <a:ln/>
        </p:spPr>
        <p:txBody>
          <a:bodyPr wrap="square" lIns="0" tIns="0" rIns="0" bIns="0" rtlCol="0" anchor="ctr"/>
          <a:lstStyle/>
          <a:p>
            <a:pPr indent="0" marL="0">
              <a:buNone/>
            </a:pPr>
            <a:r>
              <a:rPr lang="en-US" sz="2500" b="1" dirty="0">
                <a:solidFill>
                  <a:srgbClr val="00843D"/>
                </a:solidFill>
                <a:latin typeface="Arial" pitchFamily="34" charset="0"/>
                <a:ea typeface="Arial" pitchFamily="34" charset="-122"/>
                <a:cs typeface="Arial" pitchFamily="34" charset="-120"/>
              </a:rPr>
              <a:t>02</a:t>
            </a:r>
            <a:endParaRPr lang="en-US" sz="2500" dirty="0"/>
          </a:p>
        </p:txBody>
      </p:sp>
      <p:sp>
        <p:nvSpPr>
          <p:cNvPr id="29" name="Text 27"/>
          <p:cNvSpPr/>
          <p:nvPr/>
        </p:nvSpPr>
        <p:spPr>
          <a:xfrm>
            <a:off x="4544568" y="4178808"/>
            <a:ext cx="3090672" cy="329184"/>
          </a:xfrm>
          <a:prstGeom prst="rect">
            <a:avLst/>
          </a:prstGeom>
          <a:noFill/>
          <a:ln/>
        </p:spPr>
        <p:txBody>
          <a:bodyPr wrap="square" lIns="0" tIns="0" rIns="0" bIns="0" rtlCol="0" anchor="ctr"/>
          <a:lstStyle/>
          <a:p>
            <a:pPr indent="0" marL="0">
              <a:buNone/>
            </a:pPr>
            <a:r>
              <a:rPr lang="en-US" sz="2000" b="1" dirty="0">
                <a:solidFill>
                  <a:srgbClr val="182425"/>
                </a:solidFill>
                <a:latin typeface="Arial" pitchFamily="34" charset="0"/>
                <a:ea typeface="Arial" pitchFamily="34" charset="-122"/>
                <a:cs typeface="Arial" pitchFamily="34" charset="-120"/>
              </a:rPr>
              <a:t>Certified meaning</a:t>
            </a:r>
            <a:endParaRPr lang="en-US" sz="2000" dirty="0"/>
          </a:p>
        </p:txBody>
      </p:sp>
      <p:sp>
        <p:nvSpPr>
          <p:cNvPr id="30" name="Text 28"/>
          <p:cNvSpPr/>
          <p:nvPr/>
        </p:nvSpPr>
        <p:spPr>
          <a:xfrm>
            <a:off x="4544568" y="4645152"/>
            <a:ext cx="3081528" cy="603504"/>
          </a:xfrm>
          <a:prstGeom prst="rect">
            <a:avLst/>
          </a:prstGeom>
          <a:noFill/>
          <a:ln/>
        </p:spPr>
        <p:txBody>
          <a:bodyPr wrap="square" lIns="0" tIns="0" rIns="0" bIns="0" rtlCol="0" anchor="t"/>
          <a:lstStyle/>
          <a:p>
            <a:pPr indent="0" marL="0">
              <a:buNone/>
            </a:pPr>
            <a:r>
              <a:rPr lang="en-US" sz="1550" dirty="0">
                <a:solidFill>
                  <a:srgbClr val="52635E"/>
                </a:solidFill>
                <a:latin typeface="Arial" pitchFamily="34" charset="0"/>
                <a:ea typeface="Arial" pitchFamily="34" charset="-122"/>
                <a:cs typeface="Arial" pitchFamily="34" charset="-120"/>
              </a:rPr>
              <a:t>Agree metric ownership and</a:t>
            </a:r>
            <a:endParaRPr lang="en-US" sz="1600" dirty="0"/>
          </a:p>
          <a:p>
            <a:pPr indent="0" marL="0">
              <a:buNone/>
            </a:pPr>
            <a:r>
              <a:rPr lang="en-US" sz="1550" dirty="0">
                <a:solidFill>
                  <a:srgbClr val="52635E"/>
                </a:solidFill>
                <a:latin typeface="Arial" pitchFamily="34" charset="0"/>
                <a:ea typeface="Arial" pitchFamily="34" charset="-122"/>
                <a:cs typeface="Arial" pitchFamily="34" charset="-120"/>
              </a:rPr>
              <a:t>Collibra metadata boundaries.</a:t>
            </a:r>
          </a:p>
        </p:txBody>
      </p:sp>
      <p:sp>
        <p:nvSpPr>
          <p:cNvPr id="31" name="Shape 29"/>
          <p:cNvSpPr/>
          <p:nvPr/>
        </p:nvSpPr>
        <p:spPr>
          <a:xfrm>
            <a:off x="8074152" y="3493008"/>
            <a:ext cx="3520440" cy="2084832"/>
          </a:xfrm>
          <a:prstGeom prst="rect">
            <a:avLst/>
          </a:prstGeom>
          <a:solidFill>
            <a:srgbClr val="F4F8F5"/>
          </a:solidFill>
          <a:ln w="8890">
            <a:solidFill>
              <a:srgbClr val="D9E4DD"/>
            </a:solidFill>
            <a:prstDash val="solid"/>
          </a:ln>
        </p:spPr>
        <p:txBody>
          <a:bodyPr/>
          <a:p/>
        </p:txBody>
      </p:sp>
      <p:sp>
        <p:nvSpPr>
          <p:cNvPr id="32" name="Text 30"/>
          <p:cNvSpPr/>
          <p:nvPr/>
        </p:nvSpPr>
        <p:spPr>
          <a:xfrm>
            <a:off x="8284464" y="3685032"/>
            <a:ext cx="429768" cy="374904"/>
          </a:xfrm>
          <a:prstGeom prst="rect">
            <a:avLst/>
          </a:prstGeom>
          <a:noFill/>
          <a:ln/>
        </p:spPr>
        <p:txBody>
          <a:bodyPr wrap="square" lIns="0" tIns="0" rIns="0" bIns="0" rtlCol="0" anchor="ctr"/>
          <a:lstStyle/>
          <a:p>
            <a:pPr indent="0" marL="0">
              <a:buNone/>
            </a:pPr>
            <a:r>
              <a:rPr lang="en-US" sz="2500" b="1" dirty="0">
                <a:solidFill>
                  <a:srgbClr val="00843D"/>
                </a:solidFill>
                <a:latin typeface="Arial" pitchFamily="34" charset="0"/>
                <a:ea typeface="Arial" pitchFamily="34" charset="-122"/>
                <a:cs typeface="Arial" pitchFamily="34" charset="-120"/>
              </a:rPr>
              <a:t>03</a:t>
            </a:r>
            <a:endParaRPr lang="en-US" sz="2500" dirty="0"/>
          </a:p>
        </p:txBody>
      </p:sp>
      <p:sp>
        <p:nvSpPr>
          <p:cNvPr id="33" name="Text 31"/>
          <p:cNvSpPr/>
          <p:nvPr/>
        </p:nvSpPr>
        <p:spPr>
          <a:xfrm>
            <a:off x="8284464" y="4178808"/>
            <a:ext cx="3090672" cy="329184"/>
          </a:xfrm>
          <a:prstGeom prst="rect">
            <a:avLst/>
          </a:prstGeom>
          <a:noFill/>
          <a:ln/>
        </p:spPr>
        <p:txBody>
          <a:bodyPr wrap="square" lIns="0" tIns="0" rIns="0" bIns="0" rtlCol="0" anchor="ctr"/>
          <a:lstStyle/>
          <a:p>
            <a:pPr indent="0" marL="0">
              <a:buNone/>
            </a:pPr>
            <a:r>
              <a:rPr lang="en-US" sz="2000" b="1" dirty="0">
                <a:solidFill>
                  <a:srgbClr val="182425"/>
                </a:solidFill>
                <a:latin typeface="Arial" pitchFamily="34" charset="0"/>
                <a:ea typeface="Arial" pitchFamily="34" charset="-122"/>
                <a:cs typeface="Arial" pitchFamily="34" charset="-120"/>
              </a:rPr>
              <a:t>Consistent outputs</a:t>
            </a:r>
            <a:endParaRPr lang="en-US" sz="2000" dirty="0"/>
          </a:p>
        </p:txBody>
      </p:sp>
      <p:sp>
        <p:nvSpPr>
          <p:cNvPr id="34" name="Text 32"/>
          <p:cNvSpPr/>
          <p:nvPr/>
        </p:nvSpPr>
        <p:spPr>
          <a:xfrm>
            <a:off x="8284464" y="4645152"/>
            <a:ext cx="3081528" cy="603504"/>
          </a:xfrm>
          <a:prstGeom prst="rect">
            <a:avLst/>
          </a:prstGeom>
          <a:noFill/>
          <a:ln/>
        </p:spPr>
        <p:txBody>
          <a:bodyPr wrap="square" lIns="0" tIns="0" rIns="0" bIns="0" rtlCol="0" anchor="t"/>
          <a:lstStyle/>
          <a:p>
            <a:pPr indent="0" marL="0">
              <a:buNone/>
            </a:pPr>
            <a:r>
              <a:rPr lang="en-US" sz="1600" dirty="0">
                <a:solidFill>
                  <a:srgbClr val="52635E"/>
                </a:solidFill>
                <a:latin typeface="Arial" pitchFamily="34" charset="0"/>
                <a:ea typeface="Arial" pitchFamily="34" charset="-122"/>
                <a:cs typeface="Arial" pitchFamily="34" charset="-120"/>
              </a:rPr>
              <a:t>Use versioned templates and</a:t>
            </a:r>
            <a:endParaRPr lang="en-US" sz="1600" dirty="0"/>
          </a:p>
          <a:p>
            <a:pPr indent="0" marL="0">
              <a:buNone/>
            </a:pPr>
            <a:r>
              <a:rPr lang="en-US" sz="1600" dirty="0">
                <a:solidFill>
                  <a:srgbClr val="52635E"/>
                </a:solidFill>
                <a:latin typeface="Arial" pitchFamily="34" charset="0"/>
                <a:ea typeface="Arial" pitchFamily="34" charset="-122"/>
                <a:cs typeface="Arial" pitchFamily="34" charset="-120"/>
              </a:rPr>
              <a:t>fixed formatting rules.</a:t>
            </a:r>
            <a:endParaRPr lang="en-US" sz="1600" dirty="0"/>
          </a:p>
        </p:txBody>
      </p:sp>
      <p:sp>
        <p:nvSpPr>
          <p:cNvPr id="35" name="Shape 33"/>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36" name="Shape 34"/>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37" name="Text 35"/>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DESIGN RULE</a:t>
            </a:r>
            <a:endParaRPr lang="en-US" sz="950" dirty="0"/>
          </a:p>
        </p:txBody>
      </p:sp>
      <p:sp>
        <p:nvSpPr>
          <p:cNvPr id="38" name="Text 36"/>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Templates reference approved definitions; presentation must not change business meaning.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ROADMAP AT A GLANCE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Three milestones, with enterprise integration made explicit.</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MVP 2 expands beyond efficiency; discovery can start alongside the trust milestone.</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S2–S7 · proposed sequencing</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05</a:t>
            </a:r>
            <a:endParaRPr lang="en-US" sz="1050" dirty="0"/>
          </a:p>
        </p:txBody>
      </p:sp>
      <p:cxnSp>
        <p:nvCxnSpPr>
          <p:cNvPr id="12" name="Connector 11"/>
          <p:cNvCxnSpPr/>
          <p:nvPr/>
        </p:nvCxnSpPr>
        <p:spPr>
          <a:xfrm>
            <a:off x="914400" y="2523744"/>
            <a:ext cx="10131552" cy="0"/>
          </a:xfrm>
          <a:prstGeom prst="line">
            <a:avLst/>
          </a:prstGeom>
          <a:ln w="19050">
            <a:solidFill>
              <a:srgbClr val="D9E4D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4360" y="2039112"/>
            <a:ext cx="2194560" cy="265176"/>
          </a:xfrm>
          <a:prstGeom prst="roundRect">
            <a:avLst>
              <a:gd name="adj" fmla="val 5000"/>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089404"/>
            <a:ext cx="2011679"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B87722"/>
                </a:solidFill>
                <a:latin typeface="Arial"/>
              </a:rPr>
              <a:t>NOW · IN DELIVERY</a:t>
            </a:r>
          </a:p>
        </p:txBody>
      </p:sp>
      <p:sp>
        <p:nvSpPr>
          <p:cNvPr id="15" name="Oval 14"/>
          <p:cNvSpPr/>
          <p:nvPr/>
        </p:nvSpPr>
        <p:spPr>
          <a:xfrm>
            <a:off x="832104" y="2432304"/>
            <a:ext cx="173736" cy="173736"/>
          </a:xfrm>
          <a:prstGeom prst="ellipse">
            <a:avLst/>
          </a:prstGeom>
          <a:solidFill>
            <a:srgbClr val="B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779776"/>
            <a:ext cx="3401568" cy="219456"/>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52635E"/>
                </a:solidFill>
                <a:latin typeface="Arial"/>
              </a:rPr>
              <a:t>MVP 1</a:t>
            </a:r>
          </a:p>
        </p:txBody>
      </p:sp>
      <p:sp>
        <p:nvSpPr>
          <p:cNvPr id="17" name="TextBox 16"/>
          <p:cNvSpPr txBox="1"/>
          <p:nvPr/>
        </p:nvSpPr>
        <p:spPr>
          <a:xfrm>
            <a:off x="594360" y="3090672"/>
            <a:ext cx="3493008" cy="822960"/>
          </a:xfrm>
          <a:prstGeom prst="rect">
            <a:avLst/>
          </a:prstGeom>
          <a:noFill/>
        </p:spPr>
        <p:txBody>
          <a:bodyPr wrap="square" lIns="0" rIns="0" tIns="0" bIns="0" anchor="t">
            <a:spAutoFit/>
          </a:bodyPr>
          <a:lstStyle/>
          <a:p>
            <a:pPr algn="l">
              <a:lnSpc>
                <a:spcPct val="108000"/>
              </a:lnSpc>
              <a:spcBef>
                <a:spcPts val="0"/>
              </a:spcBef>
              <a:spcAft>
                <a:spcPts val="0"/>
              </a:spcAft>
            </a:pPr>
            <a:r>
              <a:rPr sz="2550" b="1">
                <a:solidFill>
                  <a:srgbClr val="182425"/>
                </a:solidFill>
                <a:latin typeface="Arial"/>
              </a:rPr>
              <a:t>Foundation</a:t>
            </a:r>
          </a:p>
          <a:p>
            <a:pPr algn="l">
              <a:lnSpc>
                <a:spcPct val="108000"/>
              </a:lnSpc>
              <a:spcBef>
                <a:spcPts val="0"/>
              </a:spcBef>
              <a:spcAft>
                <a:spcPts val="0"/>
              </a:spcAft>
            </a:pPr>
            <a:r>
              <a:rPr sz="2550" b="1">
                <a:solidFill>
                  <a:srgbClr val="182425"/>
                </a:solidFill>
                <a:latin typeface="Arial"/>
              </a:rPr>
              <a:t>&amp; Trust</a:t>
            </a:r>
          </a:p>
        </p:txBody>
      </p:sp>
      <p:sp>
        <p:nvSpPr>
          <p:cNvPr id="18" name="Rectangle 17"/>
          <p:cNvSpPr/>
          <p:nvPr/>
        </p:nvSpPr>
        <p:spPr>
          <a:xfrm>
            <a:off x="594360" y="4201668"/>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 y="4096512"/>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Governed approvals and outputs</a:t>
            </a:r>
          </a:p>
        </p:txBody>
      </p:sp>
      <p:sp>
        <p:nvSpPr>
          <p:cNvPr id="20" name="Rectangle 19"/>
          <p:cNvSpPr/>
          <p:nvPr/>
        </p:nvSpPr>
        <p:spPr>
          <a:xfrm>
            <a:off x="594360" y="464058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 y="4535424"/>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Qualified core business pilot</a:t>
            </a:r>
          </a:p>
        </p:txBody>
      </p:sp>
      <p:sp>
        <p:nvSpPr>
          <p:cNvPr id="22" name="Rectangle 21"/>
          <p:cNvSpPr/>
          <p:nvPr/>
        </p:nvSpPr>
        <p:spPr>
          <a:xfrm>
            <a:off x="594360" y="5079492"/>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 y="4974336"/>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Integration discovery in parallel</a:t>
            </a:r>
          </a:p>
        </p:txBody>
      </p:sp>
      <p:cxnSp>
        <p:nvCxnSpPr>
          <p:cNvPr id="24" name="Connector 23"/>
          <p:cNvCxnSpPr/>
          <p:nvPr/>
        </p:nvCxnSpPr>
        <p:spPr>
          <a:xfrm>
            <a:off x="594360" y="5468112"/>
            <a:ext cx="3465576"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 y="5577840"/>
            <a:ext cx="822960" cy="146304"/>
          </a:xfrm>
          <a:prstGeom prst="rect">
            <a:avLst/>
          </a:prstGeom>
          <a:noFill/>
        </p:spPr>
        <p:txBody>
          <a:bodyPr wrap="square" lIns="0" rIns="0" tIns="0" bIns="0" anchor="t">
            <a:spAutoFit/>
          </a:bodyPr>
          <a:lstStyle/>
          <a:p>
            <a:pPr algn="l">
              <a:lnSpc>
                <a:spcPct val="108000"/>
              </a:lnSpc>
              <a:spcBef>
                <a:spcPts val="0"/>
              </a:spcBef>
              <a:spcAft>
                <a:spcPts val="0"/>
              </a:spcAft>
            </a:pPr>
            <a:r>
              <a:rPr sz="830" b="1">
                <a:solidFill>
                  <a:srgbClr val="005238"/>
                </a:solidFill>
                <a:latin typeface="Arial"/>
              </a:rPr>
              <a:t>EXIT GATE</a:t>
            </a:r>
          </a:p>
        </p:txBody>
      </p:sp>
      <p:sp>
        <p:nvSpPr>
          <p:cNvPr id="26" name="TextBox 25"/>
          <p:cNvSpPr txBox="1"/>
          <p:nvPr/>
        </p:nvSpPr>
        <p:spPr>
          <a:xfrm>
            <a:off x="1527048" y="5536692"/>
            <a:ext cx="2514600" cy="301752"/>
          </a:xfrm>
          <a:prstGeom prst="rect">
            <a:avLst/>
          </a:prstGeom>
          <a:noFill/>
        </p:spPr>
        <p:txBody>
          <a:bodyPr wrap="square" lIns="0" rIns="0" tIns="0" bIns="0" anchor="t">
            <a:spAutoFit/>
          </a:bodyPr>
          <a:lstStyle/>
          <a:p>
            <a:pPr algn="l">
              <a:lnSpc>
                <a:spcPct val="108000"/>
              </a:lnSpc>
              <a:spcBef>
                <a:spcPts val="0"/>
              </a:spcBef>
              <a:spcAft>
                <a:spcPts val="0"/>
              </a:spcAft>
            </a:pPr>
            <a:r>
              <a:rPr sz="1120" b="1">
                <a:solidFill>
                  <a:srgbClr val="52635E"/>
                </a:solidFill>
                <a:latin typeface="Arial"/>
              </a:rPr>
              <a:t>Pilot and controls accepted</a:t>
            </a:r>
          </a:p>
        </p:txBody>
      </p:sp>
      <p:sp>
        <p:nvSpPr>
          <p:cNvPr id="27" name="Rounded Rectangle 26"/>
          <p:cNvSpPr/>
          <p:nvPr/>
        </p:nvSpPr>
        <p:spPr>
          <a:xfrm>
            <a:off x="4334256" y="2039112"/>
            <a:ext cx="2194560"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25696" y="2089404"/>
            <a:ext cx="2011679"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NEXT · PLANNED</a:t>
            </a:r>
          </a:p>
        </p:txBody>
      </p:sp>
      <p:sp>
        <p:nvSpPr>
          <p:cNvPr id="29" name="Oval 28"/>
          <p:cNvSpPr/>
          <p:nvPr/>
        </p:nvSpPr>
        <p:spPr>
          <a:xfrm>
            <a:off x="4572000" y="2432304"/>
            <a:ext cx="173736" cy="173736"/>
          </a:xfrm>
          <a:prstGeom prst="ellipse">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34256" y="2779776"/>
            <a:ext cx="3401568" cy="219456"/>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52635E"/>
                </a:solidFill>
                <a:latin typeface="Arial"/>
              </a:rPr>
              <a:t>MVP 2</a:t>
            </a:r>
          </a:p>
        </p:txBody>
      </p:sp>
      <p:sp>
        <p:nvSpPr>
          <p:cNvPr id="31" name="TextBox 30"/>
          <p:cNvSpPr txBox="1"/>
          <p:nvPr/>
        </p:nvSpPr>
        <p:spPr>
          <a:xfrm>
            <a:off x="4334256" y="3090672"/>
            <a:ext cx="3493008" cy="822960"/>
          </a:xfrm>
          <a:prstGeom prst="rect">
            <a:avLst/>
          </a:prstGeom>
          <a:noFill/>
        </p:spPr>
        <p:txBody>
          <a:bodyPr wrap="square" lIns="0" rIns="0" tIns="0" bIns="0" anchor="t">
            <a:spAutoFit/>
          </a:bodyPr>
          <a:lstStyle/>
          <a:p>
            <a:pPr algn="l">
              <a:lnSpc>
                <a:spcPct val="108000"/>
              </a:lnSpc>
              <a:spcBef>
                <a:spcPts val="0"/>
              </a:spcBef>
              <a:spcAft>
                <a:spcPts val="0"/>
              </a:spcAft>
            </a:pPr>
            <a:r>
              <a:rPr sz="2550" b="1">
                <a:solidFill>
                  <a:srgbClr val="182425"/>
                </a:solidFill>
                <a:latin typeface="Arial"/>
              </a:rPr>
              <a:t>Enterprise Integration</a:t>
            </a:r>
          </a:p>
          <a:p>
            <a:pPr algn="l">
              <a:lnSpc>
                <a:spcPct val="108000"/>
              </a:lnSpc>
              <a:spcBef>
                <a:spcPts val="0"/>
              </a:spcBef>
              <a:spcAft>
                <a:spcPts val="0"/>
              </a:spcAft>
            </a:pPr>
            <a:r>
              <a:rPr sz="2550" b="1">
                <a:solidFill>
                  <a:srgbClr val="182425"/>
                </a:solidFill>
                <a:latin typeface="Arial"/>
              </a:rPr>
              <a:t>&amp; Efficiency</a:t>
            </a:r>
          </a:p>
        </p:txBody>
      </p:sp>
      <p:sp>
        <p:nvSpPr>
          <p:cNvPr id="32" name="Rectangle 31"/>
          <p:cNvSpPr/>
          <p:nvPr/>
        </p:nvSpPr>
        <p:spPr>
          <a:xfrm>
            <a:off x="4334256" y="4201668"/>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0560" y="4096512"/>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First approved on-premises source</a:t>
            </a:r>
          </a:p>
        </p:txBody>
      </p:sp>
      <p:sp>
        <p:nvSpPr>
          <p:cNvPr id="34" name="Rectangle 33"/>
          <p:cNvSpPr/>
          <p:nvPr/>
        </p:nvSpPr>
        <p:spPr>
          <a:xfrm>
            <a:off x="4334256" y="464058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80560" y="4535424"/>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Collibra intake; Genie if qualified</a:t>
            </a:r>
          </a:p>
        </p:txBody>
      </p:sp>
      <p:sp>
        <p:nvSpPr>
          <p:cNvPr id="36" name="Rectangle 35"/>
          <p:cNvSpPr/>
          <p:nvPr/>
        </p:nvSpPr>
        <p:spPr>
          <a:xfrm>
            <a:off x="4334256" y="5079492"/>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60" y="4974336"/>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Secure caching; measurable value</a:t>
            </a:r>
          </a:p>
        </p:txBody>
      </p:sp>
      <p:cxnSp>
        <p:nvCxnSpPr>
          <p:cNvPr id="38" name="Connector 37"/>
          <p:cNvCxnSpPr/>
          <p:nvPr/>
        </p:nvCxnSpPr>
        <p:spPr>
          <a:xfrm>
            <a:off x="4334256" y="5468112"/>
            <a:ext cx="3465576"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334256" y="5577840"/>
            <a:ext cx="822960" cy="146304"/>
          </a:xfrm>
          <a:prstGeom prst="rect">
            <a:avLst/>
          </a:prstGeom>
          <a:noFill/>
        </p:spPr>
        <p:txBody>
          <a:bodyPr wrap="square" lIns="0" rIns="0" tIns="0" bIns="0" anchor="t">
            <a:spAutoFit/>
          </a:bodyPr>
          <a:lstStyle/>
          <a:p>
            <a:pPr algn="l">
              <a:lnSpc>
                <a:spcPct val="108000"/>
              </a:lnSpc>
              <a:spcBef>
                <a:spcPts val="0"/>
              </a:spcBef>
              <a:spcAft>
                <a:spcPts val="0"/>
              </a:spcAft>
            </a:pPr>
            <a:r>
              <a:rPr sz="830" b="1">
                <a:solidFill>
                  <a:srgbClr val="005238"/>
                </a:solidFill>
                <a:latin typeface="Arial"/>
              </a:rPr>
              <a:t>EXIT GATE</a:t>
            </a:r>
          </a:p>
        </p:txBody>
      </p:sp>
      <p:sp>
        <p:nvSpPr>
          <p:cNvPr id="40" name="TextBox 39"/>
          <p:cNvSpPr txBox="1"/>
          <p:nvPr/>
        </p:nvSpPr>
        <p:spPr>
          <a:xfrm>
            <a:off x="5266944" y="5536692"/>
            <a:ext cx="2514600" cy="301752"/>
          </a:xfrm>
          <a:prstGeom prst="rect">
            <a:avLst/>
          </a:prstGeom>
          <a:noFill/>
        </p:spPr>
        <p:txBody>
          <a:bodyPr wrap="square" lIns="0" rIns="0" tIns="0" bIns="0" anchor="t">
            <a:spAutoFit/>
          </a:bodyPr>
          <a:lstStyle/>
          <a:p>
            <a:pPr algn="l">
              <a:lnSpc>
                <a:spcPct val="108000"/>
              </a:lnSpc>
              <a:spcBef>
                <a:spcPts val="0"/>
              </a:spcBef>
              <a:spcAft>
                <a:spcPts val="0"/>
              </a:spcAft>
            </a:pPr>
            <a:r>
              <a:rPr sz="1120" b="1">
                <a:solidFill>
                  <a:srgbClr val="52635E"/>
                </a:solidFill>
                <a:latin typeface="Arial"/>
              </a:rPr>
              <a:t>Integration and value gates passed</a:t>
            </a:r>
          </a:p>
        </p:txBody>
      </p:sp>
      <p:sp>
        <p:nvSpPr>
          <p:cNvPr id="41" name="Rounded Rectangle 40"/>
          <p:cNvSpPr/>
          <p:nvPr/>
        </p:nvSpPr>
        <p:spPr>
          <a:xfrm>
            <a:off x="8074152" y="2039112"/>
            <a:ext cx="2194560"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65592" y="2089404"/>
            <a:ext cx="2011679"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LATER · PLANNED</a:t>
            </a:r>
          </a:p>
        </p:txBody>
      </p:sp>
      <p:sp>
        <p:nvSpPr>
          <p:cNvPr id="43" name="Oval 42"/>
          <p:cNvSpPr/>
          <p:nvPr/>
        </p:nvSpPr>
        <p:spPr>
          <a:xfrm>
            <a:off x="8311896" y="2432304"/>
            <a:ext cx="173736" cy="173736"/>
          </a:xfrm>
          <a:prstGeom prst="ellipse">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74152" y="2779776"/>
            <a:ext cx="3401568" cy="219456"/>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52635E"/>
                </a:solidFill>
                <a:latin typeface="Arial"/>
              </a:rPr>
              <a:t>MVP 3</a:t>
            </a:r>
          </a:p>
        </p:txBody>
      </p:sp>
      <p:sp>
        <p:nvSpPr>
          <p:cNvPr id="45" name="TextBox 44"/>
          <p:cNvSpPr txBox="1"/>
          <p:nvPr/>
        </p:nvSpPr>
        <p:spPr>
          <a:xfrm>
            <a:off x="8074152" y="3090672"/>
            <a:ext cx="3493008" cy="822960"/>
          </a:xfrm>
          <a:prstGeom prst="rect">
            <a:avLst/>
          </a:prstGeom>
          <a:noFill/>
        </p:spPr>
        <p:txBody>
          <a:bodyPr wrap="square" lIns="0" rIns="0" tIns="0" bIns="0" anchor="t">
            <a:spAutoFit/>
          </a:bodyPr>
          <a:lstStyle/>
          <a:p>
            <a:pPr algn="l">
              <a:lnSpc>
                <a:spcPct val="108000"/>
              </a:lnSpc>
              <a:spcBef>
                <a:spcPts val="0"/>
              </a:spcBef>
              <a:spcAft>
                <a:spcPts val="0"/>
              </a:spcAft>
            </a:pPr>
            <a:r>
              <a:rPr sz="2550" b="1">
                <a:solidFill>
                  <a:srgbClr val="182425"/>
                </a:solidFill>
                <a:latin typeface="Arial"/>
              </a:rPr>
              <a:t>Advanced</a:t>
            </a:r>
          </a:p>
          <a:p>
            <a:pPr algn="l">
              <a:lnSpc>
                <a:spcPct val="108000"/>
              </a:lnSpc>
              <a:spcBef>
                <a:spcPts val="0"/>
              </a:spcBef>
              <a:spcAft>
                <a:spcPts val="0"/>
              </a:spcAft>
            </a:pPr>
            <a:r>
              <a:rPr sz="2550" b="1">
                <a:solidFill>
                  <a:srgbClr val="182425"/>
                </a:solidFill>
                <a:latin typeface="Arial"/>
              </a:rPr>
              <a:t>Visualization</a:t>
            </a:r>
          </a:p>
        </p:txBody>
      </p:sp>
      <p:sp>
        <p:nvSpPr>
          <p:cNvPr id="46" name="Rectangle 45"/>
          <p:cNvSpPr/>
          <p:nvPr/>
        </p:nvSpPr>
        <p:spPr>
          <a:xfrm>
            <a:off x="8074152" y="4201668"/>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0456" y="4096512"/>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Decision-ready charts and drill-down</a:t>
            </a:r>
          </a:p>
        </p:txBody>
      </p:sp>
      <p:sp>
        <p:nvSpPr>
          <p:cNvPr id="48" name="Rectangle 47"/>
          <p:cNvSpPr/>
          <p:nvPr/>
        </p:nvSpPr>
        <p:spPr>
          <a:xfrm>
            <a:off x="8074152" y="464058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0456" y="4535424"/>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Governed reports and exports</a:t>
            </a:r>
          </a:p>
        </p:txBody>
      </p:sp>
      <p:sp>
        <p:nvSpPr>
          <p:cNvPr id="50" name="Rectangle 49"/>
          <p:cNvSpPr/>
          <p:nvPr/>
        </p:nvSpPr>
        <p:spPr>
          <a:xfrm>
            <a:off x="8074152" y="5079492"/>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0456" y="4974336"/>
            <a:ext cx="3273552" cy="420624"/>
          </a:xfrm>
          <a:prstGeom prst="rect">
            <a:avLst/>
          </a:prstGeom>
          <a:noFill/>
        </p:spPr>
        <p:txBody>
          <a:bodyPr wrap="square" lIns="0" rIns="0" tIns="0" bIns="0" anchor="t">
            <a:spAutoFit/>
          </a:bodyPr>
          <a:lstStyle/>
          <a:p>
            <a:pPr algn="l">
              <a:lnSpc>
                <a:spcPct val="108000"/>
              </a:lnSpc>
              <a:spcBef>
                <a:spcPts val="0"/>
              </a:spcBef>
              <a:spcAft>
                <a:spcPts val="0"/>
              </a:spcAft>
            </a:pPr>
            <a:r>
              <a:rPr sz="1500" b="0">
                <a:solidFill>
                  <a:srgbClr val="182425"/>
                </a:solidFill>
                <a:latin typeface="Arial"/>
              </a:rPr>
              <a:t>Adoption-led user experience</a:t>
            </a:r>
          </a:p>
        </p:txBody>
      </p:sp>
      <p:cxnSp>
        <p:nvCxnSpPr>
          <p:cNvPr id="52" name="Connector 51"/>
          <p:cNvCxnSpPr/>
          <p:nvPr/>
        </p:nvCxnSpPr>
        <p:spPr>
          <a:xfrm>
            <a:off x="8074152" y="5468112"/>
            <a:ext cx="3465576"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074152" y="5577840"/>
            <a:ext cx="822960" cy="146304"/>
          </a:xfrm>
          <a:prstGeom prst="rect">
            <a:avLst/>
          </a:prstGeom>
          <a:noFill/>
        </p:spPr>
        <p:txBody>
          <a:bodyPr wrap="square" lIns="0" rIns="0" tIns="0" bIns="0" anchor="t">
            <a:spAutoFit/>
          </a:bodyPr>
          <a:lstStyle/>
          <a:p>
            <a:pPr algn="l">
              <a:lnSpc>
                <a:spcPct val="108000"/>
              </a:lnSpc>
              <a:spcBef>
                <a:spcPts val="0"/>
              </a:spcBef>
              <a:spcAft>
                <a:spcPts val="0"/>
              </a:spcAft>
            </a:pPr>
            <a:r>
              <a:rPr sz="830" b="1">
                <a:solidFill>
                  <a:srgbClr val="005238"/>
                </a:solidFill>
                <a:latin typeface="Arial"/>
              </a:rPr>
              <a:t>EXIT GATE</a:t>
            </a:r>
          </a:p>
        </p:txBody>
      </p:sp>
      <p:sp>
        <p:nvSpPr>
          <p:cNvPr id="54" name="TextBox 53"/>
          <p:cNvSpPr txBox="1"/>
          <p:nvPr/>
        </p:nvSpPr>
        <p:spPr>
          <a:xfrm>
            <a:off x="9006840" y="5536692"/>
            <a:ext cx="2514600" cy="301752"/>
          </a:xfrm>
          <a:prstGeom prst="rect">
            <a:avLst/>
          </a:prstGeom>
          <a:noFill/>
        </p:spPr>
        <p:txBody>
          <a:bodyPr wrap="square" lIns="0" rIns="0" tIns="0" bIns="0" anchor="t">
            <a:spAutoFit/>
          </a:bodyPr>
          <a:lstStyle/>
          <a:p>
            <a:pPr algn="l">
              <a:lnSpc>
                <a:spcPct val="108000"/>
              </a:lnSpc>
              <a:spcBef>
                <a:spcPts val="0"/>
              </a:spcBef>
              <a:spcAft>
                <a:spcPts val="0"/>
              </a:spcAft>
            </a:pPr>
            <a:r>
              <a:rPr sz="1120" b="1">
                <a:solidFill>
                  <a:srgbClr val="52635E"/>
                </a:solidFill>
                <a:latin typeface="Arial"/>
              </a:rPr>
              <a:t>Safe sharing and adoption proven</a:t>
            </a:r>
          </a:p>
        </p:txBody>
      </p:sp>
      <p:sp>
        <p:nvSpPr>
          <p:cNvPr id="55" name="Rectangle 54"/>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AT EVERY MILESTONE</a:t>
            </a:r>
          </a:p>
        </p:txBody>
      </p:sp>
      <p:sp>
        <p:nvSpPr>
          <p:cNvPr id="58" name="TextBox 57"/>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Security  •  Data trust  •  Answer quality  •  Performance  •  Cost  •  Adoption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NEXT DELIVERY SEQUENCE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Advance the core and integration discovery in parallel.</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Proposed next actions; agree scope, ownership and capacity before setting delivery dates.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S3, S4, S7</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06</a:t>
            </a:r>
            <a:endParaRPr lang="en-US" sz="1050" dirty="0"/>
          </a:p>
        </p:txBody>
      </p:sp>
      <p:sp>
        <p:nvSpPr>
          <p:cNvPr id="12" name="Shape 10"/>
          <p:cNvSpPr/>
          <p:nvPr/>
        </p:nvSpPr>
        <p:spPr>
          <a:xfrm>
            <a:off x="594360" y="2212848"/>
            <a:ext cx="2583180" cy="2706624"/>
          </a:xfrm>
          <a:prstGeom prst="rect">
            <a:avLst/>
          </a:prstGeom>
          <a:solidFill>
            <a:srgbClr val="F4F8F5"/>
          </a:solidFill>
          <a:ln w="9525">
            <a:solidFill>
              <a:srgbClr val="D9E4DD"/>
            </a:solidFill>
            <a:prstDash val="solid"/>
          </a:ln>
        </p:spPr>
        <p:txBody>
          <a:bodyPr/>
          <a:p/>
        </p:txBody>
      </p:sp>
      <p:sp>
        <p:nvSpPr>
          <p:cNvPr id="13" name="Shape 11"/>
          <p:cNvSpPr/>
          <p:nvPr/>
        </p:nvSpPr>
        <p:spPr>
          <a:xfrm>
            <a:off x="758952" y="2386584"/>
            <a:ext cx="411480" cy="256032"/>
          </a:xfrm>
          <a:prstGeom prst="roundRect">
            <a:avLst>
              <a:gd name="adj" fmla="val 25000"/>
            </a:avLst>
          </a:prstGeom>
          <a:solidFill>
            <a:srgbClr val="00843D"/>
          </a:solidFill>
          <a:ln w="12700">
            <a:solidFill>
              <a:srgbClr val="00843D"/>
            </a:solidFill>
            <a:prstDash val="solid"/>
          </a:ln>
        </p:spPr>
        <p:txBody>
          <a:bodyPr/>
          <a:p/>
        </p:txBody>
      </p:sp>
      <p:sp>
        <p:nvSpPr>
          <p:cNvPr id="14" name="Text 12"/>
          <p:cNvSpPr/>
          <p:nvPr/>
        </p:nvSpPr>
        <p:spPr>
          <a:xfrm>
            <a:off x="832104" y="2393899"/>
            <a:ext cx="265176" cy="228600"/>
          </a:xfrm>
          <a:prstGeom prst="rect">
            <a:avLst/>
          </a:prstGeom>
          <a:noFill/>
          <a:ln/>
        </p:spPr>
        <p:txBody>
          <a:bodyPr wrap="square" lIns="0" tIns="0" rIns="0" bIns="0" rtlCol="0" anchor="ctr"/>
          <a:lstStyle/>
          <a:p>
            <a:pPr indent="0" marL="0">
              <a:buNone/>
            </a:pPr>
            <a:r>
              <a:rPr lang="en-US" sz="940" b="1" spc="60" kern="0" dirty="0">
                <a:solidFill>
                  <a:srgbClr val="FFFFFF"/>
                </a:solidFill>
                <a:latin typeface="Arial" pitchFamily="34" charset="0"/>
                <a:ea typeface="Arial" pitchFamily="34" charset="-122"/>
                <a:cs typeface="Arial" pitchFamily="34" charset="-120"/>
              </a:rPr>
              <a:t>1</a:t>
            </a:r>
            <a:endParaRPr lang="en-US" sz="940" dirty="0"/>
          </a:p>
        </p:txBody>
      </p:sp>
      <p:sp>
        <p:nvSpPr>
          <p:cNvPr id="15" name="Text 13"/>
          <p:cNvSpPr/>
          <p:nvPr/>
        </p:nvSpPr>
        <p:spPr>
          <a:xfrm>
            <a:off x="758952" y="2843784"/>
            <a:ext cx="2249424" cy="749808"/>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Confirm the</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baseline</a:t>
            </a:r>
            <a:endParaRPr lang="en-US" sz="2100" dirty="0"/>
          </a:p>
        </p:txBody>
      </p:sp>
      <p:sp>
        <p:nvSpPr>
          <p:cNvPr id="16" name="Text 14"/>
          <p:cNvSpPr/>
          <p:nvPr/>
        </p:nvSpPr>
        <p:spPr>
          <a:xfrm>
            <a:off x="758952" y="3767328"/>
            <a:ext cx="2249424" cy="649224"/>
          </a:xfrm>
          <a:prstGeom prst="rect">
            <a:avLst/>
          </a:prstGeom>
          <a:noFill/>
          <a:ln/>
        </p:spPr>
        <p:txBody>
          <a:bodyPr wrap="square" lIns="0" tIns="0" rIns="0" bIns="0" rtlCol="0" anchor="t"/>
          <a:lstStyle/>
          <a:p>
            <a:pPr indent="0" marL="0">
              <a:buNone/>
            </a:pPr>
            <a:r>
              <a:rPr lang="en-US" sz="1460" dirty="0">
                <a:solidFill>
                  <a:srgbClr val="52635E"/>
                </a:solidFill>
                <a:latin typeface="Arial" pitchFamily="34" charset="0"/>
                <a:ea typeface="Arial" pitchFamily="34" charset="-122"/>
                <a:cs typeface="Arial" pitchFamily="34" charset="-120"/>
              </a:rPr>
              <a:t>Verify integration evidence and preserve accepted behavior.</a:t>
            </a:r>
            <a:endParaRPr lang="en-US" sz="1460" dirty="0"/>
          </a:p>
        </p:txBody>
      </p:sp>
      <p:sp>
        <p:nvSpPr>
          <p:cNvPr id="17" name="Text 15"/>
          <p:cNvSpPr/>
          <p:nvPr/>
        </p:nvSpPr>
        <p:spPr>
          <a:xfrm>
            <a:off x="758952" y="4572000"/>
            <a:ext cx="2258568" cy="192024"/>
          </a:xfrm>
          <a:prstGeom prst="rect">
            <a:avLst/>
          </a:prstGeom>
          <a:noFill/>
          <a:ln/>
        </p:spPr>
        <p:txBody>
          <a:bodyPr wrap="square" lIns="0" tIns="0" rIns="0" bIns="0" rtlCol="0" anchor="ctr"/>
          <a:lstStyle/>
          <a:p>
            <a:pPr indent="0" marL="0">
              <a:buNone/>
            </a:pPr>
            <a:r>
              <a:rPr lang="en-US" sz="860" b="1" spc="15" kern="0" dirty="0">
                <a:solidFill>
                  <a:srgbClr val="005238"/>
                </a:solidFill>
                <a:latin typeface="Arial" pitchFamily="34" charset="0"/>
                <a:ea typeface="Arial" pitchFamily="34" charset="-122"/>
                <a:cs typeface="Arial" pitchFamily="34" charset="-120"/>
              </a:rPr>
              <a:t>ENGINEERING</a:t>
            </a:r>
            <a:endParaRPr lang="en-US" sz="860" dirty="0"/>
          </a:p>
        </p:txBody>
      </p:sp>
      <p:sp>
        <p:nvSpPr>
          <p:cNvPr id="18" name="Shape 16"/>
          <p:cNvSpPr/>
          <p:nvPr/>
        </p:nvSpPr>
        <p:spPr>
          <a:xfrm>
            <a:off x="3218688" y="3127248"/>
            <a:ext cx="146304" cy="256032"/>
          </a:xfrm>
          <a:prstGeom prst="chevron">
            <a:avLst/>
          </a:prstGeom>
          <a:solidFill>
            <a:srgbClr val="00843D"/>
          </a:solidFill>
          <a:ln w="12700">
            <a:solidFill>
              <a:srgbClr val="00843D"/>
            </a:solidFill>
            <a:prstDash val="solid"/>
          </a:ln>
        </p:spPr>
        <p:txBody>
          <a:bodyPr/>
          <a:p/>
        </p:txBody>
      </p:sp>
      <p:sp>
        <p:nvSpPr>
          <p:cNvPr id="19" name="Shape 17"/>
          <p:cNvSpPr/>
          <p:nvPr/>
        </p:nvSpPr>
        <p:spPr>
          <a:xfrm>
            <a:off x="3396996" y="2212848"/>
            <a:ext cx="2583180" cy="2706624"/>
          </a:xfrm>
          <a:prstGeom prst="rect">
            <a:avLst/>
          </a:prstGeom>
          <a:solidFill>
            <a:srgbClr val="F4F8F5"/>
          </a:solidFill>
          <a:ln w="9525">
            <a:solidFill>
              <a:srgbClr val="D9E4DD"/>
            </a:solidFill>
            <a:prstDash val="solid"/>
          </a:ln>
        </p:spPr>
        <p:txBody>
          <a:bodyPr/>
          <a:p/>
        </p:txBody>
      </p:sp>
      <p:sp>
        <p:nvSpPr>
          <p:cNvPr id="20" name="Shape 18"/>
          <p:cNvSpPr/>
          <p:nvPr/>
        </p:nvSpPr>
        <p:spPr>
          <a:xfrm>
            <a:off x="3561588" y="2386584"/>
            <a:ext cx="411480" cy="256032"/>
          </a:xfrm>
          <a:prstGeom prst="roundRect">
            <a:avLst>
              <a:gd name="adj" fmla="val 25000"/>
            </a:avLst>
          </a:prstGeom>
          <a:solidFill>
            <a:srgbClr val="00843D"/>
          </a:solidFill>
          <a:ln w="12700">
            <a:solidFill>
              <a:srgbClr val="00843D"/>
            </a:solidFill>
            <a:prstDash val="solid"/>
          </a:ln>
        </p:spPr>
        <p:txBody>
          <a:bodyPr/>
          <a:p/>
        </p:txBody>
      </p:sp>
      <p:sp>
        <p:nvSpPr>
          <p:cNvPr id="21" name="Text 19"/>
          <p:cNvSpPr/>
          <p:nvPr/>
        </p:nvSpPr>
        <p:spPr>
          <a:xfrm>
            <a:off x="3634740" y="2393899"/>
            <a:ext cx="265176" cy="228600"/>
          </a:xfrm>
          <a:prstGeom prst="rect">
            <a:avLst/>
          </a:prstGeom>
          <a:noFill/>
          <a:ln/>
        </p:spPr>
        <p:txBody>
          <a:bodyPr wrap="square" lIns="0" tIns="0" rIns="0" bIns="0" rtlCol="0" anchor="ctr"/>
          <a:lstStyle/>
          <a:p>
            <a:pPr indent="0" marL="0">
              <a:buNone/>
            </a:pPr>
            <a:r>
              <a:rPr lang="en-US" sz="940" b="1" spc="60" kern="0" dirty="0">
                <a:solidFill>
                  <a:srgbClr val="FFFFFF"/>
                </a:solidFill>
                <a:latin typeface="Arial" pitchFamily="34" charset="0"/>
                <a:ea typeface="Arial" pitchFamily="34" charset="-122"/>
                <a:cs typeface="Arial" pitchFamily="34" charset="-120"/>
              </a:rPr>
              <a:t>2</a:t>
            </a:r>
            <a:endParaRPr lang="en-US" sz="940" dirty="0"/>
          </a:p>
        </p:txBody>
      </p:sp>
      <p:sp>
        <p:nvSpPr>
          <p:cNvPr id="22" name="Text 20"/>
          <p:cNvSpPr/>
          <p:nvPr/>
        </p:nvSpPr>
        <p:spPr>
          <a:xfrm>
            <a:off x="3561588" y="2843784"/>
            <a:ext cx="2249424" cy="749808"/>
          </a:xfrm>
          <a:prstGeom prst="rect">
            <a:avLst/>
          </a:prstGeom>
          <a:noFill/>
          <a:ln/>
        </p:spPr>
        <p:txBody>
          <a:bodyPr wrap="square" lIns="0" tIns="0" rIns="0" bIns="0" rtlCol="0" anchor="t"/>
          <a:lstStyle/>
          <a:p>
            <a:pPr indent="0" marL="0">
              <a:buNone/>
            </a:pPr>
            <a:r>
              <a:rPr lang="en-US" sz="1950" b="1" dirty="0">
                <a:solidFill>
                  <a:srgbClr val="182425"/>
                </a:solidFill>
                <a:latin typeface="Arial" pitchFamily="34" charset="0"/>
                <a:ea typeface="Arial" pitchFamily="34" charset="-122"/>
                <a:cs typeface="Arial" pitchFamily="34" charset="-120"/>
              </a:rPr>
              <a:t>Approve meaning</a:t>
            </a:r>
            <a:endParaRPr lang="en-US" sz="2100" dirty="0"/>
          </a:p>
          <a:p>
            <a:pPr indent="0" marL="0">
              <a:buNone/>
            </a:pPr>
            <a:r>
              <a:rPr lang="en-US" sz="1950" b="1" dirty="0">
                <a:solidFill>
                  <a:srgbClr val="182425"/>
                </a:solidFill>
                <a:latin typeface="Arial" pitchFamily="34" charset="0"/>
                <a:ea typeface="Arial" pitchFamily="34" charset="-122"/>
                <a:cs typeface="Arial" pitchFamily="34" charset="-120"/>
              </a:rPr>
              <a:t>and change policy</a:t>
            </a:r>
          </a:p>
        </p:txBody>
      </p:sp>
      <p:sp>
        <p:nvSpPr>
          <p:cNvPr id="23" name="Text 21"/>
          <p:cNvSpPr/>
          <p:nvPr/>
        </p:nvSpPr>
        <p:spPr>
          <a:xfrm>
            <a:off x="3561588" y="3767328"/>
            <a:ext cx="2249424" cy="649224"/>
          </a:xfrm>
          <a:prstGeom prst="rect">
            <a:avLst/>
          </a:prstGeom>
          <a:noFill/>
          <a:ln/>
        </p:spPr>
        <p:txBody>
          <a:bodyPr wrap="square" lIns="0" tIns="0" rIns="0" bIns="0" rtlCol="0" anchor="t"/>
          <a:lstStyle/>
          <a:p>
            <a:pPr indent="0" marL="0">
              <a:buNone/>
            </a:pPr>
            <a:r>
              <a:rPr lang="en-US" sz="1460" dirty="0">
                <a:solidFill>
                  <a:srgbClr val="52635E"/>
                </a:solidFill>
                <a:latin typeface="Arial" pitchFamily="34" charset="0"/>
                <a:ea typeface="Arial" pitchFamily="34" charset="-122"/>
                <a:cs typeface="Arial" pitchFamily="34" charset="-120"/>
              </a:rPr>
              <a:t>Name semantic owners and define renewal and change rules.</a:t>
            </a:r>
            <a:endParaRPr lang="en-US" sz="1460" dirty="0"/>
          </a:p>
        </p:txBody>
      </p:sp>
      <p:sp>
        <p:nvSpPr>
          <p:cNvPr id="24" name="Text 22"/>
          <p:cNvSpPr/>
          <p:nvPr/>
        </p:nvSpPr>
        <p:spPr>
          <a:xfrm>
            <a:off x="3561588" y="4572000"/>
            <a:ext cx="2258568" cy="192024"/>
          </a:xfrm>
          <a:prstGeom prst="rect">
            <a:avLst/>
          </a:prstGeom>
          <a:noFill/>
          <a:ln/>
        </p:spPr>
        <p:txBody>
          <a:bodyPr wrap="square" lIns="0" tIns="0" rIns="0" bIns="0" rtlCol="0" anchor="ctr"/>
          <a:lstStyle/>
          <a:p>
            <a:pPr indent="0" marL="0">
              <a:buNone/>
            </a:pPr>
            <a:r>
              <a:rPr lang="en-US" sz="860" b="1" spc="15" kern="0" dirty="0">
                <a:solidFill>
                  <a:srgbClr val="005238"/>
                </a:solidFill>
                <a:latin typeface="Arial" pitchFamily="34" charset="0"/>
                <a:ea typeface="Arial" pitchFamily="34" charset="-122"/>
                <a:cs typeface="Arial" pitchFamily="34" charset="-120"/>
              </a:rPr>
              <a:t>PRODUCT + GOVERNANCE</a:t>
            </a:r>
            <a:endParaRPr lang="en-US" sz="860" dirty="0"/>
          </a:p>
        </p:txBody>
      </p:sp>
      <p:sp>
        <p:nvSpPr>
          <p:cNvPr id="25" name="Shape 23"/>
          <p:cNvSpPr/>
          <p:nvPr/>
        </p:nvSpPr>
        <p:spPr>
          <a:xfrm>
            <a:off x="6021324" y="3127248"/>
            <a:ext cx="146304" cy="256032"/>
          </a:xfrm>
          <a:prstGeom prst="chevron">
            <a:avLst/>
          </a:prstGeom>
          <a:solidFill>
            <a:srgbClr val="00843D"/>
          </a:solidFill>
          <a:ln w="12700">
            <a:solidFill>
              <a:srgbClr val="00843D"/>
            </a:solidFill>
            <a:prstDash val="solid"/>
          </a:ln>
        </p:spPr>
        <p:txBody>
          <a:bodyPr/>
          <a:p/>
        </p:txBody>
      </p:sp>
      <p:sp>
        <p:nvSpPr>
          <p:cNvPr id="26" name="Shape 24"/>
          <p:cNvSpPr/>
          <p:nvPr/>
        </p:nvSpPr>
        <p:spPr>
          <a:xfrm>
            <a:off x="6199632" y="2212848"/>
            <a:ext cx="2583180" cy="2706624"/>
          </a:xfrm>
          <a:prstGeom prst="rect">
            <a:avLst/>
          </a:prstGeom>
          <a:solidFill>
            <a:srgbClr val="F4F8F5"/>
          </a:solidFill>
          <a:ln w="9525">
            <a:solidFill>
              <a:srgbClr val="D9E4DD"/>
            </a:solidFill>
            <a:prstDash val="solid"/>
          </a:ln>
        </p:spPr>
        <p:txBody>
          <a:bodyPr/>
          <a:p/>
        </p:txBody>
      </p:sp>
      <p:sp>
        <p:nvSpPr>
          <p:cNvPr id="27" name="Shape 25"/>
          <p:cNvSpPr/>
          <p:nvPr/>
        </p:nvSpPr>
        <p:spPr>
          <a:xfrm>
            <a:off x="6364224" y="2386584"/>
            <a:ext cx="411480" cy="256032"/>
          </a:xfrm>
          <a:prstGeom prst="roundRect">
            <a:avLst>
              <a:gd name="adj" fmla="val 25000"/>
            </a:avLst>
          </a:prstGeom>
          <a:solidFill>
            <a:srgbClr val="00843D"/>
          </a:solidFill>
          <a:ln w="12700">
            <a:solidFill>
              <a:srgbClr val="00843D"/>
            </a:solidFill>
            <a:prstDash val="solid"/>
          </a:ln>
        </p:spPr>
        <p:txBody>
          <a:bodyPr/>
          <a:p/>
        </p:txBody>
      </p:sp>
      <p:sp>
        <p:nvSpPr>
          <p:cNvPr id="28" name="Text 26"/>
          <p:cNvSpPr/>
          <p:nvPr/>
        </p:nvSpPr>
        <p:spPr>
          <a:xfrm>
            <a:off x="6437376" y="2393899"/>
            <a:ext cx="265176" cy="228600"/>
          </a:xfrm>
          <a:prstGeom prst="rect">
            <a:avLst/>
          </a:prstGeom>
          <a:noFill/>
          <a:ln/>
        </p:spPr>
        <p:txBody>
          <a:bodyPr wrap="square" lIns="0" tIns="0" rIns="0" bIns="0" rtlCol="0" anchor="ctr"/>
          <a:lstStyle/>
          <a:p>
            <a:pPr indent="0" marL="0">
              <a:buNone/>
            </a:pPr>
            <a:r>
              <a:rPr lang="en-US" sz="940" b="1" spc="60" kern="0" dirty="0">
                <a:solidFill>
                  <a:srgbClr val="FFFFFF"/>
                </a:solidFill>
                <a:latin typeface="Arial" pitchFamily="34" charset="0"/>
                <a:ea typeface="Arial" pitchFamily="34" charset="-122"/>
                <a:cs typeface="Arial" pitchFamily="34" charset="-120"/>
              </a:rPr>
              <a:t>3</a:t>
            </a:r>
            <a:endParaRPr lang="en-US" sz="940" dirty="0"/>
          </a:p>
        </p:txBody>
      </p:sp>
      <p:sp>
        <p:nvSpPr>
          <p:cNvPr id="29" name="Text 27"/>
          <p:cNvSpPr/>
          <p:nvPr/>
        </p:nvSpPr>
        <p:spPr>
          <a:xfrm>
            <a:off x="6364224" y="2843784"/>
            <a:ext cx="2249424" cy="749808"/>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Deliver governed</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outputs</a:t>
            </a:r>
            <a:endParaRPr lang="en-US" sz="2100" dirty="0"/>
          </a:p>
        </p:txBody>
      </p:sp>
      <p:sp>
        <p:nvSpPr>
          <p:cNvPr id="30" name="Text 28"/>
          <p:cNvSpPr/>
          <p:nvPr/>
        </p:nvSpPr>
        <p:spPr>
          <a:xfrm>
            <a:off x="6364224" y="3767328"/>
            <a:ext cx="2249424" cy="649224"/>
          </a:xfrm>
          <a:prstGeom prst="rect">
            <a:avLst/>
          </a:prstGeom>
          <a:noFill/>
          <a:ln/>
        </p:spPr>
        <p:txBody>
          <a:bodyPr wrap="square" lIns="0" tIns="0" rIns="0" bIns="0" rtlCol="0" anchor="t"/>
          <a:lstStyle/>
          <a:p>
            <a:pPr indent="0" marL="0">
              <a:buNone/>
            </a:pPr>
            <a:r>
              <a:rPr lang="en-US" sz="1460" dirty="0">
                <a:solidFill>
                  <a:srgbClr val="52635E"/>
                </a:solidFill>
                <a:latin typeface="Arial" pitchFamily="34" charset="0"/>
                <a:ea typeface="Arial" pitchFamily="34" charset="-122"/>
                <a:cs typeface="Arial" pitchFamily="34" charset="-120"/>
              </a:rPr>
              <a:t>Use approved definitions and versioned templates.</a:t>
            </a:r>
            <a:endParaRPr lang="en-US" sz="1460" dirty="0"/>
          </a:p>
        </p:txBody>
      </p:sp>
      <p:sp>
        <p:nvSpPr>
          <p:cNvPr id="31" name="Text 29"/>
          <p:cNvSpPr/>
          <p:nvPr/>
        </p:nvSpPr>
        <p:spPr>
          <a:xfrm>
            <a:off x="6364224" y="4572000"/>
            <a:ext cx="2258568" cy="192024"/>
          </a:xfrm>
          <a:prstGeom prst="rect">
            <a:avLst/>
          </a:prstGeom>
          <a:noFill/>
          <a:ln/>
        </p:spPr>
        <p:txBody>
          <a:bodyPr wrap="square" lIns="0" tIns="0" rIns="0" bIns="0" rtlCol="0" anchor="ctr"/>
          <a:lstStyle/>
          <a:p>
            <a:pPr indent="0" marL="0">
              <a:buNone/>
            </a:pPr>
            <a:r>
              <a:rPr lang="en-US" sz="860" b="1" spc="15" kern="0" dirty="0">
                <a:solidFill>
                  <a:srgbClr val="005238"/>
                </a:solidFill>
                <a:latin typeface="Arial" pitchFamily="34" charset="0"/>
                <a:ea typeface="Arial" pitchFamily="34" charset="-122"/>
                <a:cs typeface="Arial" pitchFamily="34" charset="-120"/>
              </a:rPr>
              <a:t>ENGINEERING + DATA OWNERS</a:t>
            </a:r>
            <a:endParaRPr lang="en-US" sz="860" dirty="0"/>
          </a:p>
        </p:txBody>
      </p:sp>
      <p:sp>
        <p:nvSpPr>
          <p:cNvPr id="32" name="Shape 30"/>
          <p:cNvSpPr/>
          <p:nvPr/>
        </p:nvSpPr>
        <p:spPr>
          <a:xfrm>
            <a:off x="8823960" y="3127248"/>
            <a:ext cx="146304" cy="256032"/>
          </a:xfrm>
          <a:prstGeom prst="chevron">
            <a:avLst/>
          </a:prstGeom>
          <a:solidFill>
            <a:srgbClr val="00843D"/>
          </a:solidFill>
          <a:ln w="12700">
            <a:solidFill>
              <a:srgbClr val="00843D"/>
            </a:solidFill>
            <a:prstDash val="solid"/>
          </a:ln>
        </p:spPr>
        <p:txBody>
          <a:bodyPr/>
          <a:p/>
        </p:txBody>
      </p:sp>
      <p:sp>
        <p:nvSpPr>
          <p:cNvPr id="33" name="Shape 31"/>
          <p:cNvSpPr/>
          <p:nvPr/>
        </p:nvSpPr>
        <p:spPr>
          <a:xfrm>
            <a:off x="9002268" y="2212848"/>
            <a:ext cx="2583180" cy="2706624"/>
          </a:xfrm>
          <a:prstGeom prst="rect">
            <a:avLst/>
          </a:prstGeom>
          <a:solidFill>
            <a:srgbClr val="F4F8F5"/>
          </a:solidFill>
          <a:ln w="9525">
            <a:solidFill>
              <a:srgbClr val="D9E4DD"/>
            </a:solidFill>
            <a:prstDash val="solid"/>
          </a:ln>
        </p:spPr>
        <p:txBody>
          <a:bodyPr/>
          <a:p/>
        </p:txBody>
      </p:sp>
      <p:sp>
        <p:nvSpPr>
          <p:cNvPr id="34" name="Shape 32"/>
          <p:cNvSpPr/>
          <p:nvPr/>
        </p:nvSpPr>
        <p:spPr>
          <a:xfrm>
            <a:off x="9166860" y="2386584"/>
            <a:ext cx="411480" cy="256032"/>
          </a:xfrm>
          <a:prstGeom prst="roundRect">
            <a:avLst>
              <a:gd name="adj" fmla="val 25000"/>
            </a:avLst>
          </a:prstGeom>
          <a:solidFill>
            <a:srgbClr val="00843D"/>
          </a:solidFill>
          <a:ln w="12700">
            <a:solidFill>
              <a:srgbClr val="00843D"/>
            </a:solidFill>
            <a:prstDash val="solid"/>
          </a:ln>
        </p:spPr>
        <p:txBody>
          <a:bodyPr/>
          <a:p/>
        </p:txBody>
      </p:sp>
      <p:sp>
        <p:nvSpPr>
          <p:cNvPr id="35" name="Text 33"/>
          <p:cNvSpPr/>
          <p:nvPr/>
        </p:nvSpPr>
        <p:spPr>
          <a:xfrm>
            <a:off x="9240012" y="2393899"/>
            <a:ext cx="265176" cy="228600"/>
          </a:xfrm>
          <a:prstGeom prst="rect">
            <a:avLst/>
          </a:prstGeom>
          <a:noFill/>
          <a:ln/>
        </p:spPr>
        <p:txBody>
          <a:bodyPr wrap="square" lIns="0" tIns="0" rIns="0" bIns="0" rtlCol="0" anchor="ctr"/>
          <a:lstStyle/>
          <a:p>
            <a:pPr indent="0" marL="0">
              <a:buNone/>
            </a:pPr>
            <a:r>
              <a:rPr lang="en-US" sz="940" b="1" spc="60" kern="0" dirty="0">
                <a:solidFill>
                  <a:srgbClr val="FFFFFF"/>
                </a:solidFill>
                <a:latin typeface="Arial" pitchFamily="34" charset="0"/>
                <a:ea typeface="Arial" pitchFamily="34" charset="-122"/>
                <a:cs typeface="Arial" pitchFamily="34" charset="-120"/>
              </a:rPr>
              <a:t>4</a:t>
            </a:r>
            <a:endParaRPr lang="en-US" sz="940" dirty="0"/>
          </a:p>
        </p:txBody>
      </p:sp>
      <p:sp>
        <p:nvSpPr>
          <p:cNvPr id="36" name="Text 34"/>
          <p:cNvSpPr/>
          <p:nvPr/>
        </p:nvSpPr>
        <p:spPr>
          <a:xfrm>
            <a:off x="9166860" y="2843784"/>
            <a:ext cx="2249424" cy="749808"/>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Qualify the</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business pilot</a:t>
            </a:r>
            <a:endParaRPr lang="en-US" sz="2100" dirty="0"/>
          </a:p>
        </p:txBody>
      </p:sp>
      <p:sp>
        <p:nvSpPr>
          <p:cNvPr id="37" name="Text 35"/>
          <p:cNvSpPr/>
          <p:nvPr/>
        </p:nvSpPr>
        <p:spPr>
          <a:xfrm>
            <a:off x="9166860" y="3767328"/>
            <a:ext cx="2249424" cy="649224"/>
          </a:xfrm>
          <a:prstGeom prst="rect">
            <a:avLst/>
          </a:prstGeom>
          <a:noFill/>
          <a:ln/>
        </p:spPr>
        <p:txBody>
          <a:bodyPr wrap="square" lIns="0" tIns="0" rIns="0" bIns="0" rtlCol="0" anchor="t"/>
          <a:lstStyle/>
          <a:p>
            <a:pPr indent="0" marL="0">
              <a:buNone/>
            </a:pPr>
            <a:r>
              <a:rPr lang="en-US" sz="1460" dirty="0">
                <a:solidFill>
                  <a:srgbClr val="52635E"/>
                </a:solidFill>
                <a:latin typeface="Arial" pitchFamily="34" charset="0"/>
                <a:ea typeface="Arial" pitchFamily="34" charset="-122"/>
                <a:cs typeface="Arial" pitchFamily="34" charset="-120"/>
              </a:rPr>
              <a:t>Test answer quality, access and operating readiness.</a:t>
            </a:r>
            <a:endParaRPr lang="en-US" sz="1460" dirty="0"/>
          </a:p>
        </p:txBody>
      </p:sp>
      <p:sp>
        <p:nvSpPr>
          <p:cNvPr id="38" name="Text 36"/>
          <p:cNvSpPr/>
          <p:nvPr/>
        </p:nvSpPr>
        <p:spPr>
          <a:xfrm>
            <a:off x="9166860" y="4572000"/>
            <a:ext cx="2258568" cy="192024"/>
          </a:xfrm>
          <a:prstGeom prst="rect">
            <a:avLst/>
          </a:prstGeom>
          <a:noFill/>
          <a:ln/>
        </p:spPr>
        <p:txBody>
          <a:bodyPr wrap="square" lIns="0" tIns="0" rIns="0" bIns="0" rtlCol="0" anchor="ctr"/>
          <a:lstStyle/>
          <a:p>
            <a:pPr indent="0" marL="0">
              <a:buNone/>
            </a:pPr>
            <a:r>
              <a:rPr lang="en-US" sz="860" b="1" spc="15" kern="0" dirty="0">
                <a:solidFill>
                  <a:srgbClr val="005238"/>
                </a:solidFill>
                <a:latin typeface="Arial" pitchFamily="34" charset="0"/>
                <a:ea typeface="Arial" pitchFamily="34" charset="-122"/>
                <a:cs typeface="Arial" pitchFamily="34" charset="-120"/>
              </a:rPr>
              <a:t>BUSINESS + QA + OPERATIONS</a:t>
            </a:r>
            <a:endParaRPr lang="en-US" sz="860" dirty="0"/>
          </a:p>
        </p:txBody>
      </p:sp>
      <p:sp>
        <p:nvSpPr>
          <p:cNvPr id="39" name="Shape 37"/>
          <p:cNvSpPr/>
          <p:nvPr/>
        </p:nvSpPr>
        <p:spPr>
          <a:xfrm>
            <a:off x="594360" y="5175504"/>
            <a:ext cx="11000232" cy="438912"/>
          </a:xfrm>
          <a:prstGeom prst="rect">
            <a:avLst/>
          </a:prstGeom>
          <a:solidFill>
            <a:srgbClr val="EAF4EE"/>
          </a:solidFill>
          <a:ln w="12700">
            <a:solidFill>
              <a:srgbClr val="EAF4EE"/>
            </a:solidFill>
            <a:prstDash val="solid"/>
          </a:ln>
        </p:spPr>
        <p:txBody>
          <a:bodyPr/>
          <a:p/>
        </p:txBody>
      </p:sp>
      <p:sp>
        <p:nvSpPr>
          <p:cNvPr id="40" name="Text 38"/>
          <p:cNvSpPr/>
          <p:nvPr/>
        </p:nvSpPr>
        <p:spPr>
          <a:xfrm>
            <a:off x="786384" y="5285232"/>
            <a:ext cx="1097280" cy="173736"/>
          </a:xfrm>
          <a:prstGeom prst="rect">
            <a:avLst/>
          </a:prstGeom>
          <a:noFill/>
          <a:ln/>
        </p:spPr>
        <p:txBody>
          <a:bodyPr wrap="square" lIns="0" tIns="0" rIns="0" bIns="0" rtlCol="0" anchor="ctr"/>
          <a:lstStyle/>
          <a:p>
            <a:pPr indent="0" marL="0">
              <a:buNone/>
            </a:pPr>
            <a:r>
              <a:rPr lang="en-US" sz="950" b="1" dirty="0">
                <a:solidFill>
                  <a:srgbClr val="005238"/>
                </a:solidFill>
                <a:latin typeface="Arial" pitchFamily="34" charset="0"/>
                <a:ea typeface="Arial" pitchFamily="34" charset="-122"/>
                <a:cs typeface="Arial" pitchFamily="34" charset="-120"/>
              </a:rPr>
              <a:t>IN PARALLEL</a:t>
            </a:r>
            <a:endParaRPr lang="en-US" sz="950" dirty="0"/>
          </a:p>
        </p:txBody>
      </p:sp>
      <p:sp>
        <p:nvSpPr>
          <p:cNvPr id="41" name="Text 39"/>
          <p:cNvSpPr/>
          <p:nvPr/>
        </p:nvSpPr>
        <p:spPr>
          <a:xfrm>
            <a:off x="1920240" y="5248656"/>
            <a:ext cx="9464040" cy="256032"/>
          </a:xfrm>
          <a:prstGeom prst="rect">
            <a:avLst/>
          </a:prstGeom>
          <a:noFill/>
          <a:ln/>
        </p:spPr>
        <p:txBody>
          <a:bodyPr wrap="square" lIns="0" tIns="0" rIns="0" bIns="0" rtlCol="0" anchor="ctr"/>
          <a:lstStyle/>
          <a:p>
            <a:pPr indent="0" marL="0">
              <a:buNone/>
            </a:pPr>
            <a:r>
              <a:rPr lang="en-US" sz="1450" dirty="0">
                <a:solidFill>
                  <a:srgbClr val="52635E"/>
                </a:solidFill>
                <a:latin typeface="Arial" pitchFamily="34" charset="0"/>
                <a:ea typeface="Arial" pitchFamily="34" charset="-122"/>
                <a:cs typeface="Arial" pitchFamily="34" charset="-120"/>
              </a:rPr>
              <a:t>Genie feasibility  •  On-premises access  •  Collibra metadata contract</a:t>
            </a:r>
            <a:endParaRPr lang="en-US" sz="1420" dirty="0"/>
          </a:p>
        </p:txBody>
      </p:sp>
      <p:sp>
        <p:nvSpPr>
          <p:cNvPr id="42" name="Shape 40"/>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43" name="Shape 41"/>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44" name="Text 42"/>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DELIVERY CADENCE</a:t>
            </a:r>
            <a:endParaRPr lang="en-US" sz="950" dirty="0"/>
          </a:p>
        </p:txBody>
      </p:sp>
      <p:sp>
        <p:nvSpPr>
          <p:cNvPr id="45" name="Text 43"/>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Two-week working demos proposed; release only when the required gates are met.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MVP 2 · EFFICIENCY TRACK</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Keep performance and cost measurable as coverage grows.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Targeted integration and efficiency are complementary—not automatic capacity commitments.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S3, S5–S7</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07</a:t>
            </a:r>
            <a:endParaRPr lang="en-US" sz="1050" dirty="0"/>
          </a:p>
        </p:txBody>
      </p:sp>
      <p:sp>
        <p:nvSpPr>
          <p:cNvPr id="12" name="Shape 10"/>
          <p:cNvSpPr/>
          <p:nvPr/>
        </p:nvSpPr>
        <p:spPr>
          <a:xfrm>
            <a:off x="594360" y="2121408"/>
            <a:ext cx="3520440" cy="2560320"/>
          </a:xfrm>
          <a:prstGeom prst="rect">
            <a:avLst/>
          </a:prstGeom>
          <a:solidFill>
            <a:srgbClr val="F4F8F5"/>
          </a:solidFill>
          <a:ln w="8890">
            <a:solidFill>
              <a:srgbClr val="D9E4DD"/>
            </a:solidFill>
            <a:prstDash val="solid"/>
          </a:ln>
        </p:spPr>
        <p:txBody>
          <a:bodyPr/>
          <a:p/>
        </p:txBody>
      </p:sp>
      <p:sp>
        <p:nvSpPr>
          <p:cNvPr id="13" name="Shape 11"/>
          <p:cNvSpPr/>
          <p:nvPr/>
        </p:nvSpPr>
        <p:spPr>
          <a:xfrm>
            <a:off x="594360" y="2121408"/>
            <a:ext cx="3520440" cy="45720"/>
          </a:xfrm>
          <a:prstGeom prst="rect">
            <a:avLst/>
          </a:prstGeom>
          <a:solidFill>
            <a:srgbClr val="00843D"/>
          </a:solidFill>
          <a:ln w="12700">
            <a:solidFill>
              <a:srgbClr val="00843D"/>
            </a:solidFill>
            <a:prstDash val="solid"/>
          </a:ln>
        </p:spPr>
        <p:txBody>
          <a:bodyPr/>
          <a:p/>
        </p:txBody>
      </p:sp>
      <p:sp>
        <p:nvSpPr>
          <p:cNvPr id="14" name="Shape 12"/>
          <p:cNvSpPr/>
          <p:nvPr/>
        </p:nvSpPr>
        <p:spPr>
          <a:xfrm>
            <a:off x="809701" y="2400757"/>
            <a:ext cx="419710" cy="419710"/>
          </a:xfrm>
          <a:prstGeom prst="ellipse">
            <a:avLst/>
          </a:prstGeom>
          <a:solidFill>
            <a:srgbClr val="F4F8F5"/>
          </a:solidFill>
          <a:ln w="17780">
            <a:solidFill>
              <a:srgbClr val="00843D"/>
            </a:solidFill>
            <a:prstDash val="solid"/>
          </a:ln>
        </p:spPr>
        <p:txBody>
          <a:bodyPr/>
          <a:p/>
        </p:txBody>
      </p:sp>
      <p:sp>
        <p:nvSpPr>
          <p:cNvPr id="15" name="Shape 13"/>
          <p:cNvSpPr/>
          <p:nvPr/>
        </p:nvSpPr>
        <p:spPr>
          <a:xfrm>
            <a:off x="1019556" y="2470709"/>
            <a:ext cx="0" cy="151562"/>
          </a:xfrm>
          <a:prstGeom prst="line">
            <a:avLst/>
          </a:prstGeom>
          <a:noFill/>
          <a:ln w="24130">
            <a:solidFill>
              <a:srgbClr val="00843D"/>
            </a:solidFill>
            <a:prstDash val="solid"/>
          </a:ln>
        </p:spPr>
        <p:txBody>
          <a:bodyPr/>
          <a:p/>
        </p:txBody>
      </p:sp>
      <p:sp>
        <p:nvSpPr>
          <p:cNvPr id="16" name="Shape 14"/>
          <p:cNvSpPr/>
          <p:nvPr/>
        </p:nvSpPr>
        <p:spPr>
          <a:xfrm>
            <a:off x="1019556" y="2622271"/>
            <a:ext cx="104927" cy="46634"/>
          </a:xfrm>
          <a:prstGeom prst="line">
            <a:avLst/>
          </a:prstGeom>
          <a:noFill/>
          <a:ln w="24130">
            <a:solidFill>
              <a:srgbClr val="00843D"/>
            </a:solidFill>
            <a:prstDash val="solid"/>
          </a:ln>
        </p:spPr>
        <p:txBody>
          <a:bodyPr/>
          <a:p/>
        </p:txBody>
      </p:sp>
      <p:sp>
        <p:nvSpPr>
          <p:cNvPr id="17" name="Text 15"/>
          <p:cNvSpPr/>
          <p:nvPr/>
        </p:nvSpPr>
        <p:spPr>
          <a:xfrm>
            <a:off x="1463040" y="2350008"/>
            <a:ext cx="2414016" cy="640080"/>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Reuse authorized</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answers</a:t>
            </a:r>
            <a:endParaRPr lang="en-US" sz="2100" dirty="0"/>
          </a:p>
        </p:txBody>
      </p:sp>
      <p:sp>
        <p:nvSpPr>
          <p:cNvPr id="18" name="Text 16"/>
          <p:cNvSpPr/>
          <p:nvPr/>
        </p:nvSpPr>
        <p:spPr>
          <a:xfrm>
            <a:off x="813816" y="3401568"/>
            <a:ext cx="3072384" cy="1033272"/>
          </a:xfrm>
          <a:prstGeom prst="rect">
            <a:avLst/>
          </a:prstGeom>
          <a:noFill/>
          <a:ln/>
        </p:spPr>
        <p:txBody>
          <a:bodyPr wrap="square" lIns="0" tIns="0" rIns="0" bIns="0" rtlCol="0" anchor="t"/>
          <a:lstStyle/>
          <a:p>
            <a:pPr indent="0" marL="0">
              <a:buNone/>
            </a:pPr>
            <a:r>
              <a:rPr lang="en-US" sz="1580" dirty="0">
                <a:solidFill>
                  <a:srgbClr val="52635E"/>
                </a:solidFill>
                <a:latin typeface="Arial" pitchFamily="34" charset="0"/>
                <a:ea typeface="Arial" pitchFamily="34" charset="-122"/>
                <a:cs typeface="Arial" pitchFamily="34" charset="-120"/>
              </a:rPr>
              <a:t>Early lookup before AI planning.</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A second cache for precise results.</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Only small, bounded payloads.</a:t>
            </a:r>
            <a:endParaRPr lang="en-US" sz="1580" dirty="0"/>
          </a:p>
        </p:txBody>
      </p:sp>
      <p:sp>
        <p:nvSpPr>
          <p:cNvPr id="19" name="Shape 17"/>
          <p:cNvSpPr/>
          <p:nvPr/>
        </p:nvSpPr>
        <p:spPr>
          <a:xfrm>
            <a:off x="4334256" y="2121408"/>
            <a:ext cx="3520440" cy="2560320"/>
          </a:xfrm>
          <a:prstGeom prst="rect">
            <a:avLst/>
          </a:prstGeom>
          <a:solidFill>
            <a:srgbClr val="F4F8F5"/>
          </a:solidFill>
          <a:ln w="8890">
            <a:solidFill>
              <a:srgbClr val="D9E4DD"/>
            </a:solidFill>
            <a:prstDash val="solid"/>
          </a:ln>
        </p:spPr>
        <p:txBody>
          <a:bodyPr/>
          <a:p/>
        </p:txBody>
      </p:sp>
      <p:sp>
        <p:nvSpPr>
          <p:cNvPr id="20" name="Shape 18"/>
          <p:cNvSpPr/>
          <p:nvPr/>
        </p:nvSpPr>
        <p:spPr>
          <a:xfrm>
            <a:off x="4334256" y="2121408"/>
            <a:ext cx="3520440" cy="45720"/>
          </a:xfrm>
          <a:prstGeom prst="rect">
            <a:avLst/>
          </a:prstGeom>
          <a:solidFill>
            <a:srgbClr val="00843D"/>
          </a:solidFill>
          <a:ln w="12700">
            <a:solidFill>
              <a:srgbClr val="00843D"/>
            </a:solidFill>
            <a:prstDash val="solid"/>
          </a:ln>
        </p:spPr>
        <p:txBody>
          <a:bodyPr/>
          <a:p/>
        </p:txBody>
      </p:sp>
      <p:sp>
        <p:nvSpPr>
          <p:cNvPr id="21" name="Shape 19"/>
          <p:cNvSpPr/>
          <p:nvPr/>
        </p:nvSpPr>
        <p:spPr>
          <a:xfrm>
            <a:off x="4572914" y="2657246"/>
            <a:ext cx="361417" cy="128245"/>
          </a:xfrm>
          <a:prstGeom prst="rect">
            <a:avLst/>
          </a:prstGeom>
          <a:solidFill>
            <a:srgbClr val="FFFFFF"/>
          </a:solidFill>
          <a:ln w="15240">
            <a:solidFill>
              <a:srgbClr val="00843D"/>
            </a:solidFill>
            <a:prstDash val="solid"/>
          </a:ln>
        </p:spPr>
        <p:txBody>
          <a:bodyPr/>
          <a:p/>
        </p:txBody>
      </p:sp>
      <p:sp>
        <p:nvSpPr>
          <p:cNvPr id="22" name="Shape 20"/>
          <p:cNvSpPr/>
          <p:nvPr/>
        </p:nvSpPr>
        <p:spPr>
          <a:xfrm>
            <a:off x="4607890" y="2552319"/>
            <a:ext cx="326441" cy="128245"/>
          </a:xfrm>
          <a:prstGeom prst="rect">
            <a:avLst/>
          </a:prstGeom>
          <a:solidFill>
            <a:srgbClr val="EAF4EE"/>
          </a:solidFill>
          <a:ln w="15240">
            <a:solidFill>
              <a:srgbClr val="00843D"/>
            </a:solidFill>
            <a:prstDash val="solid"/>
          </a:ln>
        </p:spPr>
        <p:txBody>
          <a:bodyPr/>
          <a:p/>
        </p:txBody>
      </p:sp>
      <p:sp>
        <p:nvSpPr>
          <p:cNvPr id="23" name="Shape 21"/>
          <p:cNvSpPr/>
          <p:nvPr/>
        </p:nvSpPr>
        <p:spPr>
          <a:xfrm>
            <a:off x="4642866" y="2447392"/>
            <a:ext cx="291465" cy="128245"/>
          </a:xfrm>
          <a:prstGeom prst="rect">
            <a:avLst/>
          </a:prstGeom>
          <a:solidFill>
            <a:srgbClr val="FFFFFF"/>
          </a:solidFill>
          <a:ln w="15240">
            <a:solidFill>
              <a:srgbClr val="00843D"/>
            </a:solidFill>
            <a:prstDash val="solid"/>
          </a:ln>
        </p:spPr>
        <p:txBody>
          <a:bodyPr/>
          <a:p/>
        </p:txBody>
      </p:sp>
      <p:sp>
        <p:nvSpPr>
          <p:cNvPr id="24" name="Text 22"/>
          <p:cNvSpPr/>
          <p:nvPr/>
        </p:nvSpPr>
        <p:spPr>
          <a:xfrm>
            <a:off x="5202936" y="2350008"/>
            <a:ext cx="2414016" cy="640080"/>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Prepare common</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questions</a:t>
            </a:r>
            <a:endParaRPr lang="en-US" sz="2100" dirty="0"/>
          </a:p>
        </p:txBody>
      </p:sp>
      <p:sp>
        <p:nvSpPr>
          <p:cNvPr id="25" name="Text 23"/>
          <p:cNvSpPr/>
          <p:nvPr/>
        </p:nvSpPr>
        <p:spPr>
          <a:xfrm>
            <a:off x="4553712" y="3401568"/>
            <a:ext cx="3072384" cy="1033272"/>
          </a:xfrm>
          <a:prstGeom prst="rect">
            <a:avLst/>
          </a:prstGeom>
          <a:noFill/>
          <a:ln/>
        </p:spPr>
        <p:txBody>
          <a:bodyPr wrap="square" lIns="0" tIns="0" rIns="0" bIns="0" rtlCol="0" anchor="t"/>
          <a:lstStyle/>
          <a:p>
            <a:pPr indent="0" marL="0">
              <a:buNone/>
            </a:pPr>
            <a:r>
              <a:rPr lang="en-US" sz="1580" dirty="0">
                <a:solidFill>
                  <a:srgbClr val="52635E"/>
                </a:solidFill>
                <a:latin typeface="Arial" pitchFamily="34" charset="0"/>
                <a:ea typeface="Arial" pitchFamily="34" charset="-122"/>
                <a:cs typeface="Arial" pitchFamily="34" charset="-120"/>
              </a:rPr>
              <a:t>Prioritize patterns from usage.</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Curate approved questions and summaries.</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Release changes under review.</a:t>
            </a:r>
            <a:endParaRPr lang="en-US" sz="1580" dirty="0"/>
          </a:p>
        </p:txBody>
      </p:sp>
      <p:sp>
        <p:nvSpPr>
          <p:cNvPr id="26" name="Shape 24"/>
          <p:cNvSpPr/>
          <p:nvPr/>
        </p:nvSpPr>
        <p:spPr>
          <a:xfrm>
            <a:off x="8074152" y="2121408"/>
            <a:ext cx="3520440" cy="2560320"/>
          </a:xfrm>
          <a:prstGeom prst="rect">
            <a:avLst/>
          </a:prstGeom>
          <a:solidFill>
            <a:srgbClr val="F4F8F5"/>
          </a:solidFill>
          <a:ln w="8890">
            <a:solidFill>
              <a:srgbClr val="D9E4DD"/>
            </a:solidFill>
            <a:prstDash val="solid"/>
          </a:ln>
        </p:spPr>
        <p:txBody>
          <a:bodyPr/>
          <a:p/>
        </p:txBody>
      </p:sp>
      <p:sp>
        <p:nvSpPr>
          <p:cNvPr id="27" name="Shape 25"/>
          <p:cNvSpPr/>
          <p:nvPr/>
        </p:nvSpPr>
        <p:spPr>
          <a:xfrm>
            <a:off x="8074152" y="2121408"/>
            <a:ext cx="3520440" cy="45720"/>
          </a:xfrm>
          <a:prstGeom prst="rect">
            <a:avLst/>
          </a:prstGeom>
          <a:solidFill>
            <a:srgbClr val="00843D"/>
          </a:solidFill>
          <a:ln w="12700">
            <a:solidFill>
              <a:srgbClr val="00843D"/>
            </a:solidFill>
            <a:prstDash val="solid"/>
          </a:ln>
        </p:spPr>
        <p:txBody>
          <a:bodyPr/>
          <a:p/>
        </p:txBody>
      </p:sp>
      <p:sp>
        <p:nvSpPr>
          <p:cNvPr id="28" name="Shape 26"/>
          <p:cNvSpPr/>
          <p:nvPr/>
        </p:nvSpPr>
        <p:spPr>
          <a:xfrm>
            <a:off x="8289493" y="2400757"/>
            <a:ext cx="419710" cy="419710"/>
          </a:xfrm>
          <a:prstGeom prst="ellipse">
            <a:avLst/>
          </a:prstGeom>
          <a:solidFill>
            <a:srgbClr val="F4F8F5"/>
          </a:solidFill>
          <a:ln w="17780">
            <a:solidFill>
              <a:srgbClr val="00843D"/>
            </a:solidFill>
            <a:prstDash val="solid"/>
          </a:ln>
        </p:spPr>
        <p:txBody>
          <a:bodyPr/>
          <a:p/>
        </p:txBody>
      </p:sp>
      <p:sp>
        <p:nvSpPr>
          <p:cNvPr id="29" name="Shape 27"/>
          <p:cNvSpPr/>
          <p:nvPr/>
        </p:nvSpPr>
        <p:spPr>
          <a:xfrm>
            <a:off x="8382762" y="2610612"/>
            <a:ext cx="81610" cy="81610"/>
          </a:xfrm>
          <a:prstGeom prst="line">
            <a:avLst/>
          </a:prstGeom>
          <a:noFill/>
          <a:ln w="26670">
            <a:solidFill>
              <a:srgbClr val="00843D"/>
            </a:solidFill>
            <a:prstDash val="solid"/>
          </a:ln>
        </p:spPr>
        <p:txBody>
          <a:bodyPr/>
          <a:p/>
        </p:txBody>
      </p:sp>
      <p:sp>
        <p:nvSpPr>
          <p:cNvPr id="30" name="Shape 28"/>
          <p:cNvSpPr/>
          <p:nvPr/>
        </p:nvSpPr>
        <p:spPr>
          <a:xfrm>
            <a:off x="8464372" y="2692222"/>
            <a:ext cx="163220" cy="-174879"/>
          </a:xfrm>
          <a:prstGeom prst="line">
            <a:avLst/>
          </a:prstGeom>
          <a:noFill/>
          <a:ln w="26670">
            <a:solidFill>
              <a:srgbClr val="00843D"/>
            </a:solidFill>
            <a:prstDash val="solid"/>
          </a:ln>
        </p:spPr>
        <p:txBody>
          <a:bodyPr/>
          <a:p/>
        </p:txBody>
      </p:sp>
      <p:sp>
        <p:nvSpPr>
          <p:cNvPr id="31" name="Text 29"/>
          <p:cNvSpPr/>
          <p:nvPr/>
        </p:nvSpPr>
        <p:spPr>
          <a:xfrm>
            <a:off x="8942832" y="2350008"/>
            <a:ext cx="2414016" cy="640080"/>
          </a:xfrm>
          <a:prstGeom prst="rect">
            <a:avLst/>
          </a:prstGeom>
          <a:noFill/>
          <a:ln/>
        </p:spPr>
        <p:txBody>
          <a:bodyPr wrap="square" lIns="0" tIns="0" rIns="0" bIns="0" rtlCol="0" anchor="t"/>
          <a:lstStyle/>
          <a:p>
            <a:pPr indent="0" marL="0">
              <a:buNone/>
            </a:pPr>
            <a:r>
              <a:rPr lang="en-US" sz="2100" b="1" dirty="0">
                <a:solidFill>
                  <a:srgbClr val="182425"/>
                </a:solidFill>
                <a:latin typeface="Arial" pitchFamily="34" charset="0"/>
                <a:ea typeface="Arial" pitchFamily="34" charset="-122"/>
                <a:cs typeface="Arial" pitchFamily="34" charset="-120"/>
              </a:rPr>
              <a:t>Publish with</a:t>
            </a:r>
            <a:endParaRPr lang="en-US" sz="2100" dirty="0"/>
          </a:p>
          <a:p>
            <a:pPr indent="0" marL="0">
              <a:buNone/>
            </a:pPr>
            <a:r>
              <a:rPr lang="en-US" sz="2100" b="1" dirty="0">
                <a:solidFill>
                  <a:srgbClr val="182425"/>
                </a:solidFill>
                <a:latin typeface="Arial" pitchFamily="34" charset="0"/>
                <a:ea typeface="Arial" pitchFamily="34" charset="-122"/>
                <a:cs typeface="Arial" pitchFamily="34" charset="-120"/>
              </a:rPr>
              <a:t>control</a:t>
            </a:r>
            <a:endParaRPr lang="en-US" sz="2100" dirty="0"/>
          </a:p>
        </p:txBody>
      </p:sp>
      <p:sp>
        <p:nvSpPr>
          <p:cNvPr id="32" name="Text 30"/>
          <p:cNvSpPr/>
          <p:nvPr/>
        </p:nvSpPr>
        <p:spPr>
          <a:xfrm>
            <a:off x="8293608" y="3401568"/>
            <a:ext cx="3072384" cy="1033272"/>
          </a:xfrm>
          <a:prstGeom prst="rect">
            <a:avLst/>
          </a:prstGeom>
          <a:noFill/>
          <a:ln/>
        </p:spPr>
        <p:txBody>
          <a:bodyPr wrap="square" lIns="0" tIns="0" rIns="0" bIns="0" rtlCol="0" anchor="t"/>
          <a:lstStyle/>
          <a:p>
            <a:pPr indent="0" marL="0">
              <a:buNone/>
            </a:pPr>
            <a:r>
              <a:rPr lang="en-US" sz="1580" dirty="0">
                <a:solidFill>
                  <a:srgbClr val="52635E"/>
                </a:solidFill>
                <a:latin typeface="Arial" pitchFamily="34" charset="0"/>
                <a:ea typeface="Arial" pitchFamily="34" charset="-122"/>
                <a:cs typeface="Arial" pitchFamily="34" charset="-120"/>
              </a:rPr>
              <a:t>Governed onboarding and rollback.</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Named business and data owners.</a:t>
            </a:r>
            <a:endParaRPr lang="en-US" sz="1580" dirty="0"/>
          </a:p>
          <a:p>
            <a:pPr indent="0" marL="0">
              <a:buNone/>
            </a:pPr>
            <a:r>
              <a:rPr lang="en-US" sz="1580" dirty="0">
                <a:solidFill>
                  <a:srgbClr val="52635E"/>
                </a:solidFill>
                <a:latin typeface="Arial" pitchFamily="34" charset="0"/>
                <a:ea typeface="Arial" pitchFamily="34" charset="-122"/>
                <a:cs typeface="Arial" pitchFamily="34" charset="-120"/>
              </a:rPr>
              <a:t>Visible cost and performance.</a:t>
            </a:r>
            <a:endParaRPr lang="en-US" sz="1580" dirty="0"/>
          </a:p>
        </p:txBody>
      </p:sp>
      <p:sp>
        <p:nvSpPr>
          <p:cNvPr id="33" name="Shape 31"/>
          <p:cNvSpPr/>
          <p:nvPr/>
        </p:nvSpPr>
        <p:spPr>
          <a:xfrm>
            <a:off x="594360" y="4956048"/>
            <a:ext cx="11000232" cy="594360"/>
          </a:xfrm>
          <a:prstGeom prst="rect">
            <a:avLst/>
          </a:prstGeom>
          <a:solidFill>
            <a:srgbClr val="FBF2E5"/>
          </a:solidFill>
          <a:ln w="12700">
            <a:solidFill>
              <a:srgbClr val="FBF2E5"/>
            </a:solidFill>
            <a:prstDash val="solid"/>
          </a:ln>
        </p:spPr>
        <p:txBody>
          <a:bodyPr/>
          <a:p/>
        </p:txBody>
      </p:sp>
      <p:sp>
        <p:nvSpPr>
          <p:cNvPr id="34" name="Text 32"/>
          <p:cNvSpPr/>
          <p:nvPr/>
        </p:nvSpPr>
        <p:spPr>
          <a:xfrm>
            <a:off x="822960" y="5065776"/>
            <a:ext cx="1645920" cy="338328"/>
          </a:xfrm>
          <a:prstGeom prst="rect">
            <a:avLst/>
          </a:prstGeom>
          <a:noFill/>
          <a:ln/>
        </p:spPr>
        <p:txBody>
          <a:bodyPr wrap="square" lIns="0" tIns="0" rIns="0" bIns="0" rtlCol="0" anchor="ctr"/>
          <a:lstStyle/>
          <a:p>
            <a:pPr indent="0" marL="0">
              <a:buNone/>
            </a:pPr>
            <a:r>
              <a:rPr lang="en-US" sz="2800" b="1" dirty="0">
                <a:solidFill>
                  <a:srgbClr val="B87722"/>
                </a:solidFill>
                <a:latin typeface="Arial" pitchFamily="34" charset="0"/>
                <a:ea typeface="Arial" pitchFamily="34" charset="-122"/>
                <a:cs typeface="Arial" pitchFamily="34" charset="-120"/>
              </a:rPr>
              <a:t>~5 TB+</a:t>
            </a:r>
            <a:endParaRPr lang="en-US" sz="2800" dirty="0"/>
          </a:p>
        </p:txBody>
      </p:sp>
      <p:sp>
        <p:nvSpPr>
          <p:cNvPr id="35" name="Text 33"/>
          <p:cNvSpPr/>
          <p:nvPr/>
        </p:nvSpPr>
        <p:spPr>
          <a:xfrm>
            <a:off x="2615184" y="5020056"/>
            <a:ext cx="8705088" cy="448056"/>
          </a:xfrm>
          <a:prstGeom prst="rect">
            <a:avLst/>
          </a:prstGeom>
          <a:noFill/>
          <a:ln/>
        </p:spPr>
        <p:txBody>
          <a:bodyPr wrap="square" lIns="0" tIns="0" rIns="0" bIns="0" rtlCol="0" anchor="ctr"/>
          <a:lstStyle/>
          <a:p>
            <a:pPr indent="0" marL="0">
              <a:buNone/>
            </a:pPr>
            <a:r>
              <a:rPr lang="en-US" sz="1400" dirty="0">
                <a:solidFill>
                  <a:srgbClr val="182425"/>
                </a:solidFill>
                <a:latin typeface="Arial" pitchFamily="34" charset="0"/>
                <a:ea typeface="Arial" pitchFamily="34" charset="-122"/>
                <a:cs typeface="Arial" pitchFamily="34" charset="-120"/>
              </a:rPr>
              <a:t>Source-data planning context—not cache size or proven capacity.</a:t>
            </a:r>
            <a:endParaRPr lang="en-US" sz="1400" dirty="0"/>
          </a:p>
          <a:p>
            <a:pPr indent="0" marL="0">
              <a:buNone/>
            </a:pPr>
            <a:r>
              <a:rPr lang="en-US" sz="1400" dirty="0">
                <a:solidFill>
                  <a:srgbClr val="182425"/>
                </a:solidFill>
                <a:latin typeface="Arial" pitchFamily="34" charset="0"/>
                <a:ea typeface="Arial" pitchFamily="34" charset="-122"/>
                <a:cs typeface="Arial" pitchFamily="34" charset="-120"/>
              </a:rPr>
              <a:t>Keep large queries on the source platform; benchmark representative peak usage.</a:t>
            </a:r>
            <a:endParaRPr lang="en-US" sz="1400" dirty="0"/>
          </a:p>
        </p:txBody>
      </p:sp>
      <p:sp>
        <p:nvSpPr>
          <p:cNvPr id="36" name="Shape 34"/>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37" name="Shape 35"/>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38" name="Text 36"/>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VALUE GATE</a:t>
            </a:r>
            <a:endParaRPr lang="en-US" sz="950" dirty="0"/>
          </a:p>
        </p:txBody>
      </p:sp>
      <p:sp>
        <p:nvSpPr>
          <p:cNvPr id="39" name="Text 37"/>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Measure response time, cost per answer and cache benefit before expanding capacity.</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STRATEGIC INTEGRATIONS</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Three integrations address three different business needs.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All have high strategic value; first implementation follows pilot demand and readiness.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S2–S7, W1–W3</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08</a:t>
            </a:r>
            <a:endParaRPr lang="en-US" sz="1050" dirty="0"/>
          </a:p>
        </p:txBody>
      </p:sp>
      <p:sp>
        <p:nvSpPr>
          <p:cNvPr id="12" name="Rectangle 11"/>
          <p:cNvSpPr/>
          <p:nvPr/>
        </p:nvSpPr>
        <p:spPr>
          <a:xfrm>
            <a:off x="594360" y="2066543"/>
            <a:ext cx="11000232" cy="384048"/>
          </a:xfrm>
          <a:prstGeom prst="rect">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167128"/>
            <a:ext cx="1929384" cy="155448"/>
          </a:xfrm>
          <a:prstGeom prst="rect">
            <a:avLst/>
          </a:prstGeom>
          <a:noFill/>
        </p:spPr>
        <p:txBody>
          <a:bodyPr wrap="square" lIns="0" rIns="0" tIns="0" bIns="0" anchor="t">
            <a:spAutoFit/>
          </a:bodyPr>
          <a:lstStyle/>
          <a:p>
            <a:pPr algn="l">
              <a:lnSpc>
                <a:spcPct val="108000"/>
              </a:lnSpc>
              <a:spcBef>
                <a:spcPts val="0"/>
              </a:spcBef>
              <a:spcAft>
                <a:spcPts val="0"/>
              </a:spcAft>
            </a:pPr>
            <a:r>
              <a:rPr sz="969" b="1">
                <a:solidFill>
                  <a:srgbClr val="FFFFFF"/>
                </a:solidFill>
                <a:latin typeface="Arial"/>
              </a:rPr>
              <a:t>INTEGRATION</a:t>
            </a:r>
          </a:p>
        </p:txBody>
      </p:sp>
      <p:sp>
        <p:nvSpPr>
          <p:cNvPr id="14" name="TextBox 13"/>
          <p:cNvSpPr txBox="1"/>
          <p:nvPr/>
        </p:nvSpPr>
        <p:spPr>
          <a:xfrm>
            <a:off x="2898648" y="2167128"/>
            <a:ext cx="2816352" cy="155448"/>
          </a:xfrm>
          <a:prstGeom prst="rect">
            <a:avLst/>
          </a:prstGeom>
          <a:noFill/>
        </p:spPr>
        <p:txBody>
          <a:bodyPr wrap="square" lIns="0" rIns="0" tIns="0" bIns="0" anchor="t">
            <a:spAutoFit/>
          </a:bodyPr>
          <a:lstStyle/>
          <a:p>
            <a:pPr algn="l">
              <a:lnSpc>
                <a:spcPct val="108000"/>
              </a:lnSpc>
              <a:spcBef>
                <a:spcPts val="0"/>
              </a:spcBef>
              <a:spcAft>
                <a:spcPts val="0"/>
              </a:spcAft>
            </a:pPr>
            <a:r>
              <a:rPr sz="969" b="1">
                <a:solidFill>
                  <a:srgbClr val="FFFFFF"/>
                </a:solidFill>
                <a:latin typeface="Arial"/>
              </a:rPr>
              <a:t>WHY IT MATTERS</a:t>
            </a:r>
          </a:p>
        </p:txBody>
      </p:sp>
      <p:sp>
        <p:nvSpPr>
          <p:cNvPr id="15" name="TextBox 14"/>
          <p:cNvSpPr txBox="1"/>
          <p:nvPr/>
        </p:nvSpPr>
        <p:spPr>
          <a:xfrm>
            <a:off x="5952744" y="2167128"/>
            <a:ext cx="3310128" cy="155448"/>
          </a:xfrm>
          <a:prstGeom prst="rect">
            <a:avLst/>
          </a:prstGeom>
          <a:noFill/>
        </p:spPr>
        <p:txBody>
          <a:bodyPr wrap="square" lIns="0" rIns="0" tIns="0" bIns="0" anchor="t">
            <a:spAutoFit/>
          </a:bodyPr>
          <a:lstStyle/>
          <a:p>
            <a:pPr algn="l">
              <a:lnSpc>
                <a:spcPct val="108000"/>
              </a:lnSpc>
              <a:spcBef>
                <a:spcPts val="0"/>
              </a:spcBef>
              <a:spcAft>
                <a:spcPts val="0"/>
              </a:spcAft>
            </a:pPr>
            <a:r>
              <a:rPr sz="969" b="1">
                <a:solidFill>
                  <a:srgbClr val="FFFFFF"/>
                </a:solidFill>
                <a:latin typeface="Arial"/>
              </a:rPr>
              <a:t>PROPOSED TIMING</a:t>
            </a:r>
          </a:p>
        </p:txBody>
      </p:sp>
      <p:sp>
        <p:nvSpPr>
          <p:cNvPr id="16" name="TextBox 15"/>
          <p:cNvSpPr txBox="1"/>
          <p:nvPr/>
        </p:nvSpPr>
        <p:spPr>
          <a:xfrm>
            <a:off x="9500616" y="2167128"/>
            <a:ext cx="1993391" cy="155448"/>
          </a:xfrm>
          <a:prstGeom prst="rect">
            <a:avLst/>
          </a:prstGeom>
          <a:noFill/>
        </p:spPr>
        <p:txBody>
          <a:bodyPr wrap="square" lIns="0" rIns="0" tIns="0" bIns="0" anchor="t">
            <a:spAutoFit/>
          </a:bodyPr>
          <a:lstStyle/>
          <a:p>
            <a:pPr algn="l">
              <a:lnSpc>
                <a:spcPct val="108000"/>
              </a:lnSpc>
              <a:spcBef>
                <a:spcPts val="0"/>
              </a:spcBef>
              <a:spcAft>
                <a:spcPts val="0"/>
              </a:spcAft>
            </a:pPr>
            <a:r>
              <a:rPr sz="969" b="1">
                <a:solidFill>
                  <a:srgbClr val="FFFFFF"/>
                </a:solidFill>
                <a:latin typeface="Arial"/>
              </a:rPr>
              <a:t>DECISION REQUIRED</a:t>
            </a:r>
          </a:p>
        </p:txBody>
      </p:sp>
      <p:sp>
        <p:nvSpPr>
          <p:cNvPr id="17" name="Rectangle 16"/>
          <p:cNvSpPr/>
          <p:nvPr/>
        </p:nvSpPr>
        <p:spPr>
          <a:xfrm>
            <a:off x="594360" y="2450592"/>
            <a:ext cx="11000232" cy="932688"/>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651760"/>
            <a:ext cx="1901952" cy="603504"/>
          </a:xfrm>
          <a:prstGeom prst="rect">
            <a:avLst/>
          </a:prstGeom>
          <a:noFill/>
        </p:spPr>
        <p:txBody>
          <a:bodyPr wrap="square" lIns="0" rIns="0" tIns="0" bIns="0" anchor="t">
            <a:spAutoFit/>
          </a:bodyPr>
          <a:lstStyle/>
          <a:p>
            <a:pPr algn="l">
              <a:lnSpc>
                <a:spcPct val="108000"/>
              </a:lnSpc>
              <a:spcBef>
                <a:spcPts val="0"/>
              </a:spcBef>
              <a:spcAft>
                <a:spcPts val="0"/>
              </a:spcAft>
            </a:pPr>
            <a:r>
              <a:rPr sz="1530" b="1">
                <a:solidFill>
                  <a:srgbClr val="005238"/>
                </a:solidFill>
                <a:latin typeface="Arial"/>
              </a:rPr>
              <a:t>Databricks</a:t>
            </a:r>
          </a:p>
          <a:p>
            <a:pPr algn="l">
              <a:lnSpc>
                <a:spcPct val="108000"/>
              </a:lnSpc>
              <a:spcBef>
                <a:spcPts val="0"/>
              </a:spcBef>
              <a:spcAft>
                <a:spcPts val="0"/>
              </a:spcAft>
            </a:pPr>
            <a:r>
              <a:rPr sz="1530" b="1">
                <a:solidFill>
                  <a:srgbClr val="005238"/>
                </a:solidFill>
                <a:latin typeface="Arial"/>
              </a:rPr>
              <a:t>Genie</a:t>
            </a:r>
          </a:p>
        </p:txBody>
      </p:sp>
      <p:sp>
        <p:nvSpPr>
          <p:cNvPr id="19" name="TextBox 18"/>
          <p:cNvSpPr txBox="1"/>
          <p:nvPr/>
        </p:nvSpPr>
        <p:spPr>
          <a:xfrm>
            <a:off x="2898648" y="2651760"/>
            <a:ext cx="278892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Reuse analytics capability;</a:t>
            </a:r>
          </a:p>
          <a:p>
            <a:pPr algn="l">
              <a:lnSpc>
                <a:spcPct val="108000"/>
              </a:lnSpc>
              <a:spcBef>
                <a:spcPts val="0"/>
              </a:spcBef>
              <a:spcAft>
                <a:spcPts val="0"/>
              </a:spcAft>
            </a:pPr>
            <a:r>
              <a:rPr sz="1530" b="0">
                <a:solidFill>
                  <a:srgbClr val="182425"/>
                </a:solidFill>
                <a:latin typeface="Arial"/>
              </a:rPr>
              <a:t>avoid duplicate development.</a:t>
            </a:r>
          </a:p>
        </p:txBody>
      </p:sp>
      <p:sp>
        <p:nvSpPr>
          <p:cNvPr id="20" name="TextBox 19"/>
          <p:cNvSpPr txBox="1"/>
          <p:nvPr/>
        </p:nvSpPr>
        <p:spPr>
          <a:xfrm>
            <a:off x="5952744" y="2651760"/>
            <a:ext cx="3282696" cy="603504"/>
          </a:xfrm>
          <a:prstGeom prst="rect">
            <a:avLst/>
          </a:prstGeom>
          <a:noFill/>
        </p:spPr>
        <p:txBody>
          <a:bodyPr wrap="square" lIns="0" rIns="0" tIns="0" bIns="0" anchor="t">
            <a:spAutoFit/>
          </a:bodyPr>
          <a:lstStyle/>
          <a:p>
            <a:pPr algn="l">
              <a:lnSpc>
                <a:spcPct val="108000"/>
              </a:lnSpc>
              <a:spcBef>
                <a:spcPts val="0"/>
              </a:spcBef>
              <a:spcAft>
                <a:spcPts val="0"/>
              </a:spcAft>
            </a:pPr>
            <a:r>
              <a:rPr sz="1430" b="0">
                <a:solidFill>
                  <a:srgbClr val="182425"/>
                </a:solidFill>
                <a:latin typeface="Arial"/>
              </a:rPr>
              <a:t>MVP 1: evaluate one domain.</a:t>
            </a:r>
          </a:p>
          <a:p>
            <a:pPr algn="l">
              <a:lnSpc>
                <a:spcPct val="108000"/>
              </a:lnSpc>
              <a:spcBef>
                <a:spcPts val="0"/>
              </a:spcBef>
              <a:spcAft>
                <a:spcPts val="0"/>
              </a:spcAft>
            </a:pPr>
            <a:r>
              <a:rPr sz="1430" b="0">
                <a:solidFill>
                  <a:srgbClr val="182425"/>
                </a:solidFill>
                <a:latin typeface="Arial"/>
              </a:rPr>
              <a:t>MVP 2: integrate if qualified.</a:t>
            </a:r>
          </a:p>
        </p:txBody>
      </p:sp>
      <p:sp>
        <p:nvSpPr>
          <p:cNvPr id="21" name="TextBox 20"/>
          <p:cNvSpPr txBox="1"/>
          <p:nvPr/>
        </p:nvSpPr>
        <p:spPr>
          <a:xfrm>
            <a:off x="9500616" y="2651760"/>
            <a:ext cx="196596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Sponsor a</a:t>
            </a:r>
          </a:p>
          <a:p>
            <a:pPr algn="l">
              <a:lnSpc>
                <a:spcPct val="108000"/>
              </a:lnSpc>
              <a:spcBef>
                <a:spcPts val="0"/>
              </a:spcBef>
              <a:spcAft>
                <a:spcPts val="0"/>
              </a:spcAft>
            </a:pPr>
            <a:r>
              <a:rPr sz="1530" b="0">
                <a:solidFill>
                  <a:srgbClr val="182425"/>
                </a:solidFill>
                <a:latin typeface="Arial"/>
              </a:rPr>
              <a:t>comparative pilot.</a:t>
            </a:r>
          </a:p>
        </p:txBody>
      </p:sp>
      <p:cxnSp>
        <p:nvCxnSpPr>
          <p:cNvPr id="22" name="Connector 21"/>
          <p:cNvCxnSpPr/>
          <p:nvPr/>
        </p:nvCxnSpPr>
        <p:spPr>
          <a:xfrm>
            <a:off x="594360" y="3383280"/>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94360" y="3383280"/>
            <a:ext cx="11000232" cy="9326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584448"/>
            <a:ext cx="1901952" cy="603504"/>
          </a:xfrm>
          <a:prstGeom prst="rect">
            <a:avLst/>
          </a:prstGeom>
          <a:noFill/>
        </p:spPr>
        <p:txBody>
          <a:bodyPr wrap="square" lIns="0" rIns="0" tIns="0" bIns="0" anchor="t">
            <a:spAutoFit/>
          </a:bodyPr>
          <a:lstStyle/>
          <a:p>
            <a:pPr algn="l">
              <a:lnSpc>
                <a:spcPct val="108000"/>
              </a:lnSpc>
              <a:spcBef>
                <a:spcPts val="0"/>
              </a:spcBef>
              <a:spcAft>
                <a:spcPts val="0"/>
              </a:spcAft>
            </a:pPr>
            <a:r>
              <a:rPr sz="1530" b="1">
                <a:solidFill>
                  <a:srgbClr val="005238"/>
                </a:solidFill>
                <a:latin typeface="Arial"/>
              </a:rPr>
              <a:t>On-premises</a:t>
            </a:r>
          </a:p>
          <a:p>
            <a:pPr algn="l">
              <a:lnSpc>
                <a:spcPct val="108000"/>
              </a:lnSpc>
              <a:spcBef>
                <a:spcPts val="0"/>
              </a:spcBef>
              <a:spcAft>
                <a:spcPts val="0"/>
              </a:spcAft>
            </a:pPr>
            <a:r>
              <a:rPr sz="1530" b="1">
                <a:solidFill>
                  <a:srgbClr val="005238"/>
                </a:solidFill>
                <a:latin typeface="Arial"/>
              </a:rPr>
              <a:t>databases</a:t>
            </a:r>
          </a:p>
        </p:txBody>
      </p:sp>
      <p:sp>
        <p:nvSpPr>
          <p:cNvPr id="25" name="TextBox 24"/>
          <p:cNvSpPr txBox="1"/>
          <p:nvPr/>
        </p:nvSpPr>
        <p:spPr>
          <a:xfrm>
            <a:off x="2898648" y="3584448"/>
            <a:ext cx="278892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Reach selected data without</a:t>
            </a:r>
          </a:p>
          <a:p>
            <a:pPr algn="l">
              <a:lnSpc>
                <a:spcPct val="108000"/>
              </a:lnSpc>
              <a:spcBef>
                <a:spcPts val="0"/>
              </a:spcBef>
              <a:spcAft>
                <a:spcPts val="0"/>
              </a:spcAft>
            </a:pPr>
            <a:r>
              <a:rPr sz="1530" b="0">
                <a:solidFill>
                  <a:srgbClr val="182425"/>
                </a:solidFill>
                <a:latin typeface="Arial"/>
              </a:rPr>
              <a:t>a mandatory cloud migration.</a:t>
            </a:r>
          </a:p>
        </p:txBody>
      </p:sp>
      <p:sp>
        <p:nvSpPr>
          <p:cNvPr id="26" name="TextBox 25"/>
          <p:cNvSpPr txBox="1"/>
          <p:nvPr/>
        </p:nvSpPr>
        <p:spPr>
          <a:xfrm>
            <a:off x="5952744" y="3584448"/>
            <a:ext cx="3282696" cy="603504"/>
          </a:xfrm>
          <a:prstGeom prst="rect">
            <a:avLst/>
          </a:prstGeom>
          <a:noFill/>
        </p:spPr>
        <p:txBody>
          <a:bodyPr wrap="square" lIns="0" rIns="0" tIns="0" bIns="0" anchor="t">
            <a:spAutoFit/>
          </a:bodyPr>
          <a:lstStyle/>
          <a:p>
            <a:pPr algn="l">
              <a:lnSpc>
                <a:spcPct val="108000"/>
              </a:lnSpc>
              <a:spcBef>
                <a:spcPts val="0"/>
              </a:spcBef>
              <a:spcAft>
                <a:spcPts val="0"/>
              </a:spcAft>
            </a:pPr>
            <a:r>
              <a:rPr sz="1430" b="0">
                <a:solidFill>
                  <a:srgbClr val="182425"/>
                </a:solidFill>
                <a:latin typeface="Arial"/>
              </a:rPr>
              <a:t>MVP 1: select source and access path.</a:t>
            </a:r>
          </a:p>
          <a:p>
            <a:pPr algn="l">
              <a:lnSpc>
                <a:spcPct val="108000"/>
              </a:lnSpc>
              <a:spcBef>
                <a:spcPts val="0"/>
              </a:spcBef>
              <a:spcAft>
                <a:spcPts val="0"/>
              </a:spcAft>
            </a:pPr>
            <a:r>
              <a:rPr sz="1430" b="0">
                <a:solidFill>
                  <a:srgbClr val="182425"/>
                </a:solidFill>
                <a:latin typeface="Arial"/>
              </a:rPr>
              <a:t>MVP 2: first targeted connector.</a:t>
            </a:r>
          </a:p>
        </p:txBody>
      </p:sp>
      <p:sp>
        <p:nvSpPr>
          <p:cNvPr id="27" name="TextBox 26"/>
          <p:cNvSpPr txBox="1"/>
          <p:nvPr/>
        </p:nvSpPr>
        <p:spPr>
          <a:xfrm>
            <a:off x="9500616" y="3584448"/>
            <a:ext cx="196596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Name use case</a:t>
            </a:r>
          </a:p>
          <a:p>
            <a:pPr algn="l">
              <a:lnSpc>
                <a:spcPct val="108000"/>
              </a:lnSpc>
              <a:spcBef>
                <a:spcPts val="0"/>
              </a:spcBef>
              <a:spcAft>
                <a:spcPts val="0"/>
              </a:spcAft>
            </a:pPr>
            <a:r>
              <a:rPr sz="1530" b="0">
                <a:solidFill>
                  <a:srgbClr val="182425"/>
                </a:solidFill>
                <a:latin typeface="Arial"/>
              </a:rPr>
              <a:t>and source owner.</a:t>
            </a:r>
          </a:p>
        </p:txBody>
      </p:sp>
      <p:cxnSp>
        <p:nvCxnSpPr>
          <p:cNvPr id="28" name="Connector 27"/>
          <p:cNvCxnSpPr/>
          <p:nvPr/>
        </p:nvCxnSpPr>
        <p:spPr>
          <a:xfrm>
            <a:off x="594360" y="4315968"/>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94360" y="4315968"/>
            <a:ext cx="11000232" cy="932688"/>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517136"/>
            <a:ext cx="1901952" cy="603504"/>
          </a:xfrm>
          <a:prstGeom prst="rect">
            <a:avLst/>
          </a:prstGeom>
          <a:noFill/>
        </p:spPr>
        <p:txBody>
          <a:bodyPr wrap="square" lIns="0" rIns="0" tIns="0" bIns="0" anchor="t">
            <a:spAutoFit/>
          </a:bodyPr>
          <a:lstStyle/>
          <a:p>
            <a:pPr algn="l">
              <a:lnSpc>
                <a:spcPct val="108000"/>
              </a:lnSpc>
              <a:spcBef>
                <a:spcPts val="0"/>
              </a:spcBef>
              <a:spcAft>
                <a:spcPts val="0"/>
              </a:spcAft>
            </a:pPr>
            <a:r>
              <a:rPr sz="1530" b="1">
                <a:solidFill>
                  <a:srgbClr val="005238"/>
                </a:solidFill>
                <a:latin typeface="Arial"/>
              </a:rPr>
              <a:t>Collibra</a:t>
            </a:r>
          </a:p>
        </p:txBody>
      </p:sp>
      <p:sp>
        <p:nvSpPr>
          <p:cNvPr id="31" name="TextBox 30"/>
          <p:cNvSpPr txBox="1"/>
          <p:nvPr/>
        </p:nvSpPr>
        <p:spPr>
          <a:xfrm>
            <a:off x="2898648" y="4517136"/>
            <a:ext cx="278892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Reuse approved definitions;</a:t>
            </a:r>
          </a:p>
          <a:p>
            <a:pPr algn="l">
              <a:lnSpc>
                <a:spcPct val="108000"/>
              </a:lnSpc>
              <a:spcBef>
                <a:spcPts val="0"/>
              </a:spcBef>
              <a:spcAft>
                <a:spcPts val="0"/>
              </a:spcAft>
            </a:pPr>
            <a:r>
              <a:rPr sz="1530" b="0">
                <a:solidFill>
                  <a:srgbClr val="182425"/>
                </a:solidFill>
                <a:latin typeface="Arial"/>
              </a:rPr>
              <a:t>reduce manual metadata upkeep.</a:t>
            </a:r>
          </a:p>
        </p:txBody>
      </p:sp>
      <p:sp>
        <p:nvSpPr>
          <p:cNvPr id="32" name="TextBox 31"/>
          <p:cNvSpPr txBox="1"/>
          <p:nvPr/>
        </p:nvSpPr>
        <p:spPr>
          <a:xfrm>
            <a:off x="5952744" y="4517136"/>
            <a:ext cx="3282696" cy="603504"/>
          </a:xfrm>
          <a:prstGeom prst="rect">
            <a:avLst/>
          </a:prstGeom>
          <a:noFill/>
        </p:spPr>
        <p:txBody>
          <a:bodyPr wrap="square" lIns="0" rIns="0" tIns="0" bIns="0" anchor="t">
            <a:spAutoFit/>
          </a:bodyPr>
          <a:lstStyle/>
          <a:p>
            <a:pPr algn="l">
              <a:lnSpc>
                <a:spcPct val="108000"/>
              </a:lnSpc>
              <a:spcBef>
                <a:spcPts val="0"/>
              </a:spcBef>
              <a:spcAft>
                <a:spcPts val="0"/>
              </a:spcAft>
            </a:pPr>
            <a:r>
              <a:rPr sz="1430" b="0">
                <a:solidFill>
                  <a:srgbClr val="182425"/>
                </a:solidFill>
                <a:latin typeface="Arial"/>
              </a:rPr>
              <a:t>MVP 1: ownership and metadata contract.</a:t>
            </a:r>
          </a:p>
          <a:p>
            <a:pPr algn="l">
              <a:lnSpc>
                <a:spcPct val="108000"/>
              </a:lnSpc>
              <a:spcBef>
                <a:spcPts val="0"/>
              </a:spcBef>
              <a:spcAft>
                <a:spcPts val="0"/>
              </a:spcAft>
            </a:pPr>
            <a:r>
              <a:rPr sz="1430" b="0">
                <a:solidFill>
                  <a:srgbClr val="182425"/>
                </a:solidFill>
                <a:latin typeface="Arial"/>
              </a:rPr>
              <a:t>MVP 2: read-only ingestion and refresh.</a:t>
            </a:r>
          </a:p>
        </p:txBody>
      </p:sp>
      <p:sp>
        <p:nvSpPr>
          <p:cNvPr id="33" name="TextBox 32"/>
          <p:cNvSpPr txBox="1"/>
          <p:nvPr/>
        </p:nvSpPr>
        <p:spPr>
          <a:xfrm>
            <a:off x="9500616" y="4517136"/>
            <a:ext cx="1965960" cy="603504"/>
          </a:xfrm>
          <a:prstGeom prst="rect">
            <a:avLst/>
          </a:prstGeom>
          <a:noFill/>
        </p:spPr>
        <p:txBody>
          <a:bodyPr wrap="square" lIns="0" rIns="0" tIns="0" bIns="0" anchor="t">
            <a:spAutoFit/>
          </a:bodyPr>
          <a:lstStyle/>
          <a:p>
            <a:pPr algn="l">
              <a:lnSpc>
                <a:spcPct val="108000"/>
              </a:lnSpc>
              <a:spcBef>
                <a:spcPts val="0"/>
              </a:spcBef>
              <a:spcAft>
                <a:spcPts val="0"/>
              </a:spcAft>
            </a:pPr>
            <a:r>
              <a:rPr sz="1530" b="0">
                <a:solidFill>
                  <a:srgbClr val="182425"/>
                </a:solidFill>
                <a:latin typeface="Arial"/>
              </a:rPr>
              <a:t>Assign metadata</a:t>
            </a:r>
          </a:p>
          <a:p>
            <a:pPr algn="l">
              <a:lnSpc>
                <a:spcPct val="108000"/>
              </a:lnSpc>
              <a:spcBef>
                <a:spcPts val="0"/>
              </a:spcBef>
              <a:spcAft>
                <a:spcPts val="0"/>
              </a:spcAft>
            </a:pPr>
            <a:r>
              <a:rPr sz="1530" b="0">
                <a:solidFill>
                  <a:srgbClr val="182425"/>
                </a:solidFill>
                <a:latin typeface="Arial"/>
              </a:rPr>
              <a:t>and API owners.</a:t>
            </a:r>
          </a:p>
        </p:txBody>
      </p:sp>
      <p:cxnSp>
        <p:nvCxnSpPr>
          <p:cNvPr id="34" name="Connector 33"/>
          <p:cNvCxnSpPr/>
          <p:nvPr/>
        </p:nvCxnSpPr>
        <p:spPr>
          <a:xfrm>
            <a:off x="594360" y="5248656"/>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94360" y="5431536"/>
            <a:ext cx="11000232" cy="283464"/>
          </a:xfrm>
          <a:prstGeom prst="rect">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952" y="5486400"/>
            <a:ext cx="10698480" cy="164592"/>
          </a:xfrm>
          <a:prstGeom prst="rect">
            <a:avLst/>
          </a:prstGeom>
          <a:noFill/>
        </p:spPr>
        <p:txBody>
          <a:bodyPr wrap="square" lIns="0" rIns="0" tIns="0" bIns="0" anchor="t">
            <a:spAutoFit/>
          </a:bodyPr>
          <a:lstStyle/>
          <a:p>
            <a:pPr algn="l">
              <a:lnSpc>
                <a:spcPct val="108000"/>
              </a:lnSpc>
              <a:spcBef>
                <a:spcPts val="0"/>
              </a:spcBef>
              <a:spcAft>
                <a:spcPts val="0"/>
              </a:spcAft>
            </a:pPr>
            <a:r>
              <a:rPr sz="1080" b="0">
                <a:solidFill>
                  <a:srgbClr val="005238"/>
                </a:solidFill>
                <a:latin typeface="Arial"/>
              </a:rPr>
              <a:t>A required on-premises source may enter MVP 1 only when the approved pilot cannot proceed without it.</a:t>
            </a:r>
          </a:p>
        </p:txBody>
      </p:sp>
      <p:sp>
        <p:nvSpPr>
          <p:cNvPr id="37" name="Rectangle 36"/>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SEQUENCING RULE</a:t>
            </a:r>
          </a:p>
        </p:txBody>
      </p:sp>
      <p:sp>
        <p:nvSpPr>
          <p:cNvPr id="40" name="TextBox 39"/>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Start discovery early; commit to integration only after a bounded business and control test.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PILOT SUCCESS MEASURES</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Prove business and integration value before wider rollout.</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Use the same approved questions and access scope for comparative tests.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S2, S3, S5–S7</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12</a:t>
            </a:r>
            <a:endParaRPr lang="en-US" sz="1050" dirty="0"/>
          </a:p>
        </p:txBody>
      </p:sp>
      <p:sp>
        <p:nvSpPr>
          <p:cNvPr id="12" name="Shape 10"/>
          <p:cNvSpPr/>
          <p:nvPr/>
        </p:nvSpPr>
        <p:spPr>
          <a:xfrm>
            <a:off x="594360" y="2075688"/>
            <a:ext cx="2916936" cy="3447288"/>
          </a:xfrm>
          <a:prstGeom prst="rect">
            <a:avLst/>
          </a:prstGeom>
          <a:solidFill>
            <a:srgbClr val="005238"/>
          </a:solidFill>
          <a:ln w="12700">
            <a:solidFill>
              <a:srgbClr val="005238"/>
            </a:solidFill>
            <a:prstDash val="solid"/>
          </a:ln>
        </p:spPr>
        <p:txBody>
          <a:bodyPr/>
          <a:p/>
        </p:txBody>
      </p:sp>
      <p:sp>
        <p:nvSpPr>
          <p:cNvPr id="13" name="Text 11"/>
          <p:cNvSpPr/>
          <p:nvPr/>
        </p:nvSpPr>
        <p:spPr>
          <a:xfrm>
            <a:off x="822960" y="2331720"/>
            <a:ext cx="2459736" cy="246888"/>
          </a:xfrm>
          <a:prstGeom prst="rect">
            <a:avLst/>
          </a:prstGeom>
          <a:noFill/>
          <a:ln/>
        </p:spPr>
        <p:txBody>
          <a:bodyPr wrap="square" lIns="0" tIns="0" rIns="0" bIns="0" rtlCol="0" anchor="ctr"/>
          <a:lstStyle/>
          <a:p>
            <a:pPr indent="0" marL="0">
              <a:buNone/>
            </a:pPr>
            <a:r>
              <a:rPr lang="en-US" sz="1100" b="1" spc="100" kern="0" dirty="0">
                <a:solidFill>
                  <a:srgbClr val="BDDFC9"/>
                </a:solidFill>
                <a:latin typeface="Arial" pitchFamily="34" charset="0"/>
                <a:ea typeface="Arial" pitchFamily="34" charset="-122"/>
                <a:cs typeface="Arial" pitchFamily="34" charset="-120"/>
              </a:rPr>
              <a:t>FOCUSED PILOT</a:t>
            </a:r>
            <a:endParaRPr lang="en-US" sz="1100" dirty="0"/>
          </a:p>
        </p:txBody>
      </p:sp>
      <p:sp>
        <p:nvSpPr>
          <p:cNvPr id="14" name="Text 12"/>
          <p:cNvSpPr/>
          <p:nvPr/>
        </p:nvSpPr>
        <p:spPr>
          <a:xfrm>
            <a:off x="822960" y="2816352"/>
            <a:ext cx="2404872" cy="950976"/>
          </a:xfrm>
          <a:prstGeom prst="rect">
            <a:avLst/>
          </a:prstGeom>
          <a:noFill/>
          <a:ln/>
        </p:spPr>
        <p:txBody>
          <a:bodyPr wrap="square" lIns="0" tIns="0" rIns="0" bIns="0" rtlCol="0" anchor="t"/>
          <a:lstStyle/>
          <a:p>
            <a:pPr indent="0" marL="0">
              <a:buNone/>
            </a:pPr>
            <a:r>
              <a:rPr lang="en-US" sz="2500" b="1" dirty="0">
                <a:solidFill>
                  <a:srgbClr val="FFFFFF"/>
                </a:solidFill>
                <a:latin typeface="Arial" pitchFamily="34" charset="0"/>
                <a:ea typeface="Arial" pitchFamily="34" charset="-122"/>
                <a:cs typeface="Arial" pitchFamily="34" charset="-120"/>
              </a:rPr>
              <a:t>Focused scope.</a:t>
            </a:r>
            <a:endParaRPr lang="en-US" sz="2500" dirty="0"/>
          </a:p>
          <a:p>
            <a:pPr indent="0" marL="0">
              <a:buNone/>
            </a:pPr>
            <a:r>
              <a:rPr lang="en-US" sz="2500" b="1" dirty="0">
                <a:solidFill>
                  <a:srgbClr val="FFFFFF"/>
                </a:solidFill>
                <a:latin typeface="Arial" pitchFamily="34" charset="0"/>
                <a:ea typeface="Arial" pitchFamily="34" charset="-122"/>
                <a:cs typeface="Arial" pitchFamily="34" charset="-120"/>
              </a:rPr>
              <a:t>Measure value.</a:t>
            </a:r>
            <a:endParaRPr lang="en-US" sz="2500" dirty="0"/>
          </a:p>
        </p:txBody>
      </p:sp>
      <p:sp>
        <p:nvSpPr>
          <p:cNvPr id="15" name="Shape 13"/>
          <p:cNvSpPr/>
          <p:nvPr/>
        </p:nvSpPr>
        <p:spPr>
          <a:xfrm>
            <a:off x="850392" y="4041648"/>
            <a:ext cx="45720" cy="45720"/>
          </a:xfrm>
          <a:prstGeom prst="rect">
            <a:avLst/>
          </a:prstGeom>
          <a:solidFill>
            <a:srgbClr val="72BC89"/>
          </a:solidFill>
          <a:ln w="12700">
            <a:solidFill>
              <a:srgbClr val="72BC89"/>
            </a:solidFill>
            <a:prstDash val="solid"/>
          </a:ln>
        </p:spPr>
        <p:txBody>
          <a:bodyPr/>
          <a:p/>
        </p:txBody>
      </p:sp>
      <p:sp>
        <p:nvSpPr>
          <p:cNvPr id="16" name="Text 14"/>
          <p:cNvSpPr/>
          <p:nvPr/>
        </p:nvSpPr>
        <p:spPr>
          <a:xfrm>
            <a:off x="996696" y="3931920"/>
            <a:ext cx="2203704" cy="283464"/>
          </a:xfrm>
          <a:prstGeom prst="rect">
            <a:avLst/>
          </a:prstGeom>
          <a:noFill/>
          <a:ln/>
        </p:spPr>
        <p:txBody>
          <a:bodyPr wrap="square" lIns="0" tIns="0" rIns="0" bIns="0" rtlCol="0" anchor="t"/>
          <a:lstStyle/>
          <a:p>
            <a:pPr indent="0" marL="0">
              <a:buNone/>
            </a:pPr>
            <a:r>
              <a:rPr lang="en-US" sz="1350" dirty="0">
                <a:solidFill>
                  <a:srgbClr val="E5F1E9"/>
                </a:solidFill>
                <a:latin typeface="Arial" pitchFamily="34" charset="0"/>
                <a:ea typeface="Arial" pitchFamily="34" charset="-122"/>
                <a:cs typeface="Arial" pitchFamily="34" charset="-120"/>
              </a:rPr>
              <a:t>Business sponsor</a:t>
            </a:r>
            <a:endParaRPr lang="en-US" sz="1350" dirty="0"/>
          </a:p>
        </p:txBody>
      </p:sp>
      <p:sp>
        <p:nvSpPr>
          <p:cNvPr id="17" name="Shape 15"/>
          <p:cNvSpPr/>
          <p:nvPr/>
        </p:nvSpPr>
        <p:spPr>
          <a:xfrm>
            <a:off x="850392" y="4352544"/>
            <a:ext cx="45720" cy="45720"/>
          </a:xfrm>
          <a:prstGeom prst="rect">
            <a:avLst/>
          </a:prstGeom>
          <a:solidFill>
            <a:srgbClr val="72BC89"/>
          </a:solidFill>
          <a:ln w="12700">
            <a:solidFill>
              <a:srgbClr val="72BC89"/>
            </a:solidFill>
            <a:prstDash val="solid"/>
          </a:ln>
        </p:spPr>
        <p:txBody>
          <a:bodyPr/>
          <a:p/>
        </p:txBody>
      </p:sp>
      <p:sp>
        <p:nvSpPr>
          <p:cNvPr id="18" name="Text 16"/>
          <p:cNvSpPr/>
          <p:nvPr/>
        </p:nvSpPr>
        <p:spPr>
          <a:xfrm>
            <a:off x="996696" y="4242816"/>
            <a:ext cx="2203704" cy="283464"/>
          </a:xfrm>
          <a:prstGeom prst="rect">
            <a:avLst/>
          </a:prstGeom>
          <a:noFill/>
          <a:ln/>
        </p:spPr>
        <p:txBody>
          <a:bodyPr wrap="square" lIns="0" tIns="0" rIns="0" bIns="0" rtlCol="0" anchor="t"/>
          <a:lstStyle/>
          <a:p>
            <a:pPr indent="0" marL="0">
              <a:buNone/>
            </a:pPr>
            <a:r>
              <a:rPr lang="en-US" sz="1350" dirty="0">
                <a:solidFill>
                  <a:srgbClr val="E5F1E9"/>
                </a:solidFill>
                <a:latin typeface="Arial" pitchFamily="34" charset="0"/>
                <a:ea typeface="Arial" pitchFamily="34" charset="-122"/>
                <a:cs typeface="Arial" pitchFamily="34" charset="-120"/>
              </a:rPr>
              <a:t>Selected data products</a:t>
            </a:r>
            <a:endParaRPr lang="en-US" sz="1350" dirty="0"/>
          </a:p>
        </p:txBody>
      </p:sp>
      <p:sp>
        <p:nvSpPr>
          <p:cNvPr id="19" name="Shape 17"/>
          <p:cNvSpPr/>
          <p:nvPr/>
        </p:nvSpPr>
        <p:spPr>
          <a:xfrm>
            <a:off x="850392" y="4663440"/>
            <a:ext cx="45720" cy="45720"/>
          </a:xfrm>
          <a:prstGeom prst="rect">
            <a:avLst/>
          </a:prstGeom>
          <a:solidFill>
            <a:srgbClr val="72BC89"/>
          </a:solidFill>
          <a:ln w="12700">
            <a:solidFill>
              <a:srgbClr val="72BC89"/>
            </a:solidFill>
            <a:prstDash val="solid"/>
          </a:ln>
        </p:spPr>
        <p:txBody>
          <a:bodyPr/>
          <a:p/>
        </p:txBody>
      </p:sp>
      <p:sp>
        <p:nvSpPr>
          <p:cNvPr id="20" name="Text 18"/>
          <p:cNvSpPr/>
          <p:nvPr/>
        </p:nvSpPr>
        <p:spPr>
          <a:xfrm>
            <a:off x="996696" y="4553712"/>
            <a:ext cx="2203704" cy="283464"/>
          </a:xfrm>
          <a:prstGeom prst="rect">
            <a:avLst/>
          </a:prstGeom>
          <a:noFill/>
          <a:ln/>
        </p:spPr>
        <p:txBody>
          <a:bodyPr wrap="square" lIns="0" tIns="0" rIns="0" bIns="0" rtlCol="0" anchor="t"/>
          <a:lstStyle/>
          <a:p>
            <a:pPr indent="0" marL="0">
              <a:buNone/>
            </a:pPr>
            <a:r>
              <a:rPr lang="en-US" sz="1350" dirty="0">
                <a:solidFill>
                  <a:srgbClr val="E5F1E9"/>
                </a:solidFill>
                <a:latin typeface="Arial" pitchFamily="34" charset="0"/>
                <a:ea typeface="Arial" pitchFamily="34" charset="-122"/>
                <a:cs typeface="Arial" pitchFamily="34" charset="-120"/>
              </a:rPr>
              <a:t>Approved test questions</a:t>
            </a:r>
            <a:endParaRPr lang="en-US" sz="1350" dirty="0"/>
          </a:p>
        </p:txBody>
      </p:sp>
      <p:sp>
        <p:nvSpPr>
          <p:cNvPr id="21" name="Shape 19"/>
          <p:cNvSpPr/>
          <p:nvPr/>
        </p:nvSpPr>
        <p:spPr>
          <a:xfrm>
            <a:off x="850392" y="4974336"/>
            <a:ext cx="45720" cy="45720"/>
          </a:xfrm>
          <a:prstGeom prst="rect">
            <a:avLst/>
          </a:prstGeom>
          <a:solidFill>
            <a:srgbClr val="72BC89"/>
          </a:solidFill>
          <a:ln w="12700">
            <a:solidFill>
              <a:srgbClr val="72BC89"/>
            </a:solidFill>
            <a:prstDash val="solid"/>
          </a:ln>
        </p:spPr>
        <p:txBody>
          <a:bodyPr/>
          <a:p/>
        </p:txBody>
      </p:sp>
      <p:sp>
        <p:nvSpPr>
          <p:cNvPr id="22" name="Text 20"/>
          <p:cNvSpPr/>
          <p:nvPr/>
        </p:nvSpPr>
        <p:spPr>
          <a:xfrm>
            <a:off x="996696" y="4864608"/>
            <a:ext cx="2203704" cy="283464"/>
          </a:xfrm>
          <a:prstGeom prst="rect">
            <a:avLst/>
          </a:prstGeom>
          <a:noFill/>
          <a:ln/>
        </p:spPr>
        <p:txBody>
          <a:bodyPr wrap="square" lIns="0" tIns="0" rIns="0" bIns="0" rtlCol="0" anchor="t"/>
          <a:lstStyle/>
          <a:p>
            <a:pPr indent="0" marL="0">
              <a:buNone/>
            </a:pPr>
            <a:r>
              <a:rPr lang="en-US" sz="1350" dirty="0">
                <a:solidFill>
                  <a:srgbClr val="E5F1E9"/>
                </a:solidFill>
                <a:latin typeface="Arial" pitchFamily="34" charset="0"/>
                <a:ea typeface="Arial" pitchFamily="34" charset="-122"/>
                <a:cs typeface="Arial" pitchFamily="34" charset="-120"/>
              </a:rPr>
              <a:t>Baseline and review date</a:t>
            </a:r>
            <a:endParaRPr lang="en-US" sz="1350" dirty="0"/>
          </a:p>
        </p:txBody>
      </p:sp>
      <p:sp>
        <p:nvSpPr>
          <p:cNvPr id="23" name="Shape 21"/>
          <p:cNvSpPr/>
          <p:nvPr/>
        </p:nvSpPr>
        <p:spPr>
          <a:xfrm>
            <a:off x="3815791" y="2261311"/>
            <a:ext cx="378562" cy="378562"/>
          </a:xfrm>
          <a:prstGeom prst="ellipse">
            <a:avLst/>
          </a:prstGeom>
          <a:solidFill>
            <a:srgbClr val="F4F8F5"/>
          </a:solidFill>
          <a:ln w="17780">
            <a:solidFill>
              <a:srgbClr val="00843D"/>
            </a:solidFill>
            <a:prstDash val="solid"/>
          </a:ln>
        </p:spPr>
        <p:txBody>
          <a:bodyPr/>
          <a:p/>
        </p:txBody>
      </p:sp>
      <p:sp>
        <p:nvSpPr>
          <p:cNvPr id="24" name="Shape 22"/>
          <p:cNvSpPr/>
          <p:nvPr/>
        </p:nvSpPr>
        <p:spPr>
          <a:xfrm>
            <a:off x="4005072" y="2324405"/>
            <a:ext cx="0" cy="136703"/>
          </a:xfrm>
          <a:prstGeom prst="line">
            <a:avLst/>
          </a:prstGeom>
          <a:noFill/>
          <a:ln w="24130">
            <a:solidFill>
              <a:srgbClr val="00843D"/>
            </a:solidFill>
            <a:prstDash val="solid"/>
          </a:ln>
        </p:spPr>
        <p:txBody>
          <a:bodyPr/>
          <a:p/>
        </p:txBody>
      </p:sp>
      <p:sp>
        <p:nvSpPr>
          <p:cNvPr id="25" name="Shape 23"/>
          <p:cNvSpPr/>
          <p:nvPr/>
        </p:nvSpPr>
        <p:spPr>
          <a:xfrm>
            <a:off x="4005072" y="2461108"/>
            <a:ext cx="94640" cy="42062"/>
          </a:xfrm>
          <a:prstGeom prst="line">
            <a:avLst/>
          </a:prstGeom>
          <a:noFill/>
          <a:ln w="24130">
            <a:solidFill>
              <a:srgbClr val="00843D"/>
            </a:solidFill>
            <a:prstDash val="solid"/>
          </a:ln>
        </p:spPr>
        <p:txBody>
          <a:bodyPr/>
          <a:p/>
        </p:txBody>
      </p:sp>
      <p:sp>
        <p:nvSpPr>
          <p:cNvPr id="26" name="Text 24"/>
          <p:cNvSpPr/>
          <p:nvPr/>
        </p:nvSpPr>
        <p:spPr>
          <a:xfrm>
            <a:off x="4407408" y="2121408"/>
            <a:ext cx="6903720" cy="310896"/>
          </a:xfrm>
          <a:prstGeom prst="rect">
            <a:avLst/>
          </a:prstGeom>
          <a:noFill/>
          <a:ln/>
        </p:spPr>
        <p:txBody>
          <a:bodyPr wrap="square" lIns="0" tIns="0" rIns="0" bIns="0" rtlCol="0" anchor="ctr"/>
          <a:lstStyle/>
          <a:p>
            <a:pPr indent="0" marL="0">
              <a:buNone/>
            </a:pPr>
            <a:r>
              <a:rPr lang="en-US" sz="1900" b="1" dirty="0">
                <a:solidFill>
                  <a:srgbClr val="182425"/>
                </a:solidFill>
                <a:latin typeface="Arial" pitchFamily="34" charset="0"/>
                <a:ea typeface="Arial" pitchFamily="34" charset="-122"/>
                <a:cs typeface="Arial" pitchFamily="34" charset="-120"/>
              </a:rPr>
              <a:t>Business impact</a:t>
            </a:r>
            <a:endParaRPr lang="en-US" sz="1900" dirty="0"/>
          </a:p>
        </p:txBody>
      </p:sp>
      <p:sp>
        <p:nvSpPr>
          <p:cNvPr id="27" name="Text 25"/>
          <p:cNvSpPr/>
          <p:nvPr/>
        </p:nvSpPr>
        <p:spPr>
          <a:xfrm>
            <a:off x="4407408" y="2505456"/>
            <a:ext cx="6894576" cy="457200"/>
          </a:xfrm>
          <a:prstGeom prst="rect">
            <a:avLst/>
          </a:prstGeom>
          <a:noFill/>
          <a:ln/>
        </p:spPr>
        <p:txBody>
          <a:bodyPr wrap="square" lIns="0" tIns="0" rIns="0" bIns="0" rtlCol="0" anchor="ctr"/>
          <a:lstStyle/>
          <a:p>
            <a:pPr indent="0" marL="0">
              <a:buNone/>
            </a:pPr>
            <a:r>
              <a:rPr lang="en-US" sz="1530" dirty="0">
                <a:solidFill>
                  <a:srgbClr val="52635E"/>
                </a:solidFill>
                <a:latin typeface="Arial" pitchFamily="34" charset="0"/>
                <a:ea typeface="Arial" pitchFamily="34" charset="-122"/>
                <a:cs typeface="Arial" pitchFamily="34" charset="-120"/>
              </a:rPr>
              <a:t>Time to a trusted answer and reporting effort</a:t>
            </a:r>
            <a:endParaRPr lang="en-US" sz="1530" dirty="0"/>
          </a:p>
          <a:p>
            <a:pPr indent="0" marL="0">
              <a:buNone/>
            </a:pPr>
            <a:r>
              <a:rPr lang="en-US" sz="1530" dirty="0">
                <a:solidFill>
                  <a:srgbClr val="52635E"/>
                </a:solidFill>
                <a:latin typeface="Arial" pitchFamily="34" charset="0"/>
                <a:ea typeface="Arial" pitchFamily="34" charset="-122"/>
                <a:cs typeface="Arial" pitchFamily="34" charset="-120"/>
              </a:rPr>
              <a:t>compared with the existing process.</a:t>
            </a:r>
            <a:endParaRPr lang="en-US" sz="1530" dirty="0"/>
          </a:p>
        </p:txBody>
      </p:sp>
      <p:sp>
        <p:nvSpPr>
          <p:cNvPr id="28" name="Shape 26"/>
          <p:cNvSpPr/>
          <p:nvPr/>
        </p:nvSpPr>
        <p:spPr>
          <a:xfrm>
            <a:off x="3794760" y="2962656"/>
            <a:ext cx="7781544" cy="0"/>
          </a:xfrm>
          <a:prstGeom prst="line">
            <a:avLst/>
          </a:prstGeom>
          <a:noFill/>
          <a:ln w="10160">
            <a:solidFill>
              <a:srgbClr val="D9E4DD"/>
            </a:solidFill>
            <a:prstDash val="solid"/>
          </a:ln>
        </p:spPr>
        <p:txBody>
          <a:bodyPr/>
          <a:p/>
        </p:txBody>
      </p:sp>
      <p:sp>
        <p:nvSpPr>
          <p:cNvPr id="29" name="Shape 27"/>
          <p:cNvSpPr/>
          <p:nvPr/>
        </p:nvSpPr>
        <p:spPr>
          <a:xfrm>
            <a:off x="3815791" y="3129991"/>
            <a:ext cx="378562" cy="378562"/>
          </a:xfrm>
          <a:prstGeom prst="ellipse">
            <a:avLst/>
          </a:prstGeom>
          <a:solidFill>
            <a:srgbClr val="F4F8F5"/>
          </a:solidFill>
          <a:ln w="17780">
            <a:solidFill>
              <a:srgbClr val="00843D"/>
            </a:solidFill>
            <a:prstDash val="solid"/>
          </a:ln>
        </p:spPr>
        <p:txBody>
          <a:bodyPr/>
          <a:p/>
        </p:txBody>
      </p:sp>
      <p:sp>
        <p:nvSpPr>
          <p:cNvPr id="30" name="Shape 28"/>
          <p:cNvSpPr/>
          <p:nvPr/>
        </p:nvSpPr>
        <p:spPr>
          <a:xfrm>
            <a:off x="3899916" y="3319272"/>
            <a:ext cx="73609" cy="73609"/>
          </a:xfrm>
          <a:prstGeom prst="line">
            <a:avLst/>
          </a:prstGeom>
          <a:noFill/>
          <a:ln w="26670">
            <a:solidFill>
              <a:srgbClr val="00843D"/>
            </a:solidFill>
            <a:prstDash val="solid"/>
          </a:ln>
        </p:spPr>
        <p:txBody>
          <a:bodyPr/>
          <a:p/>
        </p:txBody>
      </p:sp>
      <p:sp>
        <p:nvSpPr>
          <p:cNvPr id="31" name="Shape 29"/>
          <p:cNvSpPr/>
          <p:nvPr/>
        </p:nvSpPr>
        <p:spPr>
          <a:xfrm>
            <a:off x="3973525" y="3392881"/>
            <a:ext cx="147218" cy="-157734"/>
          </a:xfrm>
          <a:prstGeom prst="line">
            <a:avLst/>
          </a:prstGeom>
          <a:noFill/>
          <a:ln w="26670">
            <a:solidFill>
              <a:srgbClr val="00843D"/>
            </a:solidFill>
            <a:prstDash val="solid"/>
          </a:ln>
        </p:spPr>
        <p:txBody>
          <a:bodyPr/>
          <a:p/>
        </p:txBody>
      </p:sp>
      <p:sp>
        <p:nvSpPr>
          <p:cNvPr id="32" name="Text 30"/>
          <p:cNvSpPr/>
          <p:nvPr/>
        </p:nvSpPr>
        <p:spPr>
          <a:xfrm>
            <a:off x="4407408" y="2990088"/>
            <a:ext cx="6903720" cy="310896"/>
          </a:xfrm>
          <a:prstGeom prst="rect">
            <a:avLst/>
          </a:prstGeom>
          <a:noFill/>
          <a:ln/>
        </p:spPr>
        <p:txBody>
          <a:bodyPr wrap="square" lIns="0" tIns="0" rIns="0" bIns="0" rtlCol="0" anchor="ctr"/>
          <a:lstStyle/>
          <a:p>
            <a:pPr indent="0" marL="0">
              <a:buNone/>
            </a:pPr>
            <a:r>
              <a:rPr lang="en-US" sz="1900" b="1" dirty="0">
                <a:solidFill>
                  <a:srgbClr val="182425"/>
                </a:solidFill>
                <a:latin typeface="Arial" pitchFamily="34" charset="0"/>
                <a:ea typeface="Arial" pitchFamily="34" charset="-122"/>
                <a:cs typeface="Arial" pitchFamily="34" charset="-120"/>
              </a:rPr>
              <a:t>Answer quality</a:t>
            </a:r>
            <a:endParaRPr lang="en-US" sz="1900" dirty="0"/>
          </a:p>
        </p:txBody>
      </p:sp>
      <p:sp>
        <p:nvSpPr>
          <p:cNvPr id="33" name="Text 31"/>
          <p:cNvSpPr/>
          <p:nvPr/>
        </p:nvSpPr>
        <p:spPr>
          <a:xfrm>
            <a:off x="4407408" y="3374136"/>
            <a:ext cx="6894576" cy="457200"/>
          </a:xfrm>
          <a:prstGeom prst="rect">
            <a:avLst/>
          </a:prstGeom>
          <a:noFill/>
          <a:ln/>
        </p:spPr>
        <p:txBody>
          <a:bodyPr wrap="square" lIns="0" tIns="0" rIns="0" bIns="0" rtlCol="0" anchor="ctr"/>
          <a:lstStyle/>
          <a:p>
            <a:pPr indent="0" marL="0">
              <a:buNone/>
            </a:pPr>
            <a:r>
              <a:rPr lang="en-US" sz="1530" dirty="0">
                <a:solidFill>
                  <a:srgbClr val="52635E"/>
                </a:solidFill>
                <a:latin typeface="Arial" pitchFamily="34" charset="0"/>
                <a:ea typeface="Arial" pitchFamily="34" charset="-122"/>
                <a:cs typeface="Arial" pitchFamily="34" charset="-120"/>
              </a:rPr>
              <a:t>Agreement with approved results; preserve</a:t>
            </a:r>
            <a:endParaRPr lang="en-US" sz="1530" dirty="0"/>
          </a:p>
          <a:p>
            <a:pPr indent="0" marL="0">
              <a:buNone/>
            </a:pPr>
            <a:r>
              <a:rPr lang="en-US" sz="1530" dirty="0">
                <a:solidFill>
                  <a:srgbClr val="52635E"/>
                </a:solidFill>
                <a:latin typeface="Arial" pitchFamily="34" charset="0"/>
                <a:ea typeface="Arial" pitchFamily="34" charset="-122"/>
                <a:cs typeface="Arial" pitchFamily="34" charset="-120"/>
              </a:rPr>
              <a:t>values, dates, sources and warnings.</a:t>
            </a:r>
            <a:endParaRPr lang="en-US" sz="1530" dirty="0"/>
          </a:p>
        </p:txBody>
      </p:sp>
      <p:sp>
        <p:nvSpPr>
          <p:cNvPr id="34" name="Shape 32"/>
          <p:cNvSpPr/>
          <p:nvPr/>
        </p:nvSpPr>
        <p:spPr>
          <a:xfrm>
            <a:off x="3794760" y="3831336"/>
            <a:ext cx="7781544" cy="0"/>
          </a:xfrm>
          <a:prstGeom prst="line">
            <a:avLst/>
          </a:prstGeom>
          <a:noFill/>
          <a:ln w="10160">
            <a:solidFill>
              <a:srgbClr val="D9E4DD"/>
            </a:solidFill>
            <a:prstDash val="solid"/>
          </a:ln>
        </p:spPr>
        <p:txBody>
          <a:bodyPr/>
          <a:p/>
        </p:txBody>
      </p:sp>
      <p:sp>
        <p:nvSpPr>
          <p:cNvPr id="35" name="Shape 33"/>
          <p:cNvSpPr/>
          <p:nvPr/>
        </p:nvSpPr>
        <p:spPr>
          <a:xfrm rot="10800000">
            <a:off x="3847338" y="4009187"/>
            <a:ext cx="315468" cy="357530"/>
          </a:xfrm>
          <a:prstGeom prst="pentagon">
            <a:avLst/>
          </a:prstGeom>
          <a:solidFill>
            <a:srgbClr val="F4F8F5"/>
          </a:solidFill>
          <a:ln w="19050">
            <a:solidFill>
              <a:srgbClr val="00843D"/>
            </a:solidFill>
            <a:prstDash val="solid"/>
          </a:ln>
        </p:spPr>
        <p:txBody>
          <a:bodyPr/>
          <a:p/>
        </p:txBody>
      </p:sp>
      <p:sp>
        <p:nvSpPr>
          <p:cNvPr id="36" name="Shape 34"/>
          <p:cNvSpPr/>
          <p:nvPr/>
        </p:nvSpPr>
        <p:spPr>
          <a:xfrm>
            <a:off x="3920947" y="4177436"/>
            <a:ext cx="63094" cy="63094"/>
          </a:xfrm>
          <a:prstGeom prst="line">
            <a:avLst/>
          </a:prstGeom>
          <a:noFill/>
          <a:ln w="22860">
            <a:solidFill>
              <a:srgbClr val="00843D"/>
            </a:solidFill>
            <a:prstDash val="solid"/>
          </a:ln>
        </p:spPr>
        <p:txBody>
          <a:bodyPr/>
          <a:p/>
        </p:txBody>
      </p:sp>
      <p:sp>
        <p:nvSpPr>
          <p:cNvPr id="37" name="Shape 35"/>
          <p:cNvSpPr/>
          <p:nvPr/>
        </p:nvSpPr>
        <p:spPr>
          <a:xfrm>
            <a:off x="3984041" y="4240530"/>
            <a:ext cx="115672" cy="-136703"/>
          </a:xfrm>
          <a:prstGeom prst="line">
            <a:avLst/>
          </a:prstGeom>
          <a:noFill/>
          <a:ln w="22860">
            <a:solidFill>
              <a:srgbClr val="00843D"/>
            </a:solidFill>
            <a:prstDash val="solid"/>
          </a:ln>
        </p:spPr>
        <p:txBody>
          <a:bodyPr/>
          <a:p/>
        </p:txBody>
      </p:sp>
      <p:sp>
        <p:nvSpPr>
          <p:cNvPr id="38" name="Text 36"/>
          <p:cNvSpPr/>
          <p:nvPr/>
        </p:nvSpPr>
        <p:spPr>
          <a:xfrm>
            <a:off x="4407408" y="3858768"/>
            <a:ext cx="6903720" cy="310896"/>
          </a:xfrm>
          <a:prstGeom prst="rect">
            <a:avLst/>
          </a:prstGeom>
          <a:noFill/>
          <a:ln/>
        </p:spPr>
        <p:txBody>
          <a:bodyPr wrap="square" lIns="0" tIns="0" rIns="0" bIns="0" rtlCol="0" anchor="ctr"/>
          <a:lstStyle/>
          <a:p>
            <a:pPr indent="0" marL="0">
              <a:buNone/>
            </a:pPr>
            <a:r>
              <a:rPr lang="en-US" sz="1900" b="1" dirty="0">
                <a:solidFill>
                  <a:srgbClr val="182425"/>
                </a:solidFill>
                <a:latin typeface="Arial" pitchFamily="34" charset="0"/>
                <a:ea typeface="Arial" pitchFamily="34" charset="-122"/>
                <a:cs typeface="Arial" pitchFamily="34" charset="-120"/>
              </a:rPr>
              <a:t>Access &amp; privacy</a:t>
            </a:r>
            <a:endParaRPr lang="en-US" sz="1900" dirty="0"/>
          </a:p>
        </p:txBody>
      </p:sp>
      <p:sp>
        <p:nvSpPr>
          <p:cNvPr id="39" name="Text 37"/>
          <p:cNvSpPr/>
          <p:nvPr/>
        </p:nvSpPr>
        <p:spPr>
          <a:xfrm>
            <a:off x="4407408" y="4242816"/>
            <a:ext cx="6894576" cy="457200"/>
          </a:xfrm>
          <a:prstGeom prst="rect">
            <a:avLst/>
          </a:prstGeom>
          <a:noFill/>
          <a:ln/>
        </p:spPr>
        <p:txBody>
          <a:bodyPr wrap="square" lIns="0" tIns="0" rIns="0" bIns="0" rtlCol="0" anchor="ctr"/>
          <a:lstStyle/>
          <a:p>
            <a:pPr indent="0" marL="0">
              <a:buNone/>
            </a:pPr>
            <a:r>
              <a:rPr lang="en-US" sz="1530" dirty="0">
                <a:solidFill>
                  <a:srgbClr val="52635E"/>
                </a:solidFill>
                <a:latin typeface="Arial" pitchFamily="34" charset="0"/>
                <a:ea typeface="Arial" pitchFamily="34" charset="-122"/>
                <a:cs typeface="Arial" pitchFamily="34" charset="-120"/>
              </a:rPr>
              <a:t>No unauthorized disclosure in the agreed tests;</a:t>
            </a:r>
            <a:endParaRPr lang="en-US" sz="1530" dirty="0"/>
          </a:p>
          <a:p>
            <a:pPr indent="0" marL="0">
              <a:buNone/>
            </a:pPr>
            <a:r>
              <a:rPr lang="en-US" sz="1530" dirty="0">
                <a:solidFill>
                  <a:srgbClr val="52635E"/>
                </a:solidFill>
                <a:latin typeface="Arial" pitchFamily="34" charset="0"/>
                <a:ea typeface="Arial" pitchFamily="34" charset="-122"/>
                <a:cs typeface="Arial" pitchFamily="34" charset="-120"/>
              </a:rPr>
              <a:t>use only approved model payloads.</a:t>
            </a:r>
            <a:endParaRPr lang="en-US" sz="1530" dirty="0"/>
          </a:p>
        </p:txBody>
      </p:sp>
      <p:sp>
        <p:nvSpPr>
          <p:cNvPr id="40" name="Shape 38"/>
          <p:cNvSpPr/>
          <p:nvPr/>
        </p:nvSpPr>
        <p:spPr>
          <a:xfrm>
            <a:off x="3794760" y="4700016"/>
            <a:ext cx="7781544" cy="0"/>
          </a:xfrm>
          <a:prstGeom prst="line">
            <a:avLst/>
          </a:prstGeom>
          <a:noFill/>
          <a:ln w="10160">
            <a:solidFill>
              <a:srgbClr val="D9E4DD"/>
            </a:solidFill>
            <a:prstDash val="solid"/>
          </a:ln>
        </p:spPr>
        <p:txBody>
          <a:bodyPr/>
          <a:p/>
        </p:txBody>
      </p:sp>
      <p:sp>
        <p:nvSpPr>
          <p:cNvPr id="41" name="Shape 39"/>
          <p:cNvSpPr/>
          <p:nvPr/>
        </p:nvSpPr>
        <p:spPr>
          <a:xfrm>
            <a:off x="3836822" y="4888382"/>
            <a:ext cx="0" cy="336499"/>
          </a:xfrm>
          <a:prstGeom prst="line">
            <a:avLst/>
          </a:prstGeom>
          <a:noFill/>
          <a:ln w="20320">
            <a:solidFill>
              <a:srgbClr val="00843D"/>
            </a:solidFill>
            <a:prstDash val="solid"/>
          </a:ln>
        </p:spPr>
        <p:txBody>
          <a:bodyPr/>
          <a:p/>
        </p:txBody>
      </p:sp>
      <p:sp>
        <p:nvSpPr>
          <p:cNvPr id="42" name="Shape 40"/>
          <p:cNvSpPr/>
          <p:nvPr/>
        </p:nvSpPr>
        <p:spPr>
          <a:xfrm>
            <a:off x="3836822" y="5224882"/>
            <a:ext cx="357530" cy="0"/>
          </a:xfrm>
          <a:prstGeom prst="line">
            <a:avLst/>
          </a:prstGeom>
          <a:noFill/>
          <a:ln w="20320">
            <a:solidFill>
              <a:srgbClr val="00843D"/>
            </a:solidFill>
            <a:prstDash val="solid"/>
          </a:ln>
        </p:spPr>
        <p:txBody>
          <a:bodyPr/>
          <a:p/>
        </p:txBody>
      </p:sp>
      <p:sp>
        <p:nvSpPr>
          <p:cNvPr id="43" name="Shape 41"/>
          <p:cNvSpPr/>
          <p:nvPr/>
        </p:nvSpPr>
        <p:spPr>
          <a:xfrm>
            <a:off x="3889400" y="5077663"/>
            <a:ext cx="63094" cy="126187"/>
          </a:xfrm>
          <a:prstGeom prst="rect">
            <a:avLst/>
          </a:prstGeom>
          <a:solidFill>
            <a:srgbClr val="EAF4EE"/>
          </a:solidFill>
          <a:ln w="12700">
            <a:solidFill>
              <a:srgbClr val="00843D"/>
            </a:solidFill>
            <a:prstDash val="solid"/>
          </a:ln>
        </p:spPr>
        <p:txBody>
          <a:bodyPr/>
          <a:p/>
        </p:txBody>
      </p:sp>
      <p:sp>
        <p:nvSpPr>
          <p:cNvPr id="44" name="Shape 42"/>
          <p:cNvSpPr/>
          <p:nvPr/>
        </p:nvSpPr>
        <p:spPr>
          <a:xfrm>
            <a:off x="4005072" y="5004054"/>
            <a:ext cx="63094" cy="199796"/>
          </a:xfrm>
          <a:prstGeom prst="rect">
            <a:avLst/>
          </a:prstGeom>
          <a:solidFill>
            <a:srgbClr val="EAF4EE"/>
          </a:solidFill>
          <a:ln w="12700">
            <a:solidFill>
              <a:srgbClr val="00843D"/>
            </a:solidFill>
            <a:prstDash val="solid"/>
          </a:ln>
        </p:spPr>
        <p:txBody>
          <a:bodyPr/>
          <a:p/>
        </p:txBody>
      </p:sp>
      <p:sp>
        <p:nvSpPr>
          <p:cNvPr id="45" name="Shape 43"/>
          <p:cNvSpPr/>
          <p:nvPr/>
        </p:nvSpPr>
        <p:spPr>
          <a:xfrm>
            <a:off x="4120744" y="4919929"/>
            <a:ext cx="63094" cy="283921"/>
          </a:xfrm>
          <a:prstGeom prst="rect">
            <a:avLst/>
          </a:prstGeom>
          <a:solidFill>
            <a:srgbClr val="EAF4EE"/>
          </a:solidFill>
          <a:ln w="12700">
            <a:solidFill>
              <a:srgbClr val="00843D"/>
            </a:solidFill>
            <a:prstDash val="solid"/>
          </a:ln>
        </p:spPr>
        <p:txBody>
          <a:bodyPr/>
          <a:p/>
        </p:txBody>
      </p:sp>
      <p:sp>
        <p:nvSpPr>
          <p:cNvPr id="46" name="Text 44"/>
          <p:cNvSpPr/>
          <p:nvPr/>
        </p:nvSpPr>
        <p:spPr>
          <a:xfrm>
            <a:off x="4407408" y="4727448"/>
            <a:ext cx="6903720" cy="310896"/>
          </a:xfrm>
          <a:prstGeom prst="rect">
            <a:avLst/>
          </a:prstGeom>
          <a:noFill/>
          <a:ln/>
        </p:spPr>
        <p:txBody>
          <a:bodyPr wrap="square" lIns="0" tIns="0" rIns="0" bIns="0" rtlCol="0" anchor="ctr"/>
          <a:lstStyle/>
          <a:p>
            <a:pPr indent="0" marL="0">
              <a:buNone/>
            </a:pPr>
            <a:r>
              <a:rPr lang="en-US" sz="1900" b="1" dirty="0">
                <a:solidFill>
                  <a:srgbClr val="182425"/>
                </a:solidFill>
                <a:latin typeface="Arial" pitchFamily="34" charset="0"/>
                <a:ea typeface="Arial" pitchFamily="34" charset="-122"/>
                <a:cs typeface="Arial" pitchFamily="34" charset="-120"/>
              </a:rPr>
              <a:t>Operational fit</a:t>
            </a:r>
            <a:endParaRPr lang="en-US" sz="1900" dirty="0"/>
          </a:p>
        </p:txBody>
      </p:sp>
      <p:sp>
        <p:nvSpPr>
          <p:cNvPr id="47" name="Text 45"/>
          <p:cNvSpPr/>
          <p:nvPr/>
        </p:nvSpPr>
        <p:spPr>
          <a:xfrm>
            <a:off x="4407408" y="5111496"/>
            <a:ext cx="6894576" cy="457200"/>
          </a:xfrm>
          <a:prstGeom prst="rect">
            <a:avLst/>
          </a:prstGeom>
          <a:noFill/>
          <a:ln/>
        </p:spPr>
        <p:txBody>
          <a:bodyPr wrap="square" lIns="0" tIns="0" rIns="0" bIns="0" rtlCol="0" anchor="ctr"/>
          <a:lstStyle/>
          <a:p>
            <a:pPr indent="0" marL="0">
              <a:buNone/>
            </a:pPr>
            <a:r>
              <a:rPr lang="en-US" sz="1500" dirty="0">
                <a:solidFill>
                  <a:srgbClr val="52635E"/>
                </a:solidFill>
                <a:latin typeface="Arial" pitchFamily="34" charset="0"/>
                <a:ea typeface="Arial" pitchFamily="34" charset="-122"/>
                <a:cs typeface="Arial" pitchFamily="34" charset="-120"/>
              </a:rPr>
              <a:t>Response time, freshness, source impact and total cost</a:t>
            </a:r>
            <a:endParaRPr lang="en-US" sz="1530" dirty="0"/>
          </a:p>
          <a:p>
            <a:pPr indent="0" marL="0">
              <a:buNone/>
            </a:pPr>
            <a:r>
              <a:rPr lang="en-US" sz="1500" dirty="0">
                <a:solidFill>
                  <a:srgbClr val="52635E"/>
                </a:solidFill>
                <a:latin typeface="Arial" pitchFamily="34" charset="0"/>
                <a:ea typeface="Arial" pitchFamily="34" charset="-122"/>
                <a:cs typeface="Arial" pitchFamily="34" charset="-120"/>
              </a:rPr>
              <a:t>for each candidate path under representative peak use.</a:t>
            </a:r>
          </a:p>
        </p:txBody>
      </p:sp>
      <p:sp>
        <p:nvSpPr>
          <p:cNvPr id="48" name="Shape 46"/>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49" name="Shape 47"/>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50" name="Text 48"/>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PILOT EXIT</a:t>
            </a:r>
            <a:endParaRPr lang="en-US" sz="950" dirty="0"/>
          </a:p>
        </p:txBody>
      </p:sp>
      <p:sp>
        <p:nvSpPr>
          <p:cNvPr id="51" name="Text 49"/>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Expand, adjust or pause based on evidence—not on feature count alone.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DECISIONS REQUIRED</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Six decisions turn integration options into a delivery plan.</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Confirm the priorities and accountable functions; implementation remains separately gated.</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S3–S7 · proposed decisions</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13</a:t>
            </a:r>
            <a:endParaRPr lang="en-US" sz="1050" dirty="0"/>
          </a:p>
        </p:txBody>
      </p:sp>
      <p:sp>
        <p:nvSpPr>
          <p:cNvPr id="12" name="Rectangle 11"/>
          <p:cNvSpPr/>
          <p:nvPr/>
        </p:nvSpPr>
        <p:spPr>
          <a:xfrm>
            <a:off x="594360" y="2057400"/>
            <a:ext cx="11000232" cy="374904"/>
          </a:xfrm>
          <a:prstGeom prst="rect">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2157984"/>
            <a:ext cx="2194560" cy="155448"/>
          </a:xfrm>
          <a:prstGeom prst="rect">
            <a:avLst/>
          </a:prstGeom>
          <a:noFill/>
        </p:spPr>
        <p:txBody>
          <a:bodyPr wrap="square" lIns="0" rIns="0" tIns="0" bIns="0" anchor="t">
            <a:spAutoFit/>
          </a:bodyPr>
          <a:lstStyle/>
          <a:p>
            <a:pPr algn="l">
              <a:lnSpc>
                <a:spcPct val="108000"/>
              </a:lnSpc>
              <a:spcBef>
                <a:spcPts val="0"/>
              </a:spcBef>
              <a:spcAft>
                <a:spcPts val="0"/>
              </a:spcAft>
            </a:pPr>
            <a:r>
              <a:rPr sz="1000" b="1">
                <a:solidFill>
                  <a:srgbClr val="FFFFFF"/>
                </a:solidFill>
                <a:latin typeface="Arial"/>
              </a:rPr>
              <a:t>DECISION</a:t>
            </a:r>
          </a:p>
        </p:txBody>
      </p:sp>
      <p:sp>
        <p:nvSpPr>
          <p:cNvPr id="14" name="TextBox 13"/>
          <p:cNvSpPr txBox="1"/>
          <p:nvPr/>
        </p:nvSpPr>
        <p:spPr>
          <a:xfrm>
            <a:off x="3136392" y="2157984"/>
            <a:ext cx="5669280" cy="155448"/>
          </a:xfrm>
          <a:prstGeom prst="rect">
            <a:avLst/>
          </a:prstGeom>
          <a:noFill/>
        </p:spPr>
        <p:txBody>
          <a:bodyPr wrap="square" lIns="0" rIns="0" tIns="0" bIns="0" anchor="t">
            <a:spAutoFit/>
          </a:bodyPr>
          <a:lstStyle/>
          <a:p>
            <a:pPr algn="l">
              <a:lnSpc>
                <a:spcPct val="108000"/>
              </a:lnSpc>
              <a:spcBef>
                <a:spcPts val="0"/>
              </a:spcBef>
              <a:spcAft>
                <a:spcPts val="0"/>
              </a:spcAft>
            </a:pPr>
            <a:r>
              <a:rPr sz="1000" b="1">
                <a:solidFill>
                  <a:srgbClr val="FFFFFF"/>
                </a:solidFill>
                <a:latin typeface="Arial"/>
              </a:rPr>
              <a:t>LEADERSHIP ACTION</a:t>
            </a:r>
          </a:p>
        </p:txBody>
      </p:sp>
      <p:sp>
        <p:nvSpPr>
          <p:cNvPr id="15" name="TextBox 14"/>
          <p:cNvSpPr txBox="1"/>
          <p:nvPr/>
        </p:nvSpPr>
        <p:spPr>
          <a:xfrm>
            <a:off x="9144000" y="2157984"/>
            <a:ext cx="2286000" cy="155448"/>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FFFFFF"/>
                </a:solidFill>
                <a:latin typeface="Arial"/>
              </a:rPr>
              <a:t>ACCOUNTABLE FUNCTIONS</a:t>
            </a:r>
          </a:p>
        </p:txBody>
      </p:sp>
      <p:sp>
        <p:nvSpPr>
          <p:cNvPr id="16" name="Rectangle 15"/>
          <p:cNvSpPr/>
          <p:nvPr/>
        </p:nvSpPr>
        <p:spPr>
          <a:xfrm>
            <a:off x="594360" y="2432304"/>
            <a:ext cx="11000232" cy="525780"/>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256032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01</a:t>
            </a:r>
          </a:p>
        </p:txBody>
      </p:sp>
      <p:sp>
        <p:nvSpPr>
          <p:cNvPr id="18" name="TextBox 17"/>
          <p:cNvSpPr txBox="1"/>
          <p:nvPr/>
        </p:nvSpPr>
        <p:spPr>
          <a:xfrm>
            <a:off x="1307592" y="249814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Pilot focus</a:t>
            </a:r>
          </a:p>
          <a:p>
            <a:pPr algn="l">
              <a:lnSpc>
                <a:spcPct val="108000"/>
              </a:lnSpc>
              <a:spcBef>
                <a:spcPts val="0"/>
              </a:spcBef>
              <a:spcAft>
                <a:spcPts val="0"/>
              </a:spcAft>
            </a:pPr>
            <a:r>
              <a:rPr sz="1330" b="1">
                <a:solidFill>
                  <a:srgbClr val="182425"/>
                </a:solidFill>
                <a:latin typeface="Arial"/>
              </a:rPr>
              <a:t>&amp; capacity</a:t>
            </a:r>
          </a:p>
        </p:txBody>
      </p:sp>
      <p:sp>
        <p:nvSpPr>
          <p:cNvPr id="19" name="TextBox 18"/>
          <p:cNvSpPr txBox="1"/>
          <p:nvPr/>
        </p:nvSpPr>
        <p:spPr>
          <a:xfrm>
            <a:off x="3136392" y="249631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Approve pilot scope and bounded integration discovery;</a:t>
            </a:r>
          </a:p>
          <a:p>
            <a:pPr algn="l">
              <a:lnSpc>
                <a:spcPct val="108000"/>
              </a:lnSpc>
              <a:spcBef>
                <a:spcPts val="0"/>
              </a:spcBef>
              <a:spcAft>
                <a:spcPts val="0"/>
              </a:spcAft>
            </a:pPr>
            <a:r>
              <a:rPr sz="1310" b="0">
                <a:solidFill>
                  <a:srgbClr val="182425"/>
                </a:solidFill>
                <a:latin typeface="Arial"/>
              </a:rPr>
              <a:t>confirm capacity and success measures.</a:t>
            </a:r>
          </a:p>
        </p:txBody>
      </p:sp>
      <p:sp>
        <p:nvSpPr>
          <p:cNvPr id="20" name="TextBox 19"/>
          <p:cNvSpPr txBox="1"/>
          <p:nvPr/>
        </p:nvSpPr>
        <p:spPr>
          <a:xfrm>
            <a:off x="9144000" y="250545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Business sponsor</a:t>
            </a:r>
          </a:p>
          <a:p>
            <a:pPr algn="l">
              <a:lnSpc>
                <a:spcPct val="108000"/>
              </a:lnSpc>
              <a:spcBef>
                <a:spcPts val="0"/>
              </a:spcBef>
              <a:spcAft>
                <a:spcPts val="0"/>
              </a:spcAft>
            </a:pPr>
            <a:r>
              <a:rPr sz="1170" b="1">
                <a:solidFill>
                  <a:srgbClr val="005238"/>
                </a:solidFill>
                <a:latin typeface="Arial"/>
              </a:rPr>
              <a:t>&amp; Product</a:t>
            </a:r>
          </a:p>
        </p:txBody>
      </p:sp>
      <p:cxnSp>
        <p:nvCxnSpPr>
          <p:cNvPr id="21" name="Connector 20"/>
          <p:cNvCxnSpPr/>
          <p:nvPr/>
        </p:nvCxnSpPr>
        <p:spPr>
          <a:xfrm>
            <a:off x="594360" y="295808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94360" y="2958084"/>
            <a:ext cx="1100023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308610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02</a:t>
            </a:r>
          </a:p>
        </p:txBody>
      </p:sp>
      <p:sp>
        <p:nvSpPr>
          <p:cNvPr id="24" name="TextBox 23"/>
          <p:cNvSpPr txBox="1"/>
          <p:nvPr/>
        </p:nvSpPr>
        <p:spPr>
          <a:xfrm>
            <a:off x="1307592" y="302392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Genie</a:t>
            </a:r>
          </a:p>
          <a:p>
            <a:pPr algn="l">
              <a:lnSpc>
                <a:spcPct val="108000"/>
              </a:lnSpc>
              <a:spcBef>
                <a:spcPts val="0"/>
              </a:spcBef>
              <a:spcAft>
                <a:spcPts val="0"/>
              </a:spcAft>
            </a:pPr>
            <a:r>
              <a:rPr sz="1330" b="1">
                <a:solidFill>
                  <a:srgbClr val="182425"/>
                </a:solidFill>
                <a:latin typeface="Arial"/>
              </a:rPr>
              <a:t>evaluation</a:t>
            </a:r>
          </a:p>
        </p:txBody>
      </p:sp>
      <p:sp>
        <p:nvSpPr>
          <p:cNvPr id="25" name="TextBox 24"/>
          <p:cNvSpPr txBox="1"/>
          <p:nvPr/>
        </p:nvSpPr>
        <p:spPr>
          <a:xfrm>
            <a:off x="3136392" y="302209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Choose one domain and agreed comparison criteria;</a:t>
            </a:r>
          </a:p>
          <a:p>
            <a:pPr algn="l">
              <a:lnSpc>
                <a:spcPct val="108000"/>
              </a:lnSpc>
              <a:spcBef>
                <a:spcPts val="0"/>
              </a:spcBef>
              <a:spcAft>
                <a:spcPts val="0"/>
              </a:spcAft>
            </a:pPr>
            <a:r>
              <a:rPr sz="1310" b="0">
                <a:solidFill>
                  <a:srgbClr val="182425"/>
                </a:solidFill>
                <a:latin typeface="Arial"/>
              </a:rPr>
              <a:t>sponsor the assessment before any rollout decision.</a:t>
            </a:r>
          </a:p>
        </p:txBody>
      </p:sp>
      <p:sp>
        <p:nvSpPr>
          <p:cNvPr id="26" name="TextBox 25"/>
          <p:cNvSpPr txBox="1"/>
          <p:nvPr/>
        </p:nvSpPr>
        <p:spPr>
          <a:xfrm>
            <a:off x="9144000" y="303123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Product</a:t>
            </a:r>
          </a:p>
          <a:p>
            <a:pPr algn="l">
              <a:lnSpc>
                <a:spcPct val="108000"/>
              </a:lnSpc>
              <a:spcBef>
                <a:spcPts val="0"/>
              </a:spcBef>
              <a:spcAft>
                <a:spcPts val="0"/>
              </a:spcAft>
            </a:pPr>
            <a:r>
              <a:rPr sz="1170" b="1">
                <a:solidFill>
                  <a:srgbClr val="005238"/>
                </a:solidFill>
                <a:latin typeface="Arial"/>
              </a:rPr>
              <a:t>&amp; Architecture</a:t>
            </a:r>
          </a:p>
        </p:txBody>
      </p:sp>
      <p:cxnSp>
        <p:nvCxnSpPr>
          <p:cNvPr id="27" name="Connector 26"/>
          <p:cNvCxnSpPr/>
          <p:nvPr/>
        </p:nvCxnSpPr>
        <p:spPr>
          <a:xfrm>
            <a:off x="594360" y="348386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94360" y="3483864"/>
            <a:ext cx="11000232" cy="525780"/>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361188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03</a:t>
            </a:r>
          </a:p>
        </p:txBody>
      </p:sp>
      <p:sp>
        <p:nvSpPr>
          <p:cNvPr id="30" name="TextBox 29"/>
          <p:cNvSpPr txBox="1"/>
          <p:nvPr/>
        </p:nvSpPr>
        <p:spPr>
          <a:xfrm>
            <a:off x="1307592" y="354970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On-premises</a:t>
            </a:r>
          </a:p>
          <a:p>
            <a:pPr algn="l">
              <a:lnSpc>
                <a:spcPct val="108000"/>
              </a:lnSpc>
              <a:spcBef>
                <a:spcPts val="0"/>
              </a:spcBef>
              <a:spcAft>
                <a:spcPts val="0"/>
              </a:spcAft>
            </a:pPr>
            <a:r>
              <a:rPr sz="1330" b="1">
                <a:solidFill>
                  <a:srgbClr val="182425"/>
                </a:solidFill>
                <a:latin typeface="Arial"/>
              </a:rPr>
              <a:t>priority</a:t>
            </a:r>
          </a:p>
        </p:txBody>
      </p:sp>
      <p:sp>
        <p:nvSpPr>
          <p:cNvPr id="31" name="TextBox 30"/>
          <p:cNvSpPr txBox="1"/>
          <p:nvPr/>
        </p:nvSpPr>
        <p:spPr>
          <a:xfrm>
            <a:off x="3136392" y="354787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Name the first use case and source owner;</a:t>
            </a:r>
          </a:p>
          <a:p>
            <a:pPr algn="l">
              <a:lnSpc>
                <a:spcPct val="108000"/>
              </a:lnSpc>
              <a:spcBef>
                <a:spcPts val="0"/>
              </a:spcBef>
              <a:spcAft>
                <a:spcPts val="0"/>
              </a:spcAft>
            </a:pPr>
            <a:r>
              <a:rPr sz="1310" b="0">
                <a:solidFill>
                  <a:srgbClr val="182425"/>
                </a:solidFill>
                <a:latin typeface="Arial"/>
              </a:rPr>
              <a:t>confirm the access path and workload budget.</a:t>
            </a:r>
          </a:p>
        </p:txBody>
      </p:sp>
      <p:sp>
        <p:nvSpPr>
          <p:cNvPr id="32" name="TextBox 31"/>
          <p:cNvSpPr txBox="1"/>
          <p:nvPr/>
        </p:nvSpPr>
        <p:spPr>
          <a:xfrm>
            <a:off x="9144000" y="355701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Data owners</a:t>
            </a:r>
          </a:p>
          <a:p>
            <a:pPr algn="l">
              <a:lnSpc>
                <a:spcPct val="108000"/>
              </a:lnSpc>
              <a:spcBef>
                <a:spcPts val="0"/>
              </a:spcBef>
              <a:spcAft>
                <a:spcPts val="0"/>
              </a:spcAft>
            </a:pPr>
            <a:r>
              <a:rPr sz="1170" b="1">
                <a:solidFill>
                  <a:srgbClr val="005238"/>
                </a:solidFill>
                <a:latin typeface="Arial"/>
              </a:rPr>
              <a:t>&amp; Platform</a:t>
            </a:r>
          </a:p>
        </p:txBody>
      </p:sp>
      <p:cxnSp>
        <p:nvCxnSpPr>
          <p:cNvPr id="33" name="Connector 32"/>
          <p:cNvCxnSpPr/>
          <p:nvPr/>
        </p:nvCxnSpPr>
        <p:spPr>
          <a:xfrm>
            <a:off x="594360" y="400964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94360" y="4009644"/>
            <a:ext cx="1100023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4137659"/>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04</a:t>
            </a:r>
          </a:p>
        </p:txBody>
      </p:sp>
      <p:sp>
        <p:nvSpPr>
          <p:cNvPr id="36" name="TextBox 35"/>
          <p:cNvSpPr txBox="1"/>
          <p:nvPr/>
        </p:nvSpPr>
        <p:spPr>
          <a:xfrm>
            <a:off x="1307592" y="407548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Collibra</a:t>
            </a:r>
          </a:p>
          <a:p>
            <a:pPr algn="l">
              <a:lnSpc>
                <a:spcPct val="108000"/>
              </a:lnSpc>
              <a:spcBef>
                <a:spcPts val="0"/>
              </a:spcBef>
              <a:spcAft>
                <a:spcPts val="0"/>
              </a:spcAft>
            </a:pPr>
            <a:r>
              <a:rPr sz="1330" b="1">
                <a:solidFill>
                  <a:srgbClr val="182425"/>
                </a:solidFill>
                <a:latin typeface="Arial"/>
              </a:rPr>
              <a:t>&amp; semantics</a:t>
            </a:r>
          </a:p>
        </p:txBody>
      </p:sp>
      <p:sp>
        <p:nvSpPr>
          <p:cNvPr id="37" name="TextBox 36"/>
          <p:cNvSpPr txBox="1"/>
          <p:nvPr/>
        </p:nvSpPr>
        <p:spPr>
          <a:xfrm>
            <a:off x="3136392" y="407365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Name definition and API owners; approve the</a:t>
            </a:r>
          </a:p>
          <a:p>
            <a:pPr algn="l">
              <a:lnSpc>
                <a:spcPct val="108000"/>
              </a:lnSpc>
              <a:spcBef>
                <a:spcPts val="0"/>
              </a:spcBef>
              <a:spcAft>
                <a:spcPts val="0"/>
              </a:spcAft>
            </a:pPr>
            <a:r>
              <a:rPr sz="1310" b="0">
                <a:solidFill>
                  <a:srgbClr val="182425"/>
                </a:solidFill>
                <a:latin typeface="Arial"/>
              </a:rPr>
              <a:t>read-only metadata contract and refresh expectations.</a:t>
            </a:r>
          </a:p>
        </p:txBody>
      </p:sp>
      <p:sp>
        <p:nvSpPr>
          <p:cNvPr id="38" name="TextBox 37"/>
          <p:cNvSpPr txBox="1"/>
          <p:nvPr/>
        </p:nvSpPr>
        <p:spPr>
          <a:xfrm>
            <a:off x="9144000" y="408279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Data Governance</a:t>
            </a:r>
          </a:p>
          <a:p>
            <a:pPr algn="l">
              <a:lnSpc>
                <a:spcPct val="108000"/>
              </a:lnSpc>
              <a:spcBef>
                <a:spcPts val="0"/>
              </a:spcBef>
              <a:spcAft>
                <a:spcPts val="0"/>
              </a:spcAft>
            </a:pPr>
            <a:r>
              <a:rPr sz="1170" b="1">
                <a:solidFill>
                  <a:srgbClr val="005238"/>
                </a:solidFill>
                <a:latin typeface="Arial"/>
              </a:rPr>
              <a:t>&amp; Platform</a:t>
            </a:r>
          </a:p>
        </p:txBody>
      </p:sp>
      <p:cxnSp>
        <p:nvCxnSpPr>
          <p:cNvPr id="39" name="Connector 38"/>
          <p:cNvCxnSpPr/>
          <p:nvPr/>
        </p:nvCxnSpPr>
        <p:spPr>
          <a:xfrm>
            <a:off x="594360" y="453542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94360" y="4535424"/>
            <a:ext cx="11000232" cy="525780"/>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5528" y="466344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05</a:t>
            </a:r>
          </a:p>
        </p:txBody>
      </p:sp>
      <p:sp>
        <p:nvSpPr>
          <p:cNvPr id="42" name="TextBox 41"/>
          <p:cNvSpPr txBox="1"/>
          <p:nvPr/>
        </p:nvSpPr>
        <p:spPr>
          <a:xfrm>
            <a:off x="1307592" y="460126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Controls</a:t>
            </a:r>
          </a:p>
          <a:p>
            <a:pPr algn="l">
              <a:lnSpc>
                <a:spcPct val="108000"/>
              </a:lnSpc>
              <a:spcBef>
                <a:spcPts val="0"/>
              </a:spcBef>
              <a:spcAft>
                <a:spcPts val="0"/>
              </a:spcAft>
            </a:pPr>
            <a:r>
              <a:rPr sz="1330" b="1">
                <a:solidFill>
                  <a:srgbClr val="182425"/>
                </a:solidFill>
                <a:latin typeface="Arial"/>
              </a:rPr>
              <a:t>&amp; privacy</a:t>
            </a:r>
          </a:p>
        </p:txBody>
      </p:sp>
      <p:sp>
        <p:nvSpPr>
          <p:cNvPr id="43" name="TextBox 42"/>
          <p:cNvSpPr txBox="1"/>
          <p:nvPr/>
        </p:nvSpPr>
        <p:spPr>
          <a:xfrm>
            <a:off x="3136392" y="459943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Agree approval/change policies and permitted AI use;</a:t>
            </a:r>
          </a:p>
          <a:p>
            <a:pPr algn="l">
              <a:lnSpc>
                <a:spcPct val="108000"/>
              </a:lnSpc>
              <a:spcBef>
                <a:spcPts val="0"/>
              </a:spcBef>
              <a:spcAft>
                <a:spcPts val="0"/>
              </a:spcAft>
            </a:pPr>
            <a:r>
              <a:rPr sz="1310" b="0">
                <a:solidFill>
                  <a:srgbClr val="182425"/>
                </a:solidFill>
                <a:latin typeface="Arial"/>
              </a:rPr>
              <a:t>keep result-formatting AI off until approved.</a:t>
            </a:r>
          </a:p>
        </p:txBody>
      </p:sp>
      <p:sp>
        <p:nvSpPr>
          <p:cNvPr id="44" name="TextBox 43"/>
          <p:cNvSpPr txBox="1"/>
          <p:nvPr/>
        </p:nvSpPr>
        <p:spPr>
          <a:xfrm>
            <a:off x="9144000" y="460857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Governance / Product</a:t>
            </a:r>
          </a:p>
          <a:p>
            <a:pPr algn="l">
              <a:lnSpc>
                <a:spcPct val="108000"/>
              </a:lnSpc>
              <a:spcBef>
                <a:spcPts val="0"/>
              </a:spcBef>
              <a:spcAft>
                <a:spcPts val="0"/>
              </a:spcAft>
            </a:pPr>
            <a:r>
              <a:rPr sz="1170" b="1">
                <a:solidFill>
                  <a:srgbClr val="005238"/>
                </a:solidFill>
                <a:latin typeface="Arial"/>
              </a:rPr>
              <a:t>&amp; Privacy / Security</a:t>
            </a:r>
          </a:p>
        </p:txBody>
      </p:sp>
      <p:cxnSp>
        <p:nvCxnSpPr>
          <p:cNvPr id="45" name="Connector 44"/>
          <p:cNvCxnSpPr/>
          <p:nvPr/>
        </p:nvCxnSpPr>
        <p:spPr>
          <a:xfrm>
            <a:off x="594360" y="506120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594360" y="5061204"/>
            <a:ext cx="11000232" cy="525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5528" y="5189220"/>
            <a:ext cx="374904" cy="274320"/>
          </a:xfrm>
          <a:prstGeom prst="rect">
            <a:avLst/>
          </a:prstGeom>
          <a:noFill/>
        </p:spPr>
        <p:txBody>
          <a:bodyPr wrap="square" lIns="0" rIns="0" tIns="0" bIns="0" anchor="t">
            <a:spAutoFit/>
          </a:bodyPr>
          <a:lstStyle/>
          <a:p>
            <a:pPr algn="l">
              <a:lnSpc>
                <a:spcPct val="108000"/>
              </a:lnSpc>
              <a:spcBef>
                <a:spcPts val="0"/>
              </a:spcBef>
              <a:spcAft>
                <a:spcPts val="0"/>
              </a:spcAft>
            </a:pPr>
            <a:r>
              <a:rPr sz="1800" b="1">
                <a:solidFill>
                  <a:srgbClr val="008A38"/>
                </a:solidFill>
                <a:latin typeface="Arial"/>
              </a:rPr>
              <a:t>06</a:t>
            </a:r>
          </a:p>
        </p:txBody>
      </p:sp>
      <p:sp>
        <p:nvSpPr>
          <p:cNvPr id="48" name="TextBox 47"/>
          <p:cNvSpPr txBox="1"/>
          <p:nvPr/>
        </p:nvSpPr>
        <p:spPr>
          <a:xfrm>
            <a:off x="1307592" y="5127040"/>
            <a:ext cx="1655064" cy="393192"/>
          </a:xfrm>
          <a:prstGeom prst="rect">
            <a:avLst/>
          </a:prstGeom>
          <a:noFill/>
        </p:spPr>
        <p:txBody>
          <a:bodyPr wrap="square" lIns="0" rIns="0" tIns="0" bIns="0" anchor="t">
            <a:spAutoFit/>
          </a:bodyPr>
          <a:lstStyle/>
          <a:p>
            <a:pPr algn="l">
              <a:lnSpc>
                <a:spcPct val="108000"/>
              </a:lnSpc>
              <a:spcBef>
                <a:spcPts val="0"/>
              </a:spcBef>
              <a:spcAft>
                <a:spcPts val="0"/>
              </a:spcAft>
            </a:pPr>
            <a:r>
              <a:rPr sz="1330" b="1">
                <a:solidFill>
                  <a:srgbClr val="182425"/>
                </a:solidFill>
                <a:latin typeface="Arial"/>
              </a:rPr>
              <a:t>Operations</a:t>
            </a:r>
          </a:p>
          <a:p>
            <a:pPr algn="l">
              <a:lnSpc>
                <a:spcPct val="108000"/>
              </a:lnSpc>
              <a:spcBef>
                <a:spcPts val="0"/>
              </a:spcBef>
              <a:spcAft>
                <a:spcPts val="0"/>
              </a:spcAft>
            </a:pPr>
            <a:r>
              <a:rPr sz="1330" b="1">
                <a:solidFill>
                  <a:srgbClr val="182425"/>
                </a:solidFill>
                <a:latin typeface="Arial"/>
              </a:rPr>
              <a:t>&amp; release</a:t>
            </a:r>
          </a:p>
        </p:txBody>
      </p:sp>
      <p:sp>
        <p:nvSpPr>
          <p:cNvPr id="49" name="TextBox 48"/>
          <p:cNvSpPr txBox="1"/>
          <p:nvPr/>
        </p:nvSpPr>
        <p:spPr>
          <a:xfrm>
            <a:off x="3136392" y="5125212"/>
            <a:ext cx="5650992" cy="402336"/>
          </a:xfrm>
          <a:prstGeom prst="rect">
            <a:avLst/>
          </a:prstGeom>
          <a:noFill/>
        </p:spPr>
        <p:txBody>
          <a:bodyPr wrap="square" lIns="0" rIns="0" tIns="0" bIns="0" anchor="t">
            <a:spAutoFit/>
          </a:bodyPr>
          <a:lstStyle/>
          <a:p>
            <a:pPr algn="l">
              <a:lnSpc>
                <a:spcPct val="108000"/>
              </a:lnSpc>
              <a:spcBef>
                <a:spcPts val="0"/>
              </a:spcBef>
              <a:spcAft>
                <a:spcPts val="0"/>
              </a:spcAft>
            </a:pPr>
            <a:r>
              <a:rPr sz="1310" b="0">
                <a:solidFill>
                  <a:srgbClr val="182425"/>
                </a:solidFill>
                <a:latin typeface="Arial"/>
              </a:rPr>
              <a:t>Set service and cost goals, acceptance evidence</a:t>
            </a:r>
          </a:p>
          <a:p>
            <a:pPr algn="l">
              <a:lnSpc>
                <a:spcPct val="108000"/>
              </a:lnSpc>
              <a:spcBef>
                <a:spcPts val="0"/>
              </a:spcBef>
              <a:spcAft>
                <a:spcPts val="0"/>
              </a:spcAft>
            </a:pPr>
            <a:r>
              <a:rPr sz="1310" b="0">
                <a:solidFill>
                  <a:srgbClr val="182425"/>
                </a:solidFill>
                <a:latin typeface="Arial"/>
              </a:rPr>
              <a:t>and the pilot go/no-go authority.</a:t>
            </a:r>
          </a:p>
        </p:txBody>
      </p:sp>
      <p:sp>
        <p:nvSpPr>
          <p:cNvPr id="50" name="TextBox 49"/>
          <p:cNvSpPr txBox="1"/>
          <p:nvPr/>
        </p:nvSpPr>
        <p:spPr>
          <a:xfrm>
            <a:off x="9144000" y="5134356"/>
            <a:ext cx="2212848" cy="393192"/>
          </a:xfrm>
          <a:prstGeom prst="rect">
            <a:avLst/>
          </a:prstGeom>
          <a:noFill/>
        </p:spPr>
        <p:txBody>
          <a:bodyPr wrap="square" lIns="0" rIns="0" tIns="0" bIns="0" anchor="t">
            <a:spAutoFit/>
          </a:bodyPr>
          <a:lstStyle/>
          <a:p>
            <a:pPr algn="l">
              <a:lnSpc>
                <a:spcPct val="108000"/>
              </a:lnSpc>
              <a:spcBef>
                <a:spcPts val="0"/>
              </a:spcBef>
              <a:spcAft>
                <a:spcPts val="0"/>
              </a:spcAft>
            </a:pPr>
            <a:r>
              <a:rPr sz="1170" b="1">
                <a:solidFill>
                  <a:srgbClr val="005238"/>
                </a:solidFill>
                <a:latin typeface="Arial"/>
              </a:rPr>
              <a:t>Architecture</a:t>
            </a:r>
          </a:p>
          <a:p>
            <a:pPr algn="l">
              <a:lnSpc>
                <a:spcPct val="108000"/>
              </a:lnSpc>
              <a:spcBef>
                <a:spcPts val="0"/>
              </a:spcBef>
              <a:spcAft>
                <a:spcPts val="0"/>
              </a:spcAft>
            </a:pPr>
            <a:r>
              <a:rPr sz="1170" b="1">
                <a:solidFill>
                  <a:srgbClr val="005238"/>
                </a:solidFill>
                <a:latin typeface="Arial"/>
              </a:rPr>
              <a:t>&amp; Operations</a:t>
            </a:r>
          </a:p>
        </p:txBody>
      </p:sp>
      <p:cxnSp>
        <p:nvCxnSpPr>
          <p:cNvPr id="51" name="Connector 50"/>
          <p:cNvCxnSpPr/>
          <p:nvPr/>
        </p:nvCxnSpPr>
        <p:spPr>
          <a:xfrm>
            <a:off x="594360" y="5586984"/>
            <a:ext cx="11000232"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RECOMMENDED ASK</a:t>
            </a:r>
          </a:p>
        </p:txBody>
      </p:sp>
      <p:sp>
        <p:nvSpPr>
          <p:cNvPr id="55" name="TextBox 54"/>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Endorse the sequence and assign owners; commit delivery dates only after readiness is confirmed.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APPENDIX · DELIVERY CONFIDENCE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Capability status: what is delivered versus still ahead.</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Architecture decisions are not evidence of production activation.</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Evidence: S1–S5</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14</a:t>
            </a:r>
            <a:endParaRPr lang="en-US" sz="1050" dirty="0"/>
          </a:p>
        </p:txBody>
      </p:sp>
      <p:sp>
        <p:nvSpPr>
          <p:cNvPr id="12" name="Shape 10"/>
          <p:cNvSpPr/>
          <p:nvPr/>
        </p:nvSpPr>
        <p:spPr>
          <a:xfrm>
            <a:off x="594360" y="2057400"/>
            <a:ext cx="11000232" cy="786384"/>
          </a:xfrm>
          <a:prstGeom prst="rect">
            <a:avLst/>
          </a:prstGeom>
          <a:solidFill>
            <a:srgbClr val="EAF4EE"/>
          </a:solidFill>
          <a:ln w="7620">
            <a:solidFill>
              <a:srgbClr val="D9E4DD"/>
            </a:solidFill>
            <a:prstDash val="solid"/>
          </a:ln>
        </p:spPr>
        <p:txBody>
          <a:bodyPr/>
          <a:p/>
        </p:txBody>
      </p:sp>
      <p:sp>
        <p:nvSpPr>
          <p:cNvPr id="13" name="Text 11"/>
          <p:cNvSpPr/>
          <p:nvPr/>
        </p:nvSpPr>
        <p:spPr>
          <a:xfrm>
            <a:off x="804672" y="2176272"/>
            <a:ext cx="2313432" cy="502920"/>
          </a:xfrm>
          <a:prstGeom prst="rect">
            <a:avLst/>
          </a:prstGeom>
          <a:noFill/>
          <a:ln/>
        </p:spPr>
        <p:txBody>
          <a:bodyPr wrap="square" lIns="0" tIns="0" rIns="0" bIns="0" rtlCol="0" anchor="ctr"/>
          <a:lstStyle/>
          <a:p>
            <a:pPr indent="0" marL="0">
              <a:buNone/>
            </a:pPr>
            <a:r>
              <a:rPr lang="en-US" sz="1020" b="1" spc="20" kern="0" dirty="0">
                <a:solidFill>
                  <a:srgbClr val="005238"/>
                </a:solidFill>
                <a:latin typeface="Arial" pitchFamily="34" charset="0"/>
                <a:ea typeface="Arial" pitchFamily="34" charset="-122"/>
                <a:cs typeface="Arial" pitchFamily="34" charset="-120"/>
              </a:rPr>
              <a:t>DOCUMENTED DELIVERY</a:t>
            </a:r>
            <a:endParaRPr lang="en-US" sz="1020" dirty="0"/>
          </a:p>
        </p:txBody>
      </p:sp>
      <p:sp>
        <p:nvSpPr>
          <p:cNvPr id="14" name="Text 12"/>
          <p:cNvSpPr/>
          <p:nvPr/>
        </p:nvSpPr>
        <p:spPr>
          <a:xfrm>
            <a:off x="3273552" y="2148840"/>
            <a:ext cx="8074152" cy="246888"/>
          </a:xfrm>
          <a:prstGeom prst="rect">
            <a:avLst/>
          </a:prstGeom>
          <a:noFill/>
          <a:ln/>
        </p:spPr>
        <p:txBody>
          <a:bodyPr wrap="square" lIns="0" tIns="0" rIns="0" bIns="0" rtlCol="0" anchor="ctr"/>
          <a:lstStyle/>
          <a:p>
            <a:pPr indent="0" marL="0">
              <a:buNone/>
            </a:pPr>
            <a:r>
              <a:rPr lang="en-US" sz="1740" b="1" dirty="0">
                <a:solidFill>
                  <a:srgbClr val="182425"/>
                </a:solidFill>
                <a:latin typeface="Arial" pitchFamily="34" charset="0"/>
                <a:ea typeface="Arial" pitchFamily="34" charset="-122"/>
                <a:cs typeface="Arial" pitchFamily="34" charset="-120"/>
              </a:rPr>
              <a:t>Accepted foundation through 2E</a:t>
            </a:r>
            <a:endParaRPr lang="en-US" sz="1740" dirty="0"/>
          </a:p>
        </p:txBody>
      </p:sp>
      <p:sp>
        <p:nvSpPr>
          <p:cNvPr id="15" name="Text 13"/>
          <p:cNvSpPr/>
          <p:nvPr/>
        </p:nvSpPr>
        <p:spPr>
          <a:xfrm>
            <a:off x="3273552" y="2450592"/>
            <a:ext cx="8074152" cy="329184"/>
          </a:xfrm>
          <a:prstGeom prst="rect">
            <a:avLst/>
          </a:prstGeom>
          <a:noFill/>
          <a:ln/>
        </p:spPr>
        <p:txBody>
          <a:bodyPr wrap="square" lIns="0" tIns="0" rIns="0" bIns="0" rtlCol="0" anchor="t"/>
          <a:lstStyle/>
          <a:p>
            <a:pPr indent="0" marL="0">
              <a:buNone/>
            </a:pPr>
            <a:r>
              <a:rPr lang="en-US" sz="1210" dirty="0">
                <a:solidFill>
                  <a:srgbClr val="52635E"/>
                </a:solidFill>
                <a:latin typeface="Arial" pitchFamily="34" charset="0"/>
                <a:ea typeface="Arial" pitchFamily="34" charset="-122"/>
                <a:cs typeface="Arial" pitchFamily="34" charset="-120"/>
              </a:rPr>
              <a:t>Secure SQL access; governed registry and plans; one approved calculation;</a:t>
            </a:r>
            <a:endParaRPr lang="en-US" sz="1210" dirty="0"/>
          </a:p>
          <a:p>
            <a:pPr indent="0" marL="0">
              <a:buNone/>
            </a:pPr>
            <a:r>
              <a:rPr lang="en-US" sz="1210" dirty="0">
                <a:solidFill>
                  <a:srgbClr val="52635E"/>
                </a:solidFill>
                <a:latin typeface="Arial" pitchFamily="34" charset="0"/>
                <a:ea typeface="Arial" pitchFamily="34" charset="-122"/>
                <a:cs typeface="Arial" pitchFamily="34" charset="-120"/>
              </a:rPr>
              <a:t>field-change protection; provider-neutral source boundary.</a:t>
            </a:r>
            <a:endParaRPr lang="en-US" sz="1210" dirty="0"/>
          </a:p>
        </p:txBody>
      </p:sp>
      <p:sp>
        <p:nvSpPr>
          <p:cNvPr id="16" name="Shape 14"/>
          <p:cNvSpPr/>
          <p:nvPr/>
        </p:nvSpPr>
        <p:spPr>
          <a:xfrm>
            <a:off x="594360" y="2935224"/>
            <a:ext cx="11000232" cy="786384"/>
          </a:xfrm>
          <a:prstGeom prst="rect">
            <a:avLst/>
          </a:prstGeom>
          <a:solidFill>
            <a:srgbClr val="FBF2E5"/>
          </a:solidFill>
          <a:ln w="7620">
            <a:solidFill>
              <a:srgbClr val="D9E4DD"/>
            </a:solidFill>
            <a:prstDash val="solid"/>
          </a:ln>
        </p:spPr>
        <p:txBody>
          <a:bodyPr/>
          <a:p/>
        </p:txBody>
      </p:sp>
      <p:sp>
        <p:nvSpPr>
          <p:cNvPr id="17" name="Text 15"/>
          <p:cNvSpPr/>
          <p:nvPr/>
        </p:nvSpPr>
        <p:spPr>
          <a:xfrm>
            <a:off x="804672" y="3054096"/>
            <a:ext cx="2313432" cy="502920"/>
          </a:xfrm>
          <a:prstGeom prst="rect">
            <a:avLst/>
          </a:prstGeom>
          <a:noFill/>
          <a:ln/>
        </p:spPr>
        <p:txBody>
          <a:bodyPr wrap="square" lIns="0" tIns="0" rIns="0" bIns="0" rtlCol="0" anchor="ctr"/>
          <a:lstStyle/>
          <a:p>
            <a:pPr indent="0" marL="0">
              <a:buNone/>
            </a:pPr>
            <a:r>
              <a:rPr lang="en-US" sz="1020" b="1" spc="20" kern="0" dirty="0">
                <a:solidFill>
                  <a:srgbClr val="B87722"/>
                </a:solidFill>
                <a:latin typeface="Arial" pitchFamily="34" charset="0"/>
                <a:ea typeface="Arial" pitchFamily="34" charset="-122"/>
                <a:cs typeface="Arial" pitchFamily="34" charset="-120"/>
              </a:rPr>
              <a:t>REPORTED IMPLEMENTATION</a:t>
            </a:r>
            <a:endParaRPr lang="en-US" sz="1020" dirty="0"/>
          </a:p>
        </p:txBody>
      </p:sp>
      <p:sp>
        <p:nvSpPr>
          <p:cNvPr id="18" name="Text 16"/>
          <p:cNvSpPr/>
          <p:nvPr/>
        </p:nvSpPr>
        <p:spPr>
          <a:xfrm>
            <a:off x="3273552" y="3026664"/>
            <a:ext cx="8074152" cy="246888"/>
          </a:xfrm>
          <a:prstGeom prst="rect">
            <a:avLst/>
          </a:prstGeom>
          <a:noFill/>
          <a:ln/>
        </p:spPr>
        <p:txBody>
          <a:bodyPr wrap="square" lIns="0" tIns="0" rIns="0" bIns="0" rtlCol="0" anchor="ctr"/>
          <a:lstStyle/>
          <a:p>
            <a:pPr indent="0" marL="0">
              <a:buNone/>
            </a:pPr>
            <a:r>
              <a:rPr lang="en-US" sz="1740" b="1" dirty="0">
                <a:solidFill>
                  <a:srgbClr val="182425"/>
                </a:solidFill>
                <a:latin typeface="Arial" pitchFamily="34" charset="0"/>
                <a:ea typeface="Arial" pitchFamily="34" charset="-122"/>
                <a:cs typeface="Arial" pitchFamily="34" charset="-120"/>
              </a:rPr>
              <a:t>Lifecycle classification (2F.1)</a:t>
            </a:r>
            <a:endParaRPr lang="en-US" sz="1740" dirty="0"/>
          </a:p>
        </p:txBody>
      </p:sp>
      <p:sp>
        <p:nvSpPr>
          <p:cNvPr id="19" name="Text 17"/>
          <p:cNvSpPr/>
          <p:nvPr/>
        </p:nvSpPr>
        <p:spPr>
          <a:xfrm>
            <a:off x="3273552" y="3328416"/>
            <a:ext cx="8074152" cy="329184"/>
          </a:xfrm>
          <a:prstGeom prst="rect">
            <a:avLst/>
          </a:prstGeom>
          <a:noFill/>
          <a:ln/>
        </p:spPr>
        <p:txBody>
          <a:bodyPr wrap="square" lIns="0" tIns="0" rIns="0" bIns="0" rtlCol="0" anchor="t"/>
          <a:lstStyle/>
          <a:p>
            <a:pPr indent="0" marL="0">
              <a:buNone/>
            </a:pPr>
            <a:r>
              <a:rPr lang="en-US" sz="1210" dirty="0">
                <a:solidFill>
                  <a:srgbClr val="52635E"/>
                </a:solidFill>
                <a:latin typeface="Arial" pitchFamily="34" charset="0"/>
                <a:ea typeface="Arial" pitchFamily="34" charset="-122"/>
                <a:cs typeface="Arial" pitchFamily="34" charset="-120"/>
              </a:rPr>
              <a:t>Implementation and independent review are reported. Current merge /</a:t>
            </a:r>
            <a:endParaRPr lang="en-US" sz="1210" dirty="0"/>
          </a:p>
          <a:p>
            <a:pPr indent="0" marL="0">
              <a:buNone/>
            </a:pPr>
            <a:r>
              <a:rPr lang="en-US" sz="1210" dirty="0">
                <a:solidFill>
                  <a:srgbClr val="52635E"/>
                </a:solidFill>
                <a:latin typeface="Arial" pitchFamily="34" charset="0"/>
                <a:ea typeface="Arial" pitchFamily="34" charset="-122"/>
                <a:cs typeface="Arial" pitchFamily="34" charset="-120"/>
              </a:rPr>
              <a:t>activation state has not been reverified for this presentation.</a:t>
            </a:r>
            <a:endParaRPr lang="en-US" sz="1210" dirty="0"/>
          </a:p>
        </p:txBody>
      </p:sp>
      <p:sp>
        <p:nvSpPr>
          <p:cNvPr id="20" name="Shape 18"/>
          <p:cNvSpPr/>
          <p:nvPr/>
        </p:nvSpPr>
        <p:spPr>
          <a:xfrm>
            <a:off x="594360" y="3813048"/>
            <a:ext cx="11000232" cy="786384"/>
          </a:xfrm>
          <a:prstGeom prst="rect">
            <a:avLst/>
          </a:prstGeom>
          <a:solidFill>
            <a:srgbClr val="F4F8F5"/>
          </a:solidFill>
          <a:ln w="7620">
            <a:solidFill>
              <a:srgbClr val="D9E4DD"/>
            </a:solidFill>
            <a:prstDash val="solid"/>
          </a:ln>
        </p:spPr>
        <p:txBody>
          <a:bodyPr/>
          <a:p/>
        </p:txBody>
      </p:sp>
      <p:sp>
        <p:nvSpPr>
          <p:cNvPr id="21" name="Text 19"/>
          <p:cNvSpPr/>
          <p:nvPr/>
        </p:nvSpPr>
        <p:spPr>
          <a:xfrm>
            <a:off x="804672" y="3931920"/>
            <a:ext cx="2313432" cy="502920"/>
          </a:xfrm>
          <a:prstGeom prst="rect">
            <a:avLst/>
          </a:prstGeom>
          <a:noFill/>
          <a:ln/>
        </p:spPr>
        <p:txBody>
          <a:bodyPr wrap="square" lIns="0" tIns="0" rIns="0" bIns="0" rtlCol="0" anchor="ctr"/>
          <a:lstStyle/>
          <a:p>
            <a:pPr indent="0" marL="0">
              <a:buNone/>
            </a:pPr>
            <a:r>
              <a:rPr lang="en-US" sz="1020" b="1" spc="20" kern="0" dirty="0">
                <a:solidFill>
                  <a:srgbClr val="005238"/>
                </a:solidFill>
                <a:latin typeface="Arial" pitchFamily="34" charset="0"/>
                <a:ea typeface="Arial" pitchFamily="34" charset="-122"/>
                <a:cs typeface="Arial" pitchFamily="34" charset="-120"/>
              </a:rPr>
              <a:t>WORKING DESIGN DECISIONS</a:t>
            </a:r>
            <a:endParaRPr lang="en-US" sz="1020" dirty="0"/>
          </a:p>
        </p:txBody>
      </p:sp>
      <p:sp>
        <p:nvSpPr>
          <p:cNvPr id="22" name="Text 20"/>
          <p:cNvSpPr/>
          <p:nvPr/>
        </p:nvSpPr>
        <p:spPr>
          <a:xfrm>
            <a:off x="3273552" y="3904488"/>
            <a:ext cx="8074152" cy="246888"/>
          </a:xfrm>
          <a:prstGeom prst="rect">
            <a:avLst/>
          </a:prstGeom>
          <a:noFill/>
          <a:ln/>
        </p:spPr>
        <p:txBody>
          <a:bodyPr wrap="square" lIns="0" tIns="0" rIns="0" bIns="0" rtlCol="0" anchor="ctr"/>
          <a:lstStyle/>
          <a:p>
            <a:pPr indent="0" marL="0">
              <a:buNone/>
            </a:pPr>
            <a:r>
              <a:rPr lang="en-US" sz="1740" b="1" dirty="0">
                <a:solidFill>
                  <a:srgbClr val="182425"/>
                </a:solidFill>
                <a:latin typeface="Arial" pitchFamily="34" charset="0"/>
                <a:ea typeface="Arial" pitchFamily="34" charset="-122"/>
                <a:cs typeface="Arial" pitchFamily="34" charset="-120"/>
              </a:rPr>
              <a:t>Clear ownership and safe extensibility</a:t>
            </a:r>
            <a:endParaRPr lang="en-US" sz="1740" dirty="0"/>
          </a:p>
        </p:txBody>
      </p:sp>
      <p:sp>
        <p:nvSpPr>
          <p:cNvPr id="23" name="Text 21"/>
          <p:cNvSpPr/>
          <p:nvPr/>
        </p:nvSpPr>
        <p:spPr>
          <a:xfrm>
            <a:off x="3273552" y="4206240"/>
            <a:ext cx="8074152" cy="329184"/>
          </a:xfrm>
          <a:prstGeom prst="rect">
            <a:avLst/>
          </a:prstGeom>
          <a:noFill/>
          <a:ln/>
        </p:spPr>
        <p:txBody>
          <a:bodyPr wrap="square" lIns="0" tIns="0" rIns="0" bIns="0" rtlCol="0" anchor="t"/>
          <a:lstStyle/>
          <a:p>
            <a:pPr indent="0" marL="0">
              <a:buNone/>
            </a:pPr>
            <a:r>
              <a:rPr lang="en-US" sz="1210" dirty="0">
                <a:solidFill>
                  <a:srgbClr val="52635E"/>
                </a:solidFill>
                <a:latin typeface="Arial" pitchFamily="34" charset="0"/>
                <a:ea typeface="Arial" pitchFamily="34" charset="-122"/>
                <a:cs typeface="Arial" pitchFamily="34" charset="-120"/>
              </a:rPr>
              <a:t>Registry owns business meaning; application owns user scope; no ACL sync;</a:t>
            </a:r>
            <a:endParaRPr lang="en-US" sz="1210" dirty="0"/>
          </a:p>
          <a:p>
            <a:pPr indent="0" marL="0">
              <a:buNone/>
            </a:pPr>
            <a:r>
              <a:rPr lang="en-US" sz="1210" dirty="0">
                <a:solidFill>
                  <a:srgbClr val="52635E"/>
                </a:solidFill>
                <a:latin typeface="Arial" pitchFamily="34" charset="0"/>
                <a:ea typeface="Arial" pitchFamily="34" charset="-122"/>
                <a:cs typeface="Arial" pitchFamily="34" charset="-120"/>
              </a:rPr>
              <a:t>fixed formatting rules; early plus result-cache design.</a:t>
            </a:r>
            <a:endParaRPr lang="en-US" sz="1210" dirty="0"/>
          </a:p>
        </p:txBody>
      </p:sp>
      <p:sp>
        <p:nvSpPr>
          <p:cNvPr id="24" name="Shape 22"/>
          <p:cNvSpPr/>
          <p:nvPr/>
        </p:nvSpPr>
        <p:spPr>
          <a:xfrm>
            <a:off x="594360" y="4690872"/>
            <a:ext cx="11000232" cy="786384"/>
          </a:xfrm>
          <a:prstGeom prst="rect">
            <a:avLst/>
          </a:prstGeom>
          <a:solidFill>
            <a:srgbClr val="F4F6F5"/>
          </a:solidFill>
          <a:ln w="7620">
            <a:solidFill>
              <a:srgbClr val="D9E4DD"/>
            </a:solidFill>
            <a:prstDash val="solid"/>
          </a:ln>
        </p:spPr>
        <p:txBody>
          <a:bodyPr/>
          <a:p/>
        </p:txBody>
      </p:sp>
      <p:sp>
        <p:nvSpPr>
          <p:cNvPr id="25" name="Text 23"/>
          <p:cNvSpPr/>
          <p:nvPr/>
        </p:nvSpPr>
        <p:spPr>
          <a:xfrm>
            <a:off x="804672" y="4809744"/>
            <a:ext cx="2313432" cy="502920"/>
          </a:xfrm>
          <a:prstGeom prst="rect">
            <a:avLst/>
          </a:prstGeom>
          <a:noFill/>
          <a:ln/>
        </p:spPr>
        <p:txBody>
          <a:bodyPr wrap="square" lIns="0" tIns="0" rIns="0" bIns="0" rtlCol="0" anchor="ctr"/>
          <a:lstStyle/>
          <a:p>
            <a:pPr indent="0" marL="0">
              <a:buNone/>
            </a:pPr>
            <a:r>
              <a:rPr lang="en-US" sz="1020" b="1" spc="20" kern="0" dirty="0">
                <a:solidFill>
                  <a:srgbClr val="65746D"/>
                </a:solidFill>
                <a:latin typeface="Arial" pitchFamily="34" charset="0"/>
                <a:ea typeface="Arial" pitchFamily="34" charset="-122"/>
                <a:cs typeface="Arial" pitchFamily="34" charset="-120"/>
              </a:rPr>
              <a:t>PLANNED / CONDITIONAL</a:t>
            </a:r>
            <a:endParaRPr lang="en-US" sz="1020" dirty="0"/>
          </a:p>
        </p:txBody>
      </p:sp>
      <p:sp>
        <p:nvSpPr>
          <p:cNvPr id="26" name="Text 24"/>
          <p:cNvSpPr/>
          <p:nvPr/>
        </p:nvSpPr>
        <p:spPr>
          <a:xfrm>
            <a:off x="3273552" y="4782312"/>
            <a:ext cx="8074152" cy="246888"/>
          </a:xfrm>
          <a:prstGeom prst="rect">
            <a:avLst/>
          </a:prstGeom>
          <a:noFill/>
          <a:ln/>
        </p:spPr>
        <p:txBody>
          <a:bodyPr wrap="square" lIns="0" tIns="0" rIns="0" bIns="0" rtlCol="0" anchor="ctr"/>
          <a:lstStyle/>
          <a:p>
            <a:pPr indent="0" marL="0">
              <a:buNone/>
            </a:pPr>
            <a:r>
              <a:rPr lang="en-US" sz="1740" b="1" dirty="0">
                <a:solidFill>
                  <a:srgbClr val="182425"/>
                </a:solidFill>
                <a:latin typeface="Arial" pitchFamily="34" charset="0"/>
                <a:ea typeface="Arial" pitchFamily="34" charset="-122"/>
                <a:cs typeface="Arial" pitchFamily="34" charset="-120"/>
              </a:rPr>
              <a:t>Broader operational and user capabilities</a:t>
            </a:r>
            <a:endParaRPr lang="en-US" sz="1740" dirty="0"/>
          </a:p>
        </p:txBody>
      </p:sp>
      <p:sp>
        <p:nvSpPr>
          <p:cNvPr id="27" name="Text 25"/>
          <p:cNvSpPr/>
          <p:nvPr/>
        </p:nvSpPr>
        <p:spPr>
          <a:xfrm>
            <a:off x="3273552" y="5084064"/>
            <a:ext cx="8074152" cy="329184"/>
          </a:xfrm>
          <a:prstGeom prst="rect">
            <a:avLst/>
          </a:prstGeom>
          <a:noFill/>
          <a:ln/>
        </p:spPr>
        <p:txBody>
          <a:bodyPr wrap="square" lIns="0" tIns="0" rIns="0" bIns="0" rtlCol="0" anchor="t"/>
          <a:lstStyle/>
          <a:p>
            <a:pPr indent="0" marL="0">
              <a:buNone/>
            </a:pPr>
            <a:r>
              <a:rPr lang="en-US" sz="1220" dirty="0">
                <a:solidFill>
                  <a:srgbClr val="52635E"/>
                </a:solidFill>
                <a:latin typeface="Arial" pitchFamily="34" charset="0"/>
                <a:ea typeface="Arial" pitchFamily="34" charset="-122"/>
                <a:cs typeface="Arial" pitchFamily="34" charset="-120"/>
              </a:rPr>
              <a:t>Certified catalog/templates; caching; Genie assessment, on-premises and Collibra</a:t>
            </a:r>
            <a:endParaRPr lang="en-US" sz="1210" dirty="0"/>
          </a:p>
          <a:p>
            <a:pPr indent="0" marL="0">
              <a:buNone/>
            </a:pPr>
            <a:r>
              <a:rPr lang="en-US" sz="1220" dirty="0">
                <a:solidFill>
                  <a:srgbClr val="52635E"/>
                </a:solidFill>
                <a:latin typeface="Arial" pitchFamily="34" charset="0"/>
                <a:ea typeface="Arial" pitchFamily="34" charset="-122"/>
                <a:cs typeface="Arial" pitchFamily="34" charset="-120"/>
              </a:rPr>
              <a:t>integrations; self-service and exports. Runtime rollout remains approval-gated.</a:t>
            </a:r>
          </a:p>
        </p:txBody>
      </p:sp>
      <p:sp>
        <p:nvSpPr>
          <p:cNvPr id="28" name="Shape 26"/>
          <p:cNvSpPr/>
          <p:nvPr/>
        </p:nvSpPr>
        <p:spPr>
          <a:xfrm>
            <a:off x="594360" y="5852160"/>
            <a:ext cx="11000232" cy="475488"/>
          </a:xfrm>
          <a:prstGeom prst="rect">
            <a:avLst/>
          </a:prstGeom>
          <a:solidFill>
            <a:srgbClr val="111C27"/>
          </a:solidFill>
          <a:ln w="12700">
            <a:solidFill>
              <a:srgbClr val="111C27"/>
            </a:solidFill>
            <a:prstDash val="solid"/>
          </a:ln>
        </p:spPr>
        <p:txBody>
          <a:bodyPr/>
          <a:p/>
        </p:txBody>
      </p:sp>
      <p:sp>
        <p:nvSpPr>
          <p:cNvPr id="29" name="Shape 27"/>
          <p:cNvSpPr/>
          <p:nvPr/>
        </p:nvSpPr>
        <p:spPr>
          <a:xfrm>
            <a:off x="594360" y="5852160"/>
            <a:ext cx="50292" cy="475488"/>
          </a:xfrm>
          <a:prstGeom prst="rect">
            <a:avLst/>
          </a:prstGeom>
          <a:solidFill>
            <a:srgbClr val="00843D"/>
          </a:solidFill>
          <a:ln w="12700">
            <a:solidFill>
              <a:srgbClr val="00843D"/>
            </a:solidFill>
            <a:prstDash val="solid"/>
          </a:ln>
        </p:spPr>
        <p:txBody>
          <a:bodyPr/>
          <a:p/>
        </p:txBody>
      </p:sp>
      <p:sp>
        <p:nvSpPr>
          <p:cNvPr id="30" name="Text 28"/>
          <p:cNvSpPr/>
          <p:nvPr/>
        </p:nvSpPr>
        <p:spPr>
          <a:xfrm>
            <a:off x="777240" y="5961888"/>
            <a:ext cx="1828800" cy="210312"/>
          </a:xfrm>
          <a:prstGeom prst="rect">
            <a:avLst/>
          </a:prstGeom>
          <a:noFill/>
          <a:ln/>
        </p:spPr>
        <p:txBody>
          <a:bodyPr wrap="square" lIns="0" tIns="0" rIns="0" bIns="0" rtlCol="0" anchor="ctr"/>
          <a:lstStyle/>
          <a:p>
            <a:pPr indent="0" marL="0">
              <a:buNone/>
            </a:pPr>
            <a:r>
              <a:rPr lang="en-US" sz="950" b="1" spc="30" kern="0" dirty="0">
                <a:solidFill>
                  <a:srgbClr val="B5D8BF"/>
                </a:solidFill>
                <a:latin typeface="Arial" pitchFamily="34" charset="0"/>
                <a:ea typeface="Arial" pitchFamily="34" charset="-122"/>
                <a:cs typeface="Arial" pitchFamily="34" charset="-120"/>
              </a:rPr>
              <a:t>IMPORTANT DISTINCTION</a:t>
            </a:r>
            <a:endParaRPr lang="en-US" sz="950" dirty="0"/>
          </a:p>
        </p:txBody>
      </p:sp>
      <p:sp>
        <p:nvSpPr>
          <p:cNvPr id="31" name="Text 29"/>
          <p:cNvSpPr/>
          <p:nvPr/>
        </p:nvSpPr>
        <p:spPr>
          <a:xfrm>
            <a:off x="2596896" y="5907024"/>
            <a:ext cx="8778240" cy="3566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Metadata snapshot caching exists; request/result-cache rollout is still planned.</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APPENDIX · PHASE CROSSWALK AND EVIDENCE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Executive milestones are not engineering phase numbers.</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Proposed packaging of the existing roadmap—not renumbering or new delivery evidence.</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S1–S7, W1–W3</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15</a:t>
            </a:r>
            <a:endParaRPr lang="en-US" sz="1050" dirty="0"/>
          </a:p>
        </p:txBody>
      </p:sp>
      <p:sp>
        <p:nvSpPr>
          <p:cNvPr id="12" name="Rectangle 11"/>
          <p:cNvSpPr/>
          <p:nvPr/>
        </p:nvSpPr>
        <p:spPr>
          <a:xfrm>
            <a:off x="594360" y="2066543"/>
            <a:ext cx="7104888" cy="365760"/>
          </a:xfrm>
          <a:prstGeom prst="rect">
            <a:avLst/>
          </a:prstGeom>
          <a:solidFill>
            <a:srgbClr val="00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167128"/>
            <a:ext cx="2322576" cy="146304"/>
          </a:xfrm>
          <a:prstGeom prst="rect">
            <a:avLst/>
          </a:prstGeom>
          <a:noFill/>
        </p:spPr>
        <p:txBody>
          <a:bodyPr wrap="square" lIns="0" rIns="0" tIns="0" bIns="0" anchor="t">
            <a:spAutoFit/>
          </a:bodyPr>
          <a:lstStyle/>
          <a:p>
            <a:pPr algn="l">
              <a:lnSpc>
                <a:spcPct val="108000"/>
              </a:lnSpc>
              <a:spcBef>
                <a:spcPts val="0"/>
              </a:spcBef>
              <a:spcAft>
                <a:spcPts val="0"/>
              </a:spcAft>
            </a:pPr>
            <a:r>
              <a:rPr sz="930" b="1">
                <a:solidFill>
                  <a:srgbClr val="FFFFFF"/>
                </a:solidFill>
                <a:latin typeface="Arial"/>
              </a:rPr>
              <a:t>EXECUTIVE MILESTONE</a:t>
            </a:r>
          </a:p>
        </p:txBody>
      </p:sp>
      <p:sp>
        <p:nvSpPr>
          <p:cNvPr id="14" name="TextBox 13"/>
          <p:cNvSpPr txBox="1"/>
          <p:nvPr/>
        </p:nvSpPr>
        <p:spPr>
          <a:xfrm>
            <a:off x="3273552" y="2167128"/>
            <a:ext cx="4206240" cy="146304"/>
          </a:xfrm>
          <a:prstGeom prst="rect">
            <a:avLst/>
          </a:prstGeom>
          <a:noFill/>
        </p:spPr>
        <p:txBody>
          <a:bodyPr wrap="square" lIns="0" rIns="0" tIns="0" bIns="0" anchor="t">
            <a:spAutoFit/>
          </a:bodyPr>
          <a:lstStyle/>
          <a:p>
            <a:pPr algn="l">
              <a:lnSpc>
                <a:spcPct val="108000"/>
              </a:lnSpc>
              <a:spcBef>
                <a:spcPts val="0"/>
              </a:spcBef>
              <a:spcAft>
                <a:spcPts val="0"/>
              </a:spcAft>
            </a:pPr>
            <a:r>
              <a:rPr sz="930" b="1">
                <a:solidFill>
                  <a:srgbClr val="FFFFFF"/>
                </a:solidFill>
                <a:latin typeface="Arial"/>
              </a:rPr>
              <a:t>ENGINEERING ALIGNMENT</a:t>
            </a:r>
          </a:p>
        </p:txBody>
      </p:sp>
      <p:sp>
        <p:nvSpPr>
          <p:cNvPr id="15" name="Rectangle 14"/>
          <p:cNvSpPr/>
          <p:nvPr/>
        </p:nvSpPr>
        <p:spPr>
          <a:xfrm>
            <a:off x="594360" y="2432304"/>
            <a:ext cx="7104888" cy="905256"/>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578608"/>
            <a:ext cx="2295144" cy="603504"/>
          </a:xfrm>
          <a:prstGeom prst="rect">
            <a:avLst/>
          </a:prstGeom>
          <a:noFill/>
        </p:spPr>
        <p:txBody>
          <a:bodyPr wrap="square" lIns="0" rIns="0" tIns="0" bIns="0" anchor="t">
            <a:spAutoFit/>
          </a:bodyPr>
          <a:lstStyle/>
          <a:p>
            <a:pPr algn="l">
              <a:lnSpc>
                <a:spcPct val="108000"/>
              </a:lnSpc>
              <a:spcBef>
                <a:spcPts val="0"/>
              </a:spcBef>
              <a:spcAft>
                <a:spcPts val="0"/>
              </a:spcAft>
            </a:pPr>
            <a:r>
              <a:rPr sz="1400" b="1">
                <a:solidFill>
                  <a:srgbClr val="005238"/>
                </a:solidFill>
                <a:latin typeface="Arial"/>
              </a:rPr>
              <a:t>MVP 1</a:t>
            </a:r>
          </a:p>
          <a:p>
            <a:pPr algn="l">
              <a:lnSpc>
                <a:spcPct val="108000"/>
              </a:lnSpc>
              <a:spcBef>
                <a:spcPts val="0"/>
              </a:spcBef>
              <a:spcAft>
                <a:spcPts val="0"/>
              </a:spcAft>
            </a:pPr>
            <a:r>
              <a:rPr sz="1400" b="1">
                <a:solidFill>
                  <a:srgbClr val="005238"/>
                </a:solidFill>
                <a:latin typeface="Arial"/>
              </a:rPr>
              <a:t>Foundation &amp; Trust</a:t>
            </a:r>
          </a:p>
        </p:txBody>
      </p:sp>
      <p:sp>
        <p:nvSpPr>
          <p:cNvPr id="17" name="TextBox 16"/>
          <p:cNvSpPr txBox="1"/>
          <p:nvPr/>
        </p:nvSpPr>
        <p:spPr>
          <a:xfrm>
            <a:off x="3273552" y="2578608"/>
            <a:ext cx="4206240" cy="621792"/>
          </a:xfrm>
          <a:prstGeom prst="rect">
            <a:avLst/>
          </a:prstGeom>
          <a:noFill/>
        </p:spPr>
        <p:txBody>
          <a:bodyPr wrap="square" lIns="0" rIns="0" tIns="0" bIns="0" anchor="t">
            <a:spAutoFit/>
          </a:bodyPr>
          <a:lstStyle/>
          <a:p>
            <a:pPr algn="l">
              <a:lnSpc>
                <a:spcPct val="108000"/>
              </a:lnSpc>
              <a:spcBef>
                <a:spcPts val="0"/>
              </a:spcBef>
              <a:spcAft>
                <a:spcPts val="0"/>
              </a:spcAft>
            </a:pPr>
            <a:r>
              <a:rPr sz="1300" b="0">
                <a:solidFill>
                  <a:srgbClr val="182425"/>
                </a:solidFill>
                <a:latin typeface="Arial"/>
              </a:rPr>
              <a:t>Accepted foundation through 2E; 2F trust/lifecycle/templates and 2G controlled publishing. Integration discovery may run in parallel.</a:t>
            </a:r>
          </a:p>
        </p:txBody>
      </p:sp>
      <p:cxnSp>
        <p:nvCxnSpPr>
          <p:cNvPr id="18" name="Connector 17"/>
          <p:cNvCxnSpPr/>
          <p:nvPr/>
        </p:nvCxnSpPr>
        <p:spPr>
          <a:xfrm>
            <a:off x="594360" y="3337560"/>
            <a:ext cx="7104888"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94360" y="3337560"/>
            <a:ext cx="7104888" cy="9052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483864"/>
            <a:ext cx="2295144" cy="603504"/>
          </a:xfrm>
          <a:prstGeom prst="rect">
            <a:avLst/>
          </a:prstGeom>
          <a:noFill/>
        </p:spPr>
        <p:txBody>
          <a:bodyPr wrap="square" lIns="0" rIns="0" tIns="0" bIns="0" anchor="t">
            <a:spAutoFit/>
          </a:bodyPr>
          <a:lstStyle/>
          <a:p>
            <a:pPr algn="l">
              <a:lnSpc>
                <a:spcPct val="108000"/>
              </a:lnSpc>
              <a:spcBef>
                <a:spcPts val="0"/>
              </a:spcBef>
              <a:spcAft>
                <a:spcPts val="0"/>
              </a:spcAft>
            </a:pPr>
            <a:r>
              <a:rPr sz="1400" b="1">
                <a:solidFill>
                  <a:srgbClr val="005238"/>
                </a:solidFill>
                <a:latin typeface="Arial"/>
              </a:rPr>
              <a:t>MVP 2</a:t>
            </a:r>
          </a:p>
          <a:p>
            <a:pPr algn="l">
              <a:lnSpc>
                <a:spcPct val="108000"/>
              </a:lnSpc>
              <a:spcBef>
                <a:spcPts val="0"/>
              </a:spcBef>
              <a:spcAft>
                <a:spcPts val="0"/>
              </a:spcAft>
            </a:pPr>
            <a:r>
              <a:rPr sz="1400" b="1">
                <a:solidFill>
                  <a:srgbClr val="005238"/>
                </a:solidFill>
                <a:latin typeface="Arial"/>
              </a:rPr>
              <a:t>Enterprise Integration</a:t>
            </a:r>
          </a:p>
          <a:p>
            <a:pPr algn="l">
              <a:lnSpc>
                <a:spcPct val="108000"/>
              </a:lnSpc>
              <a:spcBef>
                <a:spcPts val="0"/>
              </a:spcBef>
              <a:spcAft>
                <a:spcPts val="0"/>
              </a:spcAft>
            </a:pPr>
            <a:r>
              <a:rPr sz="1400" b="1">
                <a:solidFill>
                  <a:srgbClr val="005238"/>
                </a:solidFill>
                <a:latin typeface="Arial"/>
              </a:rPr>
              <a:t>&amp; Efficiency</a:t>
            </a:r>
          </a:p>
        </p:txBody>
      </p:sp>
      <p:sp>
        <p:nvSpPr>
          <p:cNvPr id="21" name="TextBox 20"/>
          <p:cNvSpPr txBox="1"/>
          <p:nvPr/>
        </p:nvSpPr>
        <p:spPr>
          <a:xfrm>
            <a:off x="3273552" y="3483864"/>
            <a:ext cx="4206240" cy="621792"/>
          </a:xfrm>
          <a:prstGeom prst="rect">
            <a:avLst/>
          </a:prstGeom>
          <a:noFill/>
        </p:spPr>
        <p:txBody>
          <a:bodyPr wrap="square" lIns="0" rIns="0" tIns="0" bIns="0" anchor="t">
            <a:spAutoFit/>
          </a:bodyPr>
          <a:lstStyle/>
          <a:p>
            <a:pPr algn="l">
              <a:lnSpc>
                <a:spcPct val="108000"/>
              </a:lnSpc>
              <a:spcBef>
                <a:spcPts val="0"/>
              </a:spcBef>
              <a:spcAft>
                <a:spcPts val="0"/>
              </a:spcAft>
            </a:pPr>
            <a:r>
              <a:rPr sz="1300" b="0">
                <a:solidFill>
                  <a:srgbClr val="182425"/>
                </a:solidFill>
                <a:latin typeface="Arial"/>
              </a:rPr>
              <a:t>Phase 3: selected providers, Genie and metadata integration. Phases 4–7: safety, evaluation, performance and self-service.</a:t>
            </a:r>
          </a:p>
        </p:txBody>
      </p:sp>
      <p:cxnSp>
        <p:nvCxnSpPr>
          <p:cNvPr id="22" name="Connector 21"/>
          <p:cNvCxnSpPr/>
          <p:nvPr/>
        </p:nvCxnSpPr>
        <p:spPr>
          <a:xfrm>
            <a:off x="594360" y="4242816"/>
            <a:ext cx="7104888"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94360" y="4242816"/>
            <a:ext cx="7104888" cy="905256"/>
          </a:xfrm>
          <a:prstGeom prst="rect">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389120"/>
            <a:ext cx="2295144" cy="603504"/>
          </a:xfrm>
          <a:prstGeom prst="rect">
            <a:avLst/>
          </a:prstGeom>
          <a:noFill/>
        </p:spPr>
        <p:txBody>
          <a:bodyPr wrap="square" lIns="0" rIns="0" tIns="0" bIns="0" anchor="t">
            <a:spAutoFit/>
          </a:bodyPr>
          <a:lstStyle/>
          <a:p>
            <a:pPr algn="l">
              <a:lnSpc>
                <a:spcPct val="108000"/>
              </a:lnSpc>
              <a:spcBef>
                <a:spcPts val="0"/>
              </a:spcBef>
              <a:spcAft>
                <a:spcPts val="0"/>
              </a:spcAft>
            </a:pPr>
            <a:r>
              <a:rPr sz="1400" b="1">
                <a:solidFill>
                  <a:srgbClr val="005238"/>
                </a:solidFill>
                <a:latin typeface="Arial"/>
              </a:rPr>
              <a:t>MVP 3</a:t>
            </a:r>
          </a:p>
          <a:p>
            <a:pPr algn="l">
              <a:lnSpc>
                <a:spcPct val="108000"/>
              </a:lnSpc>
              <a:spcBef>
                <a:spcPts val="0"/>
              </a:spcBef>
              <a:spcAft>
                <a:spcPts val="0"/>
              </a:spcAft>
            </a:pPr>
            <a:r>
              <a:rPr sz="1400" b="1">
                <a:solidFill>
                  <a:srgbClr val="005238"/>
                </a:solidFill>
                <a:latin typeface="Arial"/>
              </a:rPr>
              <a:t>Advanced Visualization</a:t>
            </a:r>
          </a:p>
        </p:txBody>
      </p:sp>
      <p:sp>
        <p:nvSpPr>
          <p:cNvPr id="25" name="TextBox 24"/>
          <p:cNvSpPr txBox="1"/>
          <p:nvPr/>
        </p:nvSpPr>
        <p:spPr>
          <a:xfrm>
            <a:off x="3273552" y="4389120"/>
            <a:ext cx="4206240" cy="621792"/>
          </a:xfrm>
          <a:prstGeom prst="rect">
            <a:avLst/>
          </a:prstGeom>
          <a:noFill/>
        </p:spPr>
        <p:txBody>
          <a:bodyPr wrap="square" lIns="0" rIns="0" tIns="0" bIns="0" anchor="t">
            <a:spAutoFit/>
          </a:bodyPr>
          <a:lstStyle/>
          <a:p>
            <a:pPr algn="l">
              <a:lnSpc>
                <a:spcPct val="108000"/>
              </a:lnSpc>
              <a:spcBef>
                <a:spcPts val="0"/>
              </a:spcBef>
              <a:spcAft>
                <a:spcPts val="0"/>
              </a:spcAft>
            </a:pPr>
            <a:r>
              <a:rPr sz="1300" b="0">
                <a:solidFill>
                  <a:srgbClr val="182425"/>
                </a:solidFill>
                <a:latin typeface="Arial"/>
              </a:rPr>
              <a:t>Phase 8: richer visualization, reports, downloads, exports and approved experience integrations.</a:t>
            </a:r>
          </a:p>
        </p:txBody>
      </p:sp>
      <p:cxnSp>
        <p:nvCxnSpPr>
          <p:cNvPr id="26" name="Connector 25"/>
          <p:cNvCxnSpPr/>
          <p:nvPr/>
        </p:nvCxnSpPr>
        <p:spPr>
          <a:xfrm>
            <a:off x="594360" y="5148072"/>
            <a:ext cx="7104888"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58952" y="5321808"/>
            <a:ext cx="6784848" cy="356616"/>
          </a:xfrm>
          <a:prstGeom prst="rect">
            <a:avLst/>
          </a:prstGeom>
          <a:noFill/>
        </p:spPr>
        <p:txBody>
          <a:bodyPr wrap="square" lIns="0" rIns="0" tIns="0" bIns="0" anchor="t">
            <a:spAutoFit/>
          </a:bodyPr>
          <a:lstStyle/>
          <a:p>
            <a:pPr algn="l">
              <a:lnSpc>
                <a:spcPct val="108000"/>
              </a:lnSpc>
              <a:spcBef>
                <a:spcPts val="0"/>
              </a:spcBef>
              <a:spcAft>
                <a:spcPts val="0"/>
              </a:spcAft>
            </a:pPr>
            <a:r>
              <a:rPr sz="1060" b="0">
                <a:solidFill>
                  <a:srgbClr val="52635E"/>
                </a:solidFill>
                <a:latin typeface="Arial"/>
              </a:rPr>
              <a:t>Collibra contract: Phase 2F.3. Provider implementation: Phase 3.</a:t>
            </a:r>
          </a:p>
          <a:p>
            <a:pPr algn="l">
              <a:lnSpc>
                <a:spcPct val="108000"/>
              </a:lnSpc>
              <a:spcBef>
                <a:spcPts val="0"/>
              </a:spcBef>
              <a:spcAft>
                <a:spcPts val="0"/>
              </a:spcAft>
            </a:pPr>
            <a:r>
              <a:rPr sz="1060" b="0">
                <a:solidFill>
                  <a:srgbClr val="52635E"/>
                </a:solidFill>
                <a:latin typeface="Arial"/>
              </a:rPr>
              <a:t>An essential on-premises source may be brought forward by explicit pilot scope approval.</a:t>
            </a:r>
          </a:p>
        </p:txBody>
      </p:sp>
      <p:sp>
        <p:nvSpPr>
          <p:cNvPr id="28" name="Rectangle 27"/>
          <p:cNvSpPr/>
          <p:nvPr/>
        </p:nvSpPr>
        <p:spPr>
          <a:xfrm>
            <a:off x="7973568" y="2066543"/>
            <a:ext cx="3621024" cy="3547872"/>
          </a:xfrm>
          <a:prstGeom prst="rect">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74736" y="2276856"/>
            <a:ext cx="3227832" cy="210312"/>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B87722"/>
                </a:solidFill>
                <a:latin typeface="Arial"/>
              </a:rPr>
              <a:t>EVIDENCE BOUNDARY</a:t>
            </a:r>
          </a:p>
        </p:txBody>
      </p:sp>
      <p:sp>
        <p:nvSpPr>
          <p:cNvPr id="30" name="Rectangle 29"/>
          <p:cNvSpPr/>
          <p:nvPr/>
        </p:nvSpPr>
        <p:spPr>
          <a:xfrm>
            <a:off x="8193024" y="2839212"/>
            <a:ext cx="41148" cy="41148"/>
          </a:xfrm>
          <a:prstGeom prst="rect">
            <a:avLst/>
          </a:prstGeom>
          <a:solidFill>
            <a:srgbClr val="18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39328" y="2734056"/>
            <a:ext cx="3008376" cy="493776"/>
          </a:xfrm>
          <a:prstGeom prst="rect">
            <a:avLst/>
          </a:prstGeom>
          <a:noFill/>
        </p:spPr>
        <p:txBody>
          <a:bodyPr wrap="square" lIns="0" rIns="0" tIns="0" bIns="0" anchor="t">
            <a:spAutoFit/>
          </a:bodyPr>
          <a:lstStyle/>
          <a:p>
            <a:pPr algn="l">
              <a:lnSpc>
                <a:spcPct val="108000"/>
              </a:lnSpc>
              <a:spcBef>
                <a:spcPts val="0"/>
              </a:spcBef>
              <a:spcAft>
                <a:spcPts val="0"/>
              </a:spcAft>
            </a:pPr>
            <a:r>
              <a:rPr sz="1210" b="0">
                <a:solidFill>
                  <a:srgbClr val="182425"/>
                </a:solidFill>
                <a:latin typeface="Arial"/>
              </a:rPr>
              <a:t>Foundation record: 26 Aug 2026.</a:t>
            </a:r>
          </a:p>
          <a:p>
            <a:pPr algn="l">
              <a:lnSpc>
                <a:spcPct val="108000"/>
              </a:lnSpc>
              <a:spcBef>
                <a:spcPts val="0"/>
              </a:spcBef>
              <a:spcAft>
                <a:spcPts val="0"/>
              </a:spcAft>
            </a:pPr>
            <a:r>
              <a:rPr sz="1210" b="0">
                <a:solidFill>
                  <a:srgbClr val="182425"/>
                </a:solidFill>
                <a:latin typeface="Arial"/>
              </a:rPr>
              <a:t>Impact report: 1 Sep 2026.</a:t>
            </a:r>
          </a:p>
        </p:txBody>
      </p:sp>
      <p:sp>
        <p:nvSpPr>
          <p:cNvPr id="32" name="Rectangle 31"/>
          <p:cNvSpPr/>
          <p:nvPr/>
        </p:nvSpPr>
        <p:spPr>
          <a:xfrm>
            <a:off x="8193024" y="3470148"/>
            <a:ext cx="41148" cy="41148"/>
          </a:xfrm>
          <a:prstGeom prst="rect">
            <a:avLst/>
          </a:prstGeom>
          <a:solidFill>
            <a:srgbClr val="18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9328" y="3364992"/>
            <a:ext cx="3008376" cy="493776"/>
          </a:xfrm>
          <a:prstGeom prst="rect">
            <a:avLst/>
          </a:prstGeom>
          <a:noFill/>
        </p:spPr>
        <p:txBody>
          <a:bodyPr wrap="square" lIns="0" rIns="0" tIns="0" bIns="0" anchor="t">
            <a:spAutoFit/>
          </a:bodyPr>
          <a:lstStyle/>
          <a:p>
            <a:pPr algn="l">
              <a:lnSpc>
                <a:spcPct val="108000"/>
              </a:lnSpc>
              <a:spcBef>
                <a:spcPts val="0"/>
              </a:spcBef>
              <a:spcAft>
                <a:spcPts val="0"/>
              </a:spcAft>
            </a:pPr>
            <a:r>
              <a:rPr sz="1210" b="0">
                <a:solidFill>
                  <a:srgbClr val="182425"/>
                </a:solidFill>
                <a:latin typeface="Arial"/>
              </a:rPr>
              <a:t>2F.1 final integration has not</a:t>
            </a:r>
          </a:p>
          <a:p>
            <a:pPr algn="l">
              <a:lnSpc>
                <a:spcPct val="108000"/>
              </a:lnSpc>
              <a:spcBef>
                <a:spcPts val="0"/>
              </a:spcBef>
              <a:spcAft>
                <a:spcPts val="0"/>
              </a:spcAft>
            </a:pPr>
            <a:r>
              <a:rPr sz="1210" b="0">
                <a:solidFill>
                  <a:srgbClr val="182425"/>
                </a:solidFill>
                <a:latin typeface="Arial"/>
              </a:rPr>
              <a:t>been live-reverified here.</a:t>
            </a:r>
          </a:p>
        </p:txBody>
      </p:sp>
      <p:sp>
        <p:nvSpPr>
          <p:cNvPr id="34" name="Rectangle 33"/>
          <p:cNvSpPr/>
          <p:nvPr/>
        </p:nvSpPr>
        <p:spPr>
          <a:xfrm>
            <a:off x="8193024" y="4101084"/>
            <a:ext cx="41148" cy="41148"/>
          </a:xfrm>
          <a:prstGeom prst="rect">
            <a:avLst/>
          </a:prstGeom>
          <a:solidFill>
            <a:srgbClr val="18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39328" y="3995928"/>
            <a:ext cx="3008376" cy="493776"/>
          </a:xfrm>
          <a:prstGeom prst="rect">
            <a:avLst/>
          </a:prstGeom>
          <a:noFill/>
        </p:spPr>
        <p:txBody>
          <a:bodyPr wrap="square" lIns="0" rIns="0" tIns="0" bIns="0" anchor="t">
            <a:spAutoFit/>
          </a:bodyPr>
          <a:lstStyle/>
          <a:p>
            <a:pPr algn="l">
              <a:lnSpc>
                <a:spcPct val="108000"/>
              </a:lnSpc>
              <a:spcBef>
                <a:spcPts val="0"/>
              </a:spcBef>
              <a:spcAft>
                <a:spcPts val="0"/>
              </a:spcAft>
            </a:pPr>
            <a:r>
              <a:rPr sz="1210" b="0">
                <a:solidFill>
                  <a:srgbClr val="182425"/>
                </a:solidFill>
                <a:latin typeface="Arial"/>
              </a:rPr>
              <a:t>Vendor docs checked 9 Sep 2026;</a:t>
            </a:r>
          </a:p>
          <a:p>
            <a:pPr algn="l">
              <a:lnSpc>
                <a:spcPct val="108000"/>
              </a:lnSpc>
              <a:spcBef>
                <a:spcPts val="0"/>
              </a:spcBef>
              <a:spcAft>
                <a:spcPts val="0"/>
              </a:spcAft>
            </a:pPr>
            <a:r>
              <a:rPr sz="1210" b="0">
                <a:solidFill>
                  <a:srgbClr val="182425"/>
                </a:solidFill>
                <a:latin typeface="Arial"/>
              </a:rPr>
              <a:t>enterprise readiness is not proven.</a:t>
            </a:r>
          </a:p>
        </p:txBody>
      </p:sp>
      <p:sp>
        <p:nvSpPr>
          <p:cNvPr id="36" name="Rectangle 35"/>
          <p:cNvSpPr/>
          <p:nvPr/>
        </p:nvSpPr>
        <p:spPr>
          <a:xfrm>
            <a:off x="8193024" y="4732020"/>
            <a:ext cx="41148" cy="41148"/>
          </a:xfrm>
          <a:prstGeom prst="rect">
            <a:avLst/>
          </a:prstGeom>
          <a:solidFill>
            <a:srgbClr val="18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39328" y="4626864"/>
            <a:ext cx="3008376" cy="493776"/>
          </a:xfrm>
          <a:prstGeom prst="rect">
            <a:avLst/>
          </a:prstGeom>
          <a:noFill/>
        </p:spPr>
        <p:txBody>
          <a:bodyPr wrap="square" lIns="0" rIns="0" tIns="0" bIns="0" anchor="t">
            <a:spAutoFit/>
          </a:bodyPr>
          <a:lstStyle/>
          <a:p>
            <a:pPr algn="l">
              <a:lnSpc>
                <a:spcPct val="108000"/>
              </a:lnSpc>
              <a:spcBef>
                <a:spcPts val="0"/>
              </a:spcBef>
              <a:spcAft>
                <a:spcPts val="0"/>
              </a:spcAft>
            </a:pPr>
            <a:r>
              <a:rPr sz="1210" b="0">
                <a:solidFill>
                  <a:srgbClr val="182425"/>
                </a:solidFill>
                <a:latin typeface="Arial"/>
              </a:rPr>
              <a:t>5 TB+ is planning context.</a:t>
            </a:r>
          </a:p>
          <a:p>
            <a:pPr algn="l">
              <a:lnSpc>
                <a:spcPct val="108000"/>
              </a:lnSpc>
              <a:spcBef>
                <a:spcPts val="0"/>
              </a:spcBef>
              <a:spcAft>
                <a:spcPts val="0"/>
              </a:spcAft>
            </a:pPr>
            <a:r>
              <a:rPr sz="1210" b="0">
                <a:solidFill>
                  <a:srgbClr val="182425"/>
                </a:solidFill>
                <a:latin typeface="Arial"/>
              </a:rPr>
              <a:t>Dates, savings and scale are not promised.</a:t>
            </a:r>
          </a:p>
        </p:txBody>
      </p:sp>
      <p:sp>
        <p:nvSpPr>
          <p:cNvPr id="38" name="Rectangle 37"/>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REFERENCE DETAIL</a:t>
            </a:r>
          </a:p>
        </p:txBody>
      </p:sp>
      <p:sp>
        <p:nvSpPr>
          <p:cNvPr id="41" name="TextBox 40"/>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Speaker notes retain source references, vendor links and the qualifications behind each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DATABRICKS GENIE · EVALUATE NOW</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Evaluate Genie now; adopt only where it proves value.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Potential value: reuse Databricks analytics while preserving the askalpha experience and controls.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S3, S7, W1</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09</a:t>
            </a:r>
            <a:endParaRPr lang="en-US" sz="1050" dirty="0"/>
          </a:p>
        </p:txBody>
      </p:sp>
      <p:sp>
        <p:nvSpPr>
          <p:cNvPr id="12" name="Rounded Rectangle 11"/>
          <p:cNvSpPr/>
          <p:nvPr/>
        </p:nvSpPr>
        <p:spPr>
          <a:xfrm>
            <a:off x="594360" y="2048256"/>
            <a:ext cx="2039112"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098548"/>
            <a:ext cx="1856231"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HIGH STRATEGIC VALUE</a:t>
            </a:r>
          </a:p>
        </p:txBody>
      </p:sp>
      <p:sp>
        <p:nvSpPr>
          <p:cNvPr id="14" name="Rounded Rectangle 13"/>
          <p:cNvSpPr/>
          <p:nvPr/>
        </p:nvSpPr>
        <p:spPr>
          <a:xfrm>
            <a:off x="2761488" y="2048256"/>
            <a:ext cx="3877056" cy="265176"/>
          </a:xfrm>
          <a:prstGeom prst="roundRect">
            <a:avLst>
              <a:gd name="adj" fmla="val 5000"/>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2928" y="2098548"/>
            <a:ext cx="3694176"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B87722"/>
                </a:solidFill>
                <a:latin typeface="Arial"/>
              </a:rPr>
              <a:t>MVP 1: ASSESS  →  MVP 2: CONDITIONAL</a:t>
            </a:r>
          </a:p>
        </p:txBody>
      </p:sp>
      <p:sp>
        <p:nvSpPr>
          <p:cNvPr id="16" name="TextBox 15"/>
          <p:cNvSpPr txBox="1"/>
          <p:nvPr/>
        </p:nvSpPr>
        <p:spPr>
          <a:xfrm>
            <a:off x="7552944" y="2103120"/>
            <a:ext cx="4023360" cy="164592"/>
          </a:xfrm>
          <a:prstGeom prst="rect">
            <a:avLst/>
          </a:prstGeom>
          <a:noFill/>
        </p:spPr>
        <p:txBody>
          <a:bodyPr wrap="square" lIns="0" rIns="0" tIns="0" bIns="0" anchor="t">
            <a:spAutoFit/>
          </a:bodyPr>
          <a:lstStyle/>
          <a:p>
            <a:pPr algn="r">
              <a:lnSpc>
                <a:spcPct val="108000"/>
              </a:lnSpc>
              <a:spcBef>
                <a:spcPts val="0"/>
              </a:spcBef>
              <a:spcAft>
                <a:spcPts val="0"/>
              </a:spcAft>
            </a:pPr>
            <a:r>
              <a:rPr sz="1030" b="1">
                <a:solidFill>
                  <a:srgbClr val="52635E"/>
                </a:solidFill>
                <a:latin typeface="Arial"/>
              </a:rPr>
              <a:t>Engineering integration: Phase 3</a:t>
            </a:r>
          </a:p>
        </p:txBody>
      </p:sp>
      <p:sp>
        <p:nvSpPr>
          <p:cNvPr id="17" name="Rectangle 16"/>
          <p:cNvSpPr/>
          <p:nvPr/>
        </p:nvSpPr>
        <p:spPr>
          <a:xfrm>
            <a:off x="594360" y="2569464"/>
            <a:ext cx="3520440" cy="1929384"/>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2569464"/>
            <a:ext cx="3520440" cy="50292"/>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2779776"/>
            <a:ext cx="3099816" cy="210312"/>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005238"/>
                </a:solidFill>
                <a:latin typeface="Arial"/>
              </a:rPr>
              <a:t>VALUE</a:t>
            </a:r>
          </a:p>
        </p:txBody>
      </p:sp>
      <p:sp>
        <p:nvSpPr>
          <p:cNvPr id="20" name="Rectangle 19"/>
          <p:cNvSpPr/>
          <p:nvPr/>
        </p:nvSpPr>
        <p:spPr>
          <a:xfrm>
            <a:off x="795528" y="336042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3255264"/>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Reduce duplicate analytics development.</a:t>
            </a:r>
          </a:p>
        </p:txBody>
      </p:sp>
      <p:sp>
        <p:nvSpPr>
          <p:cNvPr id="22" name="Rectangle 21"/>
          <p:cNvSpPr/>
          <p:nvPr/>
        </p:nvSpPr>
        <p:spPr>
          <a:xfrm>
            <a:off x="795528" y="3899916"/>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3794760"/>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Keep product-level access and audit.</a:t>
            </a:r>
          </a:p>
        </p:txBody>
      </p:sp>
      <p:sp>
        <p:nvSpPr>
          <p:cNvPr id="24" name="Rectangle 23"/>
          <p:cNvSpPr/>
          <p:nvPr/>
        </p:nvSpPr>
        <p:spPr>
          <a:xfrm>
            <a:off x="4334256" y="2569464"/>
            <a:ext cx="3520440" cy="1929384"/>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4256" y="2569464"/>
            <a:ext cx="3520440" cy="50292"/>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35424" y="2779776"/>
            <a:ext cx="3099816" cy="210312"/>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005238"/>
                </a:solidFill>
                <a:latin typeface="Arial"/>
              </a:rPr>
              <a:t>FIRST TEST</a:t>
            </a:r>
          </a:p>
        </p:txBody>
      </p:sp>
      <p:sp>
        <p:nvSpPr>
          <p:cNvPr id="27" name="Rectangle 26"/>
          <p:cNvSpPr/>
          <p:nvPr/>
        </p:nvSpPr>
        <p:spPr>
          <a:xfrm>
            <a:off x="4535424" y="336042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1728" y="3255264"/>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One curated domain and agreed questions.</a:t>
            </a:r>
          </a:p>
        </p:txBody>
      </p:sp>
      <p:sp>
        <p:nvSpPr>
          <p:cNvPr id="29" name="Rectangle 28"/>
          <p:cNvSpPr/>
          <p:nvPr/>
        </p:nvSpPr>
        <p:spPr>
          <a:xfrm>
            <a:off x="4535424" y="3899916"/>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81728" y="3794760"/>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Compare direct SQL and Genie end to end.</a:t>
            </a:r>
          </a:p>
        </p:txBody>
      </p:sp>
      <p:sp>
        <p:nvSpPr>
          <p:cNvPr id="31" name="Rectangle 30"/>
          <p:cNvSpPr/>
          <p:nvPr/>
        </p:nvSpPr>
        <p:spPr>
          <a:xfrm>
            <a:off x="8074152" y="2569464"/>
            <a:ext cx="3520440" cy="1929384"/>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569464"/>
            <a:ext cx="3520440" cy="50292"/>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5320" y="2779776"/>
            <a:ext cx="3099816" cy="210312"/>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005238"/>
                </a:solidFill>
                <a:latin typeface="Arial"/>
              </a:rPr>
              <a:t>GO / NO-GO GATE</a:t>
            </a:r>
          </a:p>
        </p:txBody>
      </p:sp>
      <p:sp>
        <p:nvSpPr>
          <p:cNvPr id="34" name="Rectangle 33"/>
          <p:cNvSpPr/>
          <p:nvPr/>
        </p:nvSpPr>
        <p:spPr>
          <a:xfrm>
            <a:off x="8275320" y="3360420"/>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21624" y="3255264"/>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Quality and pre-execution access isolation.</a:t>
            </a:r>
          </a:p>
        </p:txBody>
      </p:sp>
      <p:sp>
        <p:nvSpPr>
          <p:cNvPr id="36" name="Rectangle 35"/>
          <p:cNvSpPr/>
          <p:nvPr/>
        </p:nvSpPr>
        <p:spPr>
          <a:xfrm>
            <a:off x="8275320" y="3899916"/>
            <a:ext cx="41148" cy="4114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21624" y="3794760"/>
            <a:ext cx="2907791" cy="493776"/>
          </a:xfrm>
          <a:prstGeom prst="rect">
            <a:avLst/>
          </a:prstGeom>
          <a:noFill/>
        </p:spPr>
        <p:txBody>
          <a:bodyPr wrap="square" lIns="0" rIns="0" tIns="0" bIns="0" anchor="t">
            <a:spAutoFit/>
          </a:bodyPr>
          <a:lstStyle/>
          <a:p>
            <a:pPr algn="l">
              <a:lnSpc>
                <a:spcPct val="108000"/>
              </a:lnSpc>
              <a:spcBef>
                <a:spcPts val="0"/>
              </a:spcBef>
              <a:spcAft>
                <a:spcPts val="0"/>
              </a:spcAft>
            </a:pPr>
            <a:r>
              <a:rPr sz="1600" b="0">
                <a:solidFill>
                  <a:srgbClr val="182425"/>
                </a:solidFill>
                <a:latin typeface="Arial"/>
              </a:rPr>
              <a:t>Latency, total cost and support ownership.</a:t>
            </a:r>
          </a:p>
        </p:txBody>
      </p:sp>
      <p:sp>
        <p:nvSpPr>
          <p:cNvPr id="38" name="Rectangle 37"/>
          <p:cNvSpPr/>
          <p:nvPr/>
        </p:nvSpPr>
        <p:spPr>
          <a:xfrm>
            <a:off x="594360" y="4773168"/>
            <a:ext cx="3136392" cy="649224"/>
          </a:xfrm>
          <a:prstGeom prst="rect">
            <a:avLst/>
          </a:prstGeom>
          <a:solidFill>
            <a:srgbClr val="FFFFFF"/>
          </a:solidFill>
          <a:ln w="10160">
            <a:solidFill>
              <a:srgbClr val="005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 y="4864608"/>
            <a:ext cx="2898648" cy="219456"/>
          </a:xfrm>
          <a:prstGeom prst="rect">
            <a:avLst/>
          </a:prstGeom>
          <a:noFill/>
        </p:spPr>
        <p:txBody>
          <a:bodyPr wrap="square" lIns="0" rIns="0" tIns="0" bIns="0" anchor="t">
            <a:spAutoFit/>
          </a:bodyPr>
          <a:lstStyle/>
          <a:p>
            <a:pPr algn="ctr">
              <a:lnSpc>
                <a:spcPct val="108000"/>
              </a:lnSpc>
              <a:spcBef>
                <a:spcPts val="0"/>
              </a:spcBef>
              <a:spcAft>
                <a:spcPts val="0"/>
              </a:spcAft>
            </a:pPr>
            <a:r>
              <a:rPr sz="1450" b="1">
                <a:solidFill>
                  <a:srgbClr val="005238"/>
                </a:solidFill>
                <a:latin typeface="Arial"/>
              </a:rPr>
              <a:t>askalpha</a:t>
            </a:r>
          </a:p>
        </p:txBody>
      </p:sp>
      <p:sp>
        <p:nvSpPr>
          <p:cNvPr id="40" name="TextBox 39"/>
          <p:cNvSpPr txBox="1"/>
          <p:nvPr/>
        </p:nvSpPr>
        <p:spPr>
          <a:xfrm>
            <a:off x="685800" y="5157216"/>
            <a:ext cx="2953512" cy="164592"/>
          </a:xfrm>
          <a:prstGeom prst="rect">
            <a:avLst/>
          </a:prstGeom>
          <a:noFill/>
        </p:spPr>
        <p:txBody>
          <a:bodyPr wrap="square" lIns="0" rIns="0" tIns="0" bIns="0" anchor="t">
            <a:spAutoFit/>
          </a:bodyPr>
          <a:lstStyle/>
          <a:p>
            <a:pPr algn="ctr">
              <a:lnSpc>
                <a:spcPct val="108000"/>
              </a:lnSpc>
              <a:spcBef>
                <a:spcPts val="0"/>
              </a:spcBef>
              <a:spcAft>
                <a:spcPts val="0"/>
              </a:spcAft>
            </a:pPr>
            <a:r>
              <a:rPr sz="1050" b="0">
                <a:solidFill>
                  <a:srgbClr val="52635E"/>
                </a:solidFill>
                <a:latin typeface="Arial"/>
              </a:rPr>
              <a:t>Access • Semantics • Audit</a:t>
            </a:r>
          </a:p>
        </p:txBody>
      </p:sp>
      <p:sp>
        <p:nvSpPr>
          <p:cNvPr id="41" name="Rectangle 40"/>
          <p:cNvSpPr/>
          <p:nvPr/>
        </p:nvSpPr>
        <p:spPr>
          <a:xfrm>
            <a:off x="4187952" y="4773168"/>
            <a:ext cx="3593592" cy="649224"/>
          </a:xfrm>
          <a:prstGeom prst="rect">
            <a:avLst/>
          </a:prstGeom>
          <a:solidFill>
            <a:srgbClr val="FFFFFF"/>
          </a:solidFill>
          <a:ln w="10160">
            <a:solidFill>
              <a:srgbClr val="005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06824" y="4864608"/>
            <a:ext cx="3355848" cy="219456"/>
          </a:xfrm>
          <a:prstGeom prst="rect">
            <a:avLst/>
          </a:prstGeom>
          <a:noFill/>
        </p:spPr>
        <p:txBody>
          <a:bodyPr wrap="square" lIns="0" rIns="0" tIns="0" bIns="0" anchor="t">
            <a:spAutoFit/>
          </a:bodyPr>
          <a:lstStyle/>
          <a:p>
            <a:pPr algn="ctr">
              <a:lnSpc>
                <a:spcPct val="108000"/>
              </a:lnSpc>
              <a:spcBef>
                <a:spcPts val="0"/>
              </a:spcBef>
              <a:spcAft>
                <a:spcPts val="0"/>
              </a:spcAft>
            </a:pPr>
            <a:r>
              <a:rPr sz="1450" b="1">
                <a:solidFill>
                  <a:srgbClr val="005238"/>
                </a:solidFill>
                <a:latin typeface="Arial"/>
              </a:rPr>
              <a:t>Selected Genie domain</a:t>
            </a:r>
          </a:p>
        </p:txBody>
      </p:sp>
      <p:sp>
        <p:nvSpPr>
          <p:cNvPr id="43" name="TextBox 42"/>
          <p:cNvSpPr txBox="1"/>
          <p:nvPr/>
        </p:nvSpPr>
        <p:spPr>
          <a:xfrm>
            <a:off x="4279392" y="5157216"/>
            <a:ext cx="3410712" cy="164592"/>
          </a:xfrm>
          <a:prstGeom prst="rect">
            <a:avLst/>
          </a:prstGeom>
          <a:noFill/>
        </p:spPr>
        <p:txBody>
          <a:bodyPr wrap="square" lIns="0" rIns="0" tIns="0" bIns="0" anchor="t">
            <a:spAutoFit/>
          </a:bodyPr>
          <a:lstStyle/>
          <a:p>
            <a:pPr algn="ctr">
              <a:lnSpc>
                <a:spcPct val="108000"/>
              </a:lnSpc>
              <a:spcBef>
                <a:spcPts val="0"/>
              </a:spcBef>
              <a:spcAft>
                <a:spcPts val="0"/>
              </a:spcAft>
            </a:pPr>
            <a:r>
              <a:rPr sz="1050" b="0">
                <a:solidFill>
                  <a:srgbClr val="52635E"/>
                </a:solidFill>
                <a:latin typeface="Arial"/>
              </a:rPr>
              <a:t>Candidate analytics provider</a:t>
            </a:r>
          </a:p>
        </p:txBody>
      </p:sp>
      <p:sp>
        <p:nvSpPr>
          <p:cNvPr id="44" name="Rectangle 43"/>
          <p:cNvSpPr/>
          <p:nvPr/>
        </p:nvSpPr>
        <p:spPr>
          <a:xfrm>
            <a:off x="8238744" y="4773168"/>
            <a:ext cx="3355848" cy="649224"/>
          </a:xfrm>
          <a:prstGeom prst="rect">
            <a:avLst/>
          </a:prstGeom>
          <a:solidFill>
            <a:srgbClr val="FFFFFF"/>
          </a:solidFill>
          <a:ln w="10160">
            <a:solidFill>
              <a:srgbClr val="005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57616" y="4864608"/>
            <a:ext cx="3118104" cy="219456"/>
          </a:xfrm>
          <a:prstGeom prst="rect">
            <a:avLst/>
          </a:prstGeom>
          <a:noFill/>
        </p:spPr>
        <p:txBody>
          <a:bodyPr wrap="square" lIns="0" rIns="0" tIns="0" bIns="0" anchor="t">
            <a:spAutoFit/>
          </a:bodyPr>
          <a:lstStyle/>
          <a:p>
            <a:pPr algn="ctr">
              <a:lnSpc>
                <a:spcPct val="108000"/>
              </a:lnSpc>
              <a:spcBef>
                <a:spcPts val="0"/>
              </a:spcBef>
              <a:spcAft>
                <a:spcPts val="0"/>
              </a:spcAft>
            </a:pPr>
            <a:r>
              <a:rPr sz="1450" b="1">
                <a:solidFill>
                  <a:srgbClr val="005238"/>
                </a:solidFill>
                <a:latin typeface="Arial"/>
              </a:rPr>
              <a:t>Governed data</a:t>
            </a:r>
          </a:p>
        </p:txBody>
      </p:sp>
      <p:sp>
        <p:nvSpPr>
          <p:cNvPr id="46" name="TextBox 45"/>
          <p:cNvSpPr txBox="1"/>
          <p:nvPr/>
        </p:nvSpPr>
        <p:spPr>
          <a:xfrm>
            <a:off x="8330183" y="5157216"/>
            <a:ext cx="3172968" cy="164592"/>
          </a:xfrm>
          <a:prstGeom prst="rect">
            <a:avLst/>
          </a:prstGeom>
          <a:noFill/>
        </p:spPr>
        <p:txBody>
          <a:bodyPr wrap="square" lIns="0" rIns="0" tIns="0" bIns="0" anchor="t">
            <a:spAutoFit/>
          </a:bodyPr>
          <a:lstStyle/>
          <a:p>
            <a:pPr algn="ctr">
              <a:lnSpc>
                <a:spcPct val="108000"/>
              </a:lnSpc>
              <a:spcBef>
                <a:spcPts val="0"/>
              </a:spcBef>
              <a:spcAft>
                <a:spcPts val="0"/>
              </a:spcAft>
            </a:pPr>
            <a:r>
              <a:rPr sz="1050" b="0">
                <a:solidFill>
                  <a:srgbClr val="52635E"/>
                </a:solidFill>
                <a:latin typeface="Arial"/>
              </a:rPr>
              <a:t>Approved Databricks data scope</a:t>
            </a:r>
          </a:p>
        </p:txBody>
      </p:sp>
      <p:sp>
        <p:nvSpPr>
          <p:cNvPr id="47" name="Chevron 46"/>
          <p:cNvSpPr/>
          <p:nvPr/>
        </p:nvSpPr>
        <p:spPr>
          <a:xfrm>
            <a:off x="3858768" y="4983480"/>
            <a:ext cx="146304" cy="219456"/>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hevron 47"/>
          <p:cNvSpPr/>
          <p:nvPr/>
        </p:nvSpPr>
        <p:spPr>
          <a:xfrm>
            <a:off x="7918704" y="4983480"/>
            <a:ext cx="146304" cy="219456"/>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9224" y="5559552"/>
            <a:ext cx="10908792" cy="173736"/>
          </a:xfrm>
          <a:prstGeom prst="rect">
            <a:avLst/>
          </a:prstGeom>
          <a:noFill/>
        </p:spPr>
        <p:txBody>
          <a:bodyPr wrap="square" lIns="0" rIns="0" tIns="0" bIns="0" anchor="t">
            <a:spAutoFit/>
          </a:bodyPr>
          <a:lstStyle/>
          <a:p>
            <a:pPr algn="l">
              <a:lnSpc>
                <a:spcPct val="108000"/>
              </a:lnSpc>
              <a:spcBef>
                <a:spcPts val="0"/>
              </a:spcBef>
              <a:spcAft>
                <a:spcPts val="0"/>
              </a:spcAft>
            </a:pPr>
            <a:r>
              <a:rPr sz="1120" b="1">
                <a:solidFill>
                  <a:srgbClr val="B87722"/>
                </a:solidFill>
                <a:latin typeface="Arial"/>
              </a:rPr>
              <a:t>Release gate: prove end-user scope is enforced before Genie executes—not only when results return.</a:t>
            </a:r>
          </a:p>
        </p:txBody>
      </p:sp>
      <p:sp>
        <p:nvSpPr>
          <p:cNvPr id="50" name="Rectangle 49"/>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LEADERSHIP ASK</a:t>
            </a:r>
          </a:p>
        </p:txBody>
      </p:sp>
      <p:sp>
        <p:nvSpPr>
          <p:cNvPr id="53" name="TextBox 52"/>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Sponsor one measured comparison; do not make Genie a dependency of the core pilot.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ON-PREMISES DATA · BUSINESS-LED</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Prove independence with one on-premises use case.</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Potential value: reach approved data in place without forcing every request through Databricks.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S2, S5, S7, W2</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10</a:t>
            </a:r>
            <a:endParaRPr lang="en-US" sz="1050" dirty="0"/>
          </a:p>
        </p:txBody>
      </p:sp>
      <p:sp>
        <p:nvSpPr>
          <p:cNvPr id="12" name="Rounded Rectangle 11"/>
          <p:cNvSpPr/>
          <p:nvPr/>
        </p:nvSpPr>
        <p:spPr>
          <a:xfrm>
            <a:off x="594360" y="2048256"/>
            <a:ext cx="2395728"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098548"/>
            <a:ext cx="2212848"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HIGH VALUE · DEMAND-LED</a:t>
            </a:r>
          </a:p>
        </p:txBody>
      </p:sp>
      <p:sp>
        <p:nvSpPr>
          <p:cNvPr id="14" name="Rounded Rectangle 13"/>
          <p:cNvSpPr/>
          <p:nvPr/>
        </p:nvSpPr>
        <p:spPr>
          <a:xfrm>
            <a:off x="3136392" y="2048256"/>
            <a:ext cx="4251960" cy="265176"/>
          </a:xfrm>
          <a:prstGeom prst="roundRect">
            <a:avLst>
              <a:gd name="adj" fmla="val 5000"/>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27832" y="2098548"/>
            <a:ext cx="4069080"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B87722"/>
                </a:solidFill>
                <a:latin typeface="Arial"/>
              </a:rPr>
              <a:t>MVP 1: DISCOVER  →  MVP 2: FIRST SOURCE</a:t>
            </a:r>
          </a:p>
        </p:txBody>
      </p:sp>
      <p:sp>
        <p:nvSpPr>
          <p:cNvPr id="16" name="Rectangle 15"/>
          <p:cNvSpPr/>
          <p:nvPr/>
        </p:nvSpPr>
        <p:spPr>
          <a:xfrm>
            <a:off x="594360" y="2633472"/>
            <a:ext cx="4809744" cy="2962656"/>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834640"/>
            <a:ext cx="4325112" cy="219456"/>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005238"/>
                </a:solidFill>
                <a:latin typeface="Arial"/>
              </a:rPr>
              <a:t>A TARGETED DIRECT PATH</a:t>
            </a:r>
          </a:p>
        </p:txBody>
      </p:sp>
      <p:sp>
        <p:nvSpPr>
          <p:cNvPr id="18" name="Rectangle 17"/>
          <p:cNvSpPr/>
          <p:nvPr/>
        </p:nvSpPr>
        <p:spPr>
          <a:xfrm>
            <a:off x="1042415" y="3300984"/>
            <a:ext cx="3922776" cy="548640"/>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70432" y="3374136"/>
            <a:ext cx="3657600" cy="192024"/>
          </a:xfrm>
          <a:prstGeom prst="rect">
            <a:avLst/>
          </a:prstGeom>
          <a:noFill/>
        </p:spPr>
        <p:txBody>
          <a:bodyPr wrap="square" lIns="0" rIns="0" tIns="0" bIns="0" anchor="t">
            <a:spAutoFit/>
          </a:bodyPr>
          <a:lstStyle/>
          <a:p>
            <a:pPr algn="ctr">
              <a:lnSpc>
                <a:spcPct val="108000"/>
              </a:lnSpc>
              <a:spcBef>
                <a:spcPts val="0"/>
              </a:spcBef>
              <a:spcAft>
                <a:spcPts val="0"/>
              </a:spcAft>
            </a:pPr>
            <a:r>
              <a:rPr sz="1500" b="1">
                <a:solidFill>
                  <a:srgbClr val="005238"/>
                </a:solidFill>
                <a:latin typeface="Arial"/>
              </a:rPr>
              <a:t>askalpha</a:t>
            </a:r>
          </a:p>
        </p:txBody>
      </p:sp>
      <p:sp>
        <p:nvSpPr>
          <p:cNvPr id="20" name="TextBox 19"/>
          <p:cNvSpPr txBox="1"/>
          <p:nvPr/>
        </p:nvSpPr>
        <p:spPr>
          <a:xfrm>
            <a:off x="1170432" y="3611879"/>
            <a:ext cx="3657600" cy="155448"/>
          </a:xfrm>
          <a:prstGeom prst="rect">
            <a:avLst/>
          </a:prstGeom>
          <a:noFill/>
        </p:spPr>
        <p:txBody>
          <a:bodyPr wrap="square" lIns="0" rIns="0" tIns="0" bIns="0" anchor="t">
            <a:spAutoFit/>
          </a:bodyPr>
          <a:lstStyle/>
          <a:p>
            <a:pPr algn="ctr">
              <a:lnSpc>
                <a:spcPct val="108000"/>
              </a:lnSpc>
              <a:spcBef>
                <a:spcPts val="0"/>
              </a:spcBef>
              <a:spcAft>
                <a:spcPts val="0"/>
              </a:spcAft>
            </a:pPr>
            <a:r>
              <a:rPr sz="1080" b="0">
                <a:solidFill>
                  <a:srgbClr val="52635E"/>
                </a:solidFill>
                <a:latin typeface="Arial"/>
              </a:rPr>
              <a:t>User scope + governed question</a:t>
            </a:r>
          </a:p>
        </p:txBody>
      </p:sp>
      <p:sp>
        <p:nvSpPr>
          <p:cNvPr id="21" name="Rectangle 20"/>
          <p:cNvSpPr/>
          <p:nvPr/>
        </p:nvSpPr>
        <p:spPr>
          <a:xfrm>
            <a:off x="1042415" y="3986784"/>
            <a:ext cx="3922776" cy="548640"/>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0432" y="4059936"/>
            <a:ext cx="3657600" cy="192024"/>
          </a:xfrm>
          <a:prstGeom prst="rect">
            <a:avLst/>
          </a:prstGeom>
          <a:noFill/>
        </p:spPr>
        <p:txBody>
          <a:bodyPr wrap="square" lIns="0" rIns="0" tIns="0" bIns="0" anchor="t">
            <a:spAutoFit/>
          </a:bodyPr>
          <a:lstStyle/>
          <a:p>
            <a:pPr algn="ctr">
              <a:lnSpc>
                <a:spcPct val="108000"/>
              </a:lnSpc>
              <a:spcBef>
                <a:spcPts val="0"/>
              </a:spcBef>
              <a:spcAft>
                <a:spcPts val="0"/>
              </a:spcAft>
            </a:pPr>
            <a:r>
              <a:rPr sz="1500" b="1">
                <a:solidFill>
                  <a:srgbClr val="005238"/>
                </a:solidFill>
                <a:latin typeface="Arial"/>
              </a:rPr>
              <a:t>Source adapter</a:t>
            </a:r>
          </a:p>
        </p:txBody>
      </p:sp>
      <p:sp>
        <p:nvSpPr>
          <p:cNvPr id="23" name="TextBox 22"/>
          <p:cNvSpPr txBox="1"/>
          <p:nvPr/>
        </p:nvSpPr>
        <p:spPr>
          <a:xfrm>
            <a:off x="1170432" y="4297680"/>
            <a:ext cx="3657600" cy="155448"/>
          </a:xfrm>
          <a:prstGeom prst="rect">
            <a:avLst/>
          </a:prstGeom>
          <a:noFill/>
        </p:spPr>
        <p:txBody>
          <a:bodyPr wrap="square" lIns="0" rIns="0" tIns="0" bIns="0" anchor="t">
            <a:spAutoFit/>
          </a:bodyPr>
          <a:lstStyle/>
          <a:p>
            <a:pPr algn="ctr">
              <a:lnSpc>
                <a:spcPct val="108000"/>
              </a:lnSpc>
              <a:spcBef>
                <a:spcPts val="0"/>
              </a:spcBef>
              <a:spcAft>
                <a:spcPts val="0"/>
              </a:spcAft>
            </a:pPr>
            <a:r>
              <a:rPr sz="1080" b="0">
                <a:solidFill>
                  <a:srgbClr val="52635E"/>
                </a:solidFill>
                <a:latin typeface="Arial"/>
              </a:rPr>
              <a:t>Approved network + service identity</a:t>
            </a:r>
          </a:p>
        </p:txBody>
      </p:sp>
      <p:sp>
        <p:nvSpPr>
          <p:cNvPr id="24" name="Rectangle 23"/>
          <p:cNvSpPr/>
          <p:nvPr/>
        </p:nvSpPr>
        <p:spPr>
          <a:xfrm>
            <a:off x="1042415" y="4672584"/>
            <a:ext cx="3922776" cy="548640"/>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70432" y="4745736"/>
            <a:ext cx="3657600" cy="192024"/>
          </a:xfrm>
          <a:prstGeom prst="rect">
            <a:avLst/>
          </a:prstGeom>
          <a:noFill/>
        </p:spPr>
        <p:txBody>
          <a:bodyPr wrap="square" lIns="0" rIns="0" tIns="0" bIns="0" anchor="t">
            <a:spAutoFit/>
          </a:bodyPr>
          <a:lstStyle/>
          <a:p>
            <a:pPr algn="ctr">
              <a:lnSpc>
                <a:spcPct val="108000"/>
              </a:lnSpc>
              <a:spcBef>
                <a:spcPts val="0"/>
              </a:spcBef>
              <a:spcAft>
                <a:spcPts val="0"/>
              </a:spcAft>
            </a:pPr>
            <a:r>
              <a:rPr sz="1500" b="1">
                <a:solidFill>
                  <a:srgbClr val="005238"/>
                </a:solidFill>
                <a:latin typeface="Arial"/>
              </a:rPr>
              <a:t>One on-premises source</a:t>
            </a:r>
          </a:p>
        </p:txBody>
      </p:sp>
      <p:sp>
        <p:nvSpPr>
          <p:cNvPr id="26" name="TextBox 25"/>
          <p:cNvSpPr txBox="1"/>
          <p:nvPr/>
        </p:nvSpPr>
        <p:spPr>
          <a:xfrm>
            <a:off x="1170432" y="4983480"/>
            <a:ext cx="3657600" cy="155448"/>
          </a:xfrm>
          <a:prstGeom prst="rect">
            <a:avLst/>
          </a:prstGeom>
          <a:noFill/>
        </p:spPr>
        <p:txBody>
          <a:bodyPr wrap="square" lIns="0" rIns="0" tIns="0" bIns="0" anchor="t">
            <a:spAutoFit/>
          </a:bodyPr>
          <a:lstStyle/>
          <a:p>
            <a:pPr algn="ctr">
              <a:lnSpc>
                <a:spcPct val="108000"/>
              </a:lnSpc>
              <a:spcBef>
                <a:spcPts val="0"/>
              </a:spcBef>
              <a:spcAft>
                <a:spcPts val="0"/>
              </a:spcAft>
            </a:pPr>
            <a:r>
              <a:rPr sz="1080" b="0">
                <a:solidFill>
                  <a:srgbClr val="52635E"/>
                </a:solidFill>
                <a:latin typeface="Arial"/>
              </a:rPr>
              <a:t>Read-only views • bounded queries</a:t>
            </a:r>
          </a:p>
        </p:txBody>
      </p:sp>
      <p:sp>
        <p:nvSpPr>
          <p:cNvPr id="27" name="Down Arrow 26"/>
          <p:cNvSpPr/>
          <p:nvPr/>
        </p:nvSpPr>
        <p:spPr>
          <a:xfrm>
            <a:off x="2926080" y="3858768"/>
            <a:ext cx="164592" cy="118872"/>
          </a:xfrm>
          <a:prstGeom prst="downArrow">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own Arrow 27"/>
          <p:cNvSpPr/>
          <p:nvPr/>
        </p:nvSpPr>
        <p:spPr>
          <a:xfrm>
            <a:off x="2926080" y="4544568"/>
            <a:ext cx="164592" cy="118872"/>
          </a:xfrm>
          <a:prstGeom prst="downArrow">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358384"/>
            <a:ext cx="4334256" cy="155448"/>
          </a:xfrm>
          <a:prstGeom prst="rect">
            <a:avLst/>
          </a:prstGeom>
          <a:noFill/>
        </p:spPr>
        <p:txBody>
          <a:bodyPr wrap="square" lIns="0" rIns="0" tIns="0" bIns="0" anchor="t">
            <a:spAutoFit/>
          </a:bodyPr>
          <a:lstStyle/>
          <a:p>
            <a:pPr algn="l">
              <a:lnSpc>
                <a:spcPct val="108000"/>
              </a:lnSpc>
              <a:spcBef>
                <a:spcPts val="0"/>
              </a:spcBef>
              <a:spcAft>
                <a:spcPts val="0"/>
              </a:spcAft>
            </a:pPr>
            <a:r>
              <a:rPr sz="1019" b="0">
                <a:solidFill>
                  <a:srgbClr val="52635E"/>
                </a:solidFill>
                <a:latin typeface="Arial"/>
              </a:rPr>
              <a:t>Illustrative target; not a confirmed live connection.</a:t>
            </a:r>
          </a:p>
        </p:txBody>
      </p:sp>
      <p:sp>
        <p:nvSpPr>
          <p:cNvPr id="30" name="TextBox 29"/>
          <p:cNvSpPr txBox="1"/>
          <p:nvPr/>
        </p:nvSpPr>
        <p:spPr>
          <a:xfrm>
            <a:off x="5733288" y="2752344"/>
            <a:ext cx="502920" cy="384048"/>
          </a:xfrm>
          <a:prstGeom prst="rect">
            <a:avLst/>
          </a:prstGeom>
          <a:noFill/>
        </p:spPr>
        <p:txBody>
          <a:bodyPr wrap="square" lIns="0" rIns="0" tIns="0" bIns="0" anchor="t">
            <a:spAutoFit/>
          </a:bodyPr>
          <a:lstStyle/>
          <a:p>
            <a:pPr algn="l">
              <a:lnSpc>
                <a:spcPct val="108000"/>
              </a:lnSpc>
              <a:spcBef>
                <a:spcPts val="0"/>
              </a:spcBef>
              <a:spcAft>
                <a:spcPts val="0"/>
              </a:spcAft>
            </a:pPr>
            <a:r>
              <a:rPr sz="2500" b="1">
                <a:solidFill>
                  <a:srgbClr val="008A38"/>
                </a:solidFill>
                <a:latin typeface="Arial"/>
              </a:rPr>
              <a:t>01</a:t>
            </a:r>
          </a:p>
        </p:txBody>
      </p:sp>
      <p:sp>
        <p:nvSpPr>
          <p:cNvPr id="31" name="TextBox 30"/>
          <p:cNvSpPr txBox="1"/>
          <p:nvPr/>
        </p:nvSpPr>
        <p:spPr>
          <a:xfrm>
            <a:off x="6409944" y="2715768"/>
            <a:ext cx="4956048" cy="310896"/>
          </a:xfrm>
          <a:prstGeom prst="rect">
            <a:avLst/>
          </a:prstGeom>
          <a:noFill/>
        </p:spPr>
        <p:txBody>
          <a:bodyPr wrap="square" lIns="0" rIns="0" tIns="0" bIns="0" anchor="t">
            <a:spAutoFit/>
          </a:bodyPr>
          <a:lstStyle/>
          <a:p>
            <a:pPr algn="l">
              <a:lnSpc>
                <a:spcPct val="108000"/>
              </a:lnSpc>
              <a:spcBef>
                <a:spcPts val="0"/>
              </a:spcBef>
              <a:spcAft>
                <a:spcPts val="0"/>
              </a:spcAft>
            </a:pPr>
            <a:r>
              <a:rPr sz="1900" b="1">
                <a:solidFill>
                  <a:srgbClr val="182425"/>
                </a:solidFill>
                <a:latin typeface="Arial"/>
              </a:rPr>
              <a:t>Select the first source</a:t>
            </a:r>
          </a:p>
        </p:txBody>
      </p:sp>
      <p:sp>
        <p:nvSpPr>
          <p:cNvPr id="32" name="TextBox 31"/>
          <p:cNvSpPr txBox="1"/>
          <p:nvPr/>
        </p:nvSpPr>
        <p:spPr>
          <a:xfrm>
            <a:off x="6409944" y="3108960"/>
            <a:ext cx="4919472" cy="411480"/>
          </a:xfrm>
          <a:prstGeom prst="rect">
            <a:avLst/>
          </a:prstGeom>
          <a:noFill/>
        </p:spPr>
        <p:txBody>
          <a:bodyPr wrap="square" lIns="0" rIns="0" tIns="0" bIns="0" anchor="t">
            <a:spAutoFit/>
          </a:bodyPr>
          <a:lstStyle/>
          <a:p>
            <a:pPr algn="l">
              <a:lnSpc>
                <a:spcPct val="108000"/>
              </a:lnSpc>
              <a:spcBef>
                <a:spcPts val="0"/>
              </a:spcBef>
              <a:spcAft>
                <a:spcPts val="0"/>
              </a:spcAft>
            </a:pPr>
            <a:r>
              <a:rPr sz="1520" b="0">
                <a:solidFill>
                  <a:srgbClr val="52635E"/>
                </a:solidFill>
                <a:latin typeface="Arial"/>
              </a:rPr>
              <a:t>One SQL Server or Oracle use case—not all databases.</a:t>
            </a:r>
          </a:p>
        </p:txBody>
      </p:sp>
      <p:cxnSp>
        <p:nvCxnSpPr>
          <p:cNvPr id="33" name="Connector 32"/>
          <p:cNvCxnSpPr/>
          <p:nvPr/>
        </p:nvCxnSpPr>
        <p:spPr>
          <a:xfrm>
            <a:off x="5742432" y="3511296"/>
            <a:ext cx="5852160"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733288" y="3666744"/>
            <a:ext cx="502920" cy="384048"/>
          </a:xfrm>
          <a:prstGeom prst="rect">
            <a:avLst/>
          </a:prstGeom>
          <a:noFill/>
        </p:spPr>
        <p:txBody>
          <a:bodyPr wrap="square" lIns="0" rIns="0" tIns="0" bIns="0" anchor="t">
            <a:spAutoFit/>
          </a:bodyPr>
          <a:lstStyle/>
          <a:p>
            <a:pPr algn="l">
              <a:lnSpc>
                <a:spcPct val="108000"/>
              </a:lnSpc>
              <a:spcBef>
                <a:spcPts val="0"/>
              </a:spcBef>
              <a:spcAft>
                <a:spcPts val="0"/>
              </a:spcAft>
            </a:pPr>
            <a:r>
              <a:rPr sz="2500" b="1">
                <a:solidFill>
                  <a:srgbClr val="008A38"/>
                </a:solidFill>
                <a:latin typeface="Arial"/>
              </a:rPr>
              <a:t>02</a:t>
            </a:r>
          </a:p>
        </p:txBody>
      </p:sp>
      <p:sp>
        <p:nvSpPr>
          <p:cNvPr id="35" name="TextBox 34"/>
          <p:cNvSpPr txBox="1"/>
          <p:nvPr/>
        </p:nvSpPr>
        <p:spPr>
          <a:xfrm>
            <a:off x="6409944" y="3630168"/>
            <a:ext cx="4956048" cy="310896"/>
          </a:xfrm>
          <a:prstGeom prst="rect">
            <a:avLst/>
          </a:prstGeom>
          <a:noFill/>
        </p:spPr>
        <p:txBody>
          <a:bodyPr wrap="square" lIns="0" rIns="0" tIns="0" bIns="0" anchor="t">
            <a:spAutoFit/>
          </a:bodyPr>
          <a:lstStyle/>
          <a:p>
            <a:pPr algn="l">
              <a:lnSpc>
                <a:spcPct val="108000"/>
              </a:lnSpc>
              <a:spcBef>
                <a:spcPts val="0"/>
              </a:spcBef>
              <a:spcAft>
                <a:spcPts val="0"/>
              </a:spcAft>
            </a:pPr>
            <a:r>
              <a:rPr sz="1900" b="1">
                <a:solidFill>
                  <a:srgbClr val="182425"/>
                </a:solidFill>
                <a:latin typeface="Arial"/>
              </a:rPr>
              <a:t>Approve access and workload</a:t>
            </a:r>
          </a:p>
        </p:txBody>
      </p:sp>
      <p:sp>
        <p:nvSpPr>
          <p:cNvPr id="36" name="TextBox 35"/>
          <p:cNvSpPr txBox="1"/>
          <p:nvPr/>
        </p:nvSpPr>
        <p:spPr>
          <a:xfrm>
            <a:off x="6409944" y="4023360"/>
            <a:ext cx="4919472" cy="411480"/>
          </a:xfrm>
          <a:prstGeom prst="rect">
            <a:avLst/>
          </a:prstGeom>
          <a:noFill/>
        </p:spPr>
        <p:txBody>
          <a:bodyPr wrap="square" lIns="0" rIns="0" tIns="0" bIns="0" anchor="t">
            <a:spAutoFit/>
          </a:bodyPr>
          <a:lstStyle/>
          <a:p>
            <a:pPr algn="l">
              <a:lnSpc>
                <a:spcPct val="108000"/>
              </a:lnSpc>
              <a:spcBef>
                <a:spcPts val="0"/>
              </a:spcBef>
              <a:spcAft>
                <a:spcPts val="0"/>
              </a:spcAft>
            </a:pPr>
            <a:r>
              <a:rPr sz="1520" b="0">
                <a:solidFill>
                  <a:srgbClr val="52635E"/>
                </a:solidFill>
                <a:latin typeface="Arial"/>
              </a:rPr>
              <a:t>Validate network, service identity and source capacity.</a:t>
            </a:r>
          </a:p>
        </p:txBody>
      </p:sp>
      <p:cxnSp>
        <p:nvCxnSpPr>
          <p:cNvPr id="37" name="Connector 36"/>
          <p:cNvCxnSpPr/>
          <p:nvPr/>
        </p:nvCxnSpPr>
        <p:spPr>
          <a:xfrm>
            <a:off x="5742432" y="4425696"/>
            <a:ext cx="5852160" cy="0"/>
          </a:xfrm>
          <a:prstGeom prst="line">
            <a:avLst/>
          </a:prstGeom>
          <a:ln w="12700">
            <a:solidFill>
              <a:srgbClr val="D9E4DD"/>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733288" y="4581144"/>
            <a:ext cx="502920" cy="384048"/>
          </a:xfrm>
          <a:prstGeom prst="rect">
            <a:avLst/>
          </a:prstGeom>
          <a:noFill/>
        </p:spPr>
        <p:txBody>
          <a:bodyPr wrap="square" lIns="0" rIns="0" tIns="0" bIns="0" anchor="t">
            <a:spAutoFit/>
          </a:bodyPr>
          <a:lstStyle/>
          <a:p>
            <a:pPr algn="l">
              <a:lnSpc>
                <a:spcPct val="108000"/>
              </a:lnSpc>
              <a:spcBef>
                <a:spcPts val="0"/>
              </a:spcBef>
              <a:spcAft>
                <a:spcPts val="0"/>
              </a:spcAft>
            </a:pPr>
            <a:r>
              <a:rPr sz="2500" b="1">
                <a:solidFill>
                  <a:srgbClr val="008A38"/>
                </a:solidFill>
                <a:latin typeface="Arial"/>
              </a:rPr>
              <a:t>03</a:t>
            </a:r>
          </a:p>
        </p:txBody>
      </p:sp>
      <p:sp>
        <p:nvSpPr>
          <p:cNvPr id="39" name="TextBox 38"/>
          <p:cNvSpPr txBox="1"/>
          <p:nvPr/>
        </p:nvSpPr>
        <p:spPr>
          <a:xfrm>
            <a:off x="6409944" y="4544568"/>
            <a:ext cx="4956048" cy="310896"/>
          </a:xfrm>
          <a:prstGeom prst="rect">
            <a:avLst/>
          </a:prstGeom>
          <a:noFill/>
        </p:spPr>
        <p:txBody>
          <a:bodyPr wrap="square" lIns="0" rIns="0" tIns="0" bIns="0" anchor="t">
            <a:spAutoFit/>
          </a:bodyPr>
          <a:lstStyle/>
          <a:p>
            <a:pPr algn="l">
              <a:lnSpc>
                <a:spcPct val="108000"/>
              </a:lnSpc>
              <a:spcBef>
                <a:spcPts val="0"/>
              </a:spcBef>
              <a:spcAft>
                <a:spcPts val="0"/>
              </a:spcAft>
            </a:pPr>
            <a:r>
              <a:rPr sz="1900" b="1">
                <a:solidFill>
                  <a:srgbClr val="182425"/>
                </a:solidFill>
                <a:latin typeface="Arial"/>
              </a:rPr>
              <a:t>Prove the operating model</a:t>
            </a:r>
          </a:p>
        </p:txBody>
      </p:sp>
      <p:sp>
        <p:nvSpPr>
          <p:cNvPr id="40" name="TextBox 39"/>
          <p:cNvSpPr txBox="1"/>
          <p:nvPr/>
        </p:nvSpPr>
        <p:spPr>
          <a:xfrm>
            <a:off x="6409944" y="4937760"/>
            <a:ext cx="4919472" cy="411480"/>
          </a:xfrm>
          <a:prstGeom prst="rect">
            <a:avLst/>
          </a:prstGeom>
          <a:noFill/>
        </p:spPr>
        <p:txBody>
          <a:bodyPr wrap="square" lIns="0" rIns="0" tIns="0" bIns="0" anchor="t">
            <a:spAutoFit/>
          </a:bodyPr>
          <a:lstStyle/>
          <a:p>
            <a:pPr algn="l">
              <a:lnSpc>
                <a:spcPct val="108000"/>
              </a:lnSpc>
              <a:spcBef>
                <a:spcPts val="0"/>
              </a:spcBef>
              <a:spcAft>
                <a:spcPts val="0"/>
              </a:spcAft>
            </a:pPr>
            <a:r>
              <a:rPr sz="1520" b="0">
                <a:solidFill>
                  <a:srgbClr val="52635E"/>
                </a:solidFill>
                <a:latin typeface="Arial"/>
              </a:rPr>
              <a:t>Bound queries; test peak load, cost and safe failure.</a:t>
            </a:r>
          </a:p>
        </p:txBody>
      </p:sp>
      <p:sp>
        <p:nvSpPr>
          <p:cNvPr id="41" name="TextBox 40"/>
          <p:cNvSpPr txBox="1"/>
          <p:nvPr/>
        </p:nvSpPr>
        <p:spPr>
          <a:xfrm>
            <a:off x="5742432" y="5513832"/>
            <a:ext cx="5852160" cy="246888"/>
          </a:xfrm>
          <a:prstGeom prst="rect">
            <a:avLst/>
          </a:prstGeom>
          <a:noFill/>
        </p:spPr>
        <p:txBody>
          <a:bodyPr wrap="square" lIns="0" rIns="0" tIns="0" bIns="0" anchor="t">
            <a:spAutoFit/>
          </a:bodyPr>
          <a:lstStyle/>
          <a:p>
            <a:pPr algn="l">
              <a:lnSpc>
                <a:spcPct val="108000"/>
              </a:lnSpc>
              <a:spcBef>
                <a:spcPts val="0"/>
              </a:spcBef>
              <a:spcAft>
                <a:spcPts val="0"/>
              </a:spcAft>
            </a:pPr>
            <a:r>
              <a:rPr sz="1050" b="1">
                <a:solidFill>
                  <a:srgbClr val="B87722"/>
                </a:solidFill>
                <a:latin typeface="Arial"/>
              </a:rPr>
              <a:t>Existing SQL support does not prove on-premises connectivity. Source and network costs still apply.</a:t>
            </a:r>
          </a:p>
        </p:txBody>
      </p:sp>
      <p:sp>
        <p:nvSpPr>
          <p:cNvPr id="42" name="Rectangle 41"/>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LEADERSHIP ASK</a:t>
            </a:r>
          </a:p>
        </p:txBody>
      </p:sp>
      <p:sp>
        <p:nvSpPr>
          <p:cNvPr id="45" name="TextBox 44"/>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Choose the first source and accountable owner; bring it forward only if the pilot requires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594360" y="265176"/>
            <a:ext cx="8778240" cy="228600"/>
          </a:xfrm>
          <a:prstGeom prst="rect">
            <a:avLst/>
          </a:prstGeom>
          <a:noFill/>
          <a:ln/>
        </p:spPr>
        <p:txBody>
          <a:bodyPr wrap="square" lIns="0" tIns="0" rIns="0" bIns="0" rtlCol="0" anchor="ctr"/>
          <a:lstStyle/>
          <a:p>
            <a:pPr indent="0" marL="0">
              <a:buNone/>
            </a:pPr>
            <a:r>
              <a:rPr lang="en-US" sz="1060" b="1" spc="130" kern="0" dirty="0">
                <a:solidFill>
                  <a:srgbClr val="005238"/>
                </a:solidFill>
                <a:latin typeface="Arial" pitchFamily="34" charset="0"/>
                <a:ea typeface="Arial" pitchFamily="34" charset="-122"/>
                <a:cs typeface="Arial" pitchFamily="34" charset="-120"/>
              </a:rPr>
              <a:t>COLLIBRA · GOVERNED METADATA REUSE</a:t>
            </a:r>
            <a:endParaRPr lang="en-US" sz="1060" dirty="0"/>
          </a:p>
        </p:txBody>
      </p:sp>
      <p:sp>
        <p:nvSpPr>
          <p:cNvPr id="3" name="Text 1"/>
          <p:cNvSpPr/>
          <p:nvPr/>
        </p:nvSpPr>
        <p:spPr>
          <a:xfrm>
            <a:off x="10469880" y="228600"/>
            <a:ext cx="1115568" cy="347472"/>
          </a:xfrm>
          <a:prstGeom prst="rect">
            <a:avLst/>
          </a:prstGeom>
          <a:noFill/>
          <a:ln/>
        </p:spPr>
        <p:txBody>
          <a:bodyPr wrap="square" lIns="0" tIns="0" rIns="0" bIns="0" rtlCol="0" anchor="ctr"/>
          <a:lstStyle/>
          <a:p>
            <a:pPr algn="r" indent="0" marL="0">
              <a:buNone/>
            </a:pPr>
            <a:r>
              <a:rPr lang="en-US" sz="2000" b="1" dirty="0">
                <a:solidFill>
                  <a:srgbClr val="005238"/>
                </a:solidFill>
                <a:latin typeface="Arial" pitchFamily="34" charset="0"/>
                <a:ea typeface="Arial" pitchFamily="34" charset="-122"/>
                <a:cs typeface="Arial" pitchFamily="34" charset="-120"/>
              </a:rPr>
              <a:t>askalpha</a:t>
            </a:r>
            <a:endParaRPr lang="en-US" sz="2000" dirty="0"/>
          </a:p>
        </p:txBody>
      </p:sp>
      <p:sp>
        <p:nvSpPr>
          <p:cNvPr id="4" name="Shape 2"/>
          <p:cNvSpPr/>
          <p:nvPr/>
        </p:nvSpPr>
        <p:spPr>
          <a:xfrm>
            <a:off x="594360" y="804672"/>
            <a:ext cx="59436" cy="429768"/>
          </a:xfrm>
          <a:prstGeom prst="rect">
            <a:avLst/>
          </a:prstGeom>
          <a:solidFill>
            <a:srgbClr val="00843D"/>
          </a:solidFill>
          <a:ln w="12700">
            <a:solidFill>
              <a:srgbClr val="00843D"/>
            </a:solidFill>
            <a:prstDash val="solid"/>
          </a:ln>
        </p:spPr>
        <p:txBody>
          <a:bodyPr/>
          <a:p/>
        </p:txBody>
      </p:sp>
      <p:sp>
        <p:nvSpPr>
          <p:cNvPr id="5" name="Text 3"/>
          <p:cNvSpPr/>
          <p:nvPr/>
        </p:nvSpPr>
        <p:spPr>
          <a:xfrm>
            <a:off x="804672" y="704088"/>
            <a:ext cx="10744200" cy="896112"/>
          </a:xfrm>
          <a:prstGeom prst="rect">
            <a:avLst/>
          </a:prstGeom>
          <a:noFill/>
          <a:ln/>
        </p:spPr>
        <p:txBody>
          <a:bodyPr wrap="square" lIns="0" tIns="0" rIns="0" bIns="0" rtlCol="0" anchor="ctr"/>
          <a:lstStyle/>
          <a:p>
            <a:pPr indent="0" marL="0">
              <a:buNone/>
            </a:pPr>
            <a:r>
              <a:rPr lang="en-US" sz="2900" b="1" dirty="0">
                <a:solidFill>
                  <a:srgbClr val="182425"/>
                </a:solidFill>
                <a:latin typeface="Arial" pitchFamily="34" charset="0"/>
                <a:ea typeface="Arial" pitchFamily="34" charset="-122"/>
                <a:cs typeface="Arial" pitchFamily="34" charset="-120"/>
              </a:rPr>
              <a:t>Reuse definitions without creating a competing catalog.</a:t>
            </a:r>
            <a:endParaRPr lang="en-US" sz="2900" dirty="0"/>
          </a:p>
        </p:txBody>
      </p:sp>
      <p:sp>
        <p:nvSpPr>
          <p:cNvPr id="6" name="Text 4"/>
          <p:cNvSpPr/>
          <p:nvPr/>
        </p:nvSpPr>
        <p:spPr>
          <a:xfrm>
            <a:off x="804672" y="1508760"/>
            <a:ext cx="10716768" cy="246888"/>
          </a:xfrm>
          <a:prstGeom prst="rect">
            <a:avLst/>
          </a:prstGeom>
          <a:noFill/>
          <a:ln/>
        </p:spPr>
        <p:txBody>
          <a:bodyPr wrap="square" lIns="0" tIns="0" rIns="0" bIns="0" rtlCol="0" anchor="ctr"/>
          <a:lstStyle/>
          <a:p>
            <a:pPr indent="0" marL="0">
              <a:buNone/>
            </a:pPr>
            <a:r>
              <a:rPr lang="en-US" sz="1240" dirty="0">
                <a:solidFill>
                  <a:srgbClr val="52635E"/>
                </a:solidFill>
                <a:latin typeface="Arial" pitchFamily="34" charset="0"/>
                <a:ea typeface="Arial" pitchFamily="34" charset="-122"/>
                <a:cs typeface="Arial" pitchFamily="34" charset="-120"/>
              </a:rPr>
              <a:t>Potential value: reuse approved meaning, ownership and classifications as the data estate grows.</a:t>
            </a:r>
            <a:endParaRPr lang="en-US" sz="1240" dirty="0"/>
          </a:p>
        </p:txBody>
      </p:sp>
      <p:sp>
        <p:nvSpPr>
          <p:cNvPr id="7" name="Shape 5"/>
          <p:cNvSpPr/>
          <p:nvPr/>
        </p:nvSpPr>
        <p:spPr>
          <a:xfrm>
            <a:off x="594360" y="1847088"/>
            <a:ext cx="11000232" cy="0"/>
          </a:xfrm>
          <a:prstGeom prst="line">
            <a:avLst/>
          </a:prstGeom>
          <a:noFill/>
          <a:ln w="11430">
            <a:solidFill>
              <a:srgbClr val="D9E4DD"/>
            </a:solidFill>
            <a:prstDash val="solid"/>
          </a:ln>
        </p:spPr>
        <p:txBody>
          <a:bodyPr/>
          <a:p/>
        </p:txBody>
      </p:sp>
      <p:sp>
        <p:nvSpPr>
          <p:cNvPr id="8" name="Shape 6"/>
          <p:cNvSpPr/>
          <p:nvPr/>
        </p:nvSpPr>
        <p:spPr>
          <a:xfrm>
            <a:off x="594360" y="6473952"/>
            <a:ext cx="11000232" cy="0"/>
          </a:xfrm>
          <a:prstGeom prst="line">
            <a:avLst/>
          </a:prstGeom>
          <a:noFill/>
          <a:ln w="8890">
            <a:solidFill>
              <a:srgbClr val="D9E4DD"/>
            </a:solidFill>
            <a:prstDash val="solid"/>
          </a:ln>
        </p:spPr>
        <p:txBody>
          <a:bodyPr/>
          <a:p/>
        </p:txBody>
      </p:sp>
      <p:sp>
        <p:nvSpPr>
          <p:cNvPr id="9" name="Text 7"/>
          <p:cNvSpPr/>
          <p:nvPr/>
        </p:nvSpPr>
        <p:spPr>
          <a:xfrm>
            <a:off x="594360" y="6565392"/>
            <a:ext cx="6126480" cy="137160"/>
          </a:xfrm>
          <a:prstGeom prst="rect">
            <a:avLst/>
          </a:prstGeom>
          <a:noFill/>
          <a:ln/>
        </p:spPr>
        <p:txBody>
          <a:bodyPr wrap="square" lIns="0" tIns="0" rIns="0" bIns="0" rtlCol="0" anchor="ctr"/>
          <a:lstStyle/>
          <a:p>
            <a:pPr indent="0" marL="0">
              <a:buNone/>
            </a:pPr>
            <a:r>
              <a:rPr lang="en-US" sz="850" dirty="0">
                <a:solidFill>
                  <a:srgbClr val="728179"/>
                </a:solidFill>
                <a:latin typeface="Arial" pitchFamily="34" charset="0"/>
                <a:ea typeface="Arial" pitchFamily="34" charset="-122"/>
                <a:cs typeface="Arial" pitchFamily="34" charset="-120"/>
              </a:rPr>
              <a:t>askalpha  |  executive update  |  September 2026</a:t>
            </a:r>
            <a:endParaRPr lang="en-US" sz="850" dirty="0"/>
          </a:p>
        </p:txBody>
      </p:sp>
      <p:sp>
        <p:nvSpPr>
          <p:cNvPr id="10" name="Text 8"/>
          <p:cNvSpPr/>
          <p:nvPr/>
        </p:nvSpPr>
        <p:spPr>
          <a:xfrm>
            <a:off x="6565392" y="6565392"/>
            <a:ext cx="4352544" cy="137160"/>
          </a:xfrm>
          <a:prstGeom prst="rect">
            <a:avLst/>
          </a:prstGeom>
          <a:noFill/>
          <a:ln/>
        </p:spPr>
        <p:txBody>
          <a:bodyPr wrap="square" lIns="0" tIns="0" rIns="0" bIns="0" rtlCol="0" anchor="ctr"/>
          <a:lstStyle/>
          <a:p>
            <a:pPr algn="r" indent="0" marL="0">
              <a:buNone/>
            </a:pPr>
            <a:r>
              <a:rPr lang="en-US" sz="820" dirty="0">
                <a:solidFill>
                  <a:srgbClr val="728179"/>
                </a:solidFill>
                <a:latin typeface="Arial" pitchFamily="34" charset="0"/>
                <a:ea typeface="Arial" pitchFamily="34" charset="-122"/>
                <a:cs typeface="Arial" pitchFamily="34" charset="-120"/>
              </a:rPr>
              <a:t>Basis: S3, S4, S7, W3</a:t>
            </a:r>
            <a:endParaRPr lang="en-US" sz="820" dirty="0"/>
          </a:p>
        </p:txBody>
      </p:sp>
      <p:sp>
        <p:nvSpPr>
          <p:cNvPr id="11" name="Text 9"/>
          <p:cNvSpPr/>
          <p:nvPr/>
        </p:nvSpPr>
        <p:spPr>
          <a:xfrm>
            <a:off x="11119104" y="6510528"/>
            <a:ext cx="457200" cy="219456"/>
          </a:xfrm>
          <a:prstGeom prst="rect">
            <a:avLst/>
          </a:prstGeom>
          <a:noFill/>
          <a:ln/>
        </p:spPr>
        <p:txBody>
          <a:bodyPr wrap="square" lIns="0" tIns="0" rIns="0" bIns="0" rtlCol="0" anchor="ctr"/>
          <a:lstStyle/>
          <a:p>
            <a:pPr algn="r" indent="0" marL="0">
              <a:buNone/>
            </a:pPr>
            <a:r>
              <a:rPr lang="en-US" sz="1050" b="1" dirty="0">
                <a:solidFill>
                  <a:srgbClr val="005238"/>
                </a:solidFill>
                <a:latin typeface="Arial" pitchFamily="34" charset="0"/>
                <a:ea typeface="Arial" pitchFamily="34" charset="-122"/>
                <a:cs typeface="Arial" pitchFamily="34" charset="-120"/>
              </a:rPr>
              <a:t>11</a:t>
            </a:r>
            <a:endParaRPr lang="en-US" sz="1050" dirty="0"/>
          </a:p>
        </p:txBody>
      </p:sp>
      <p:sp>
        <p:nvSpPr>
          <p:cNvPr id="12" name="Rounded Rectangle 11"/>
          <p:cNvSpPr/>
          <p:nvPr/>
        </p:nvSpPr>
        <p:spPr>
          <a:xfrm>
            <a:off x="594360" y="2048256"/>
            <a:ext cx="2468880" cy="265176"/>
          </a:xfrm>
          <a:prstGeom prst="roundRect">
            <a:avLst>
              <a:gd name="adj" fmla="val 5000"/>
            </a:avLst>
          </a:prstGeom>
          <a:solidFill>
            <a:srgbClr val="E9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098548"/>
            <a:ext cx="2286000"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005238"/>
                </a:solidFill>
                <a:latin typeface="Arial"/>
              </a:rPr>
              <a:t>HIGH GOVERNANCE VALUE</a:t>
            </a:r>
          </a:p>
        </p:txBody>
      </p:sp>
      <p:sp>
        <p:nvSpPr>
          <p:cNvPr id="14" name="Rounded Rectangle 13"/>
          <p:cNvSpPr/>
          <p:nvPr/>
        </p:nvSpPr>
        <p:spPr>
          <a:xfrm>
            <a:off x="3191256" y="2048256"/>
            <a:ext cx="5321808" cy="265176"/>
          </a:xfrm>
          <a:prstGeom prst="roundRect">
            <a:avLst>
              <a:gd name="adj" fmla="val 5000"/>
            </a:avLst>
          </a:prstGeom>
          <a:solidFill>
            <a:srgbClr val="FBF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82696" y="2098548"/>
            <a:ext cx="5138928" cy="164592"/>
          </a:xfrm>
          <a:prstGeom prst="rect">
            <a:avLst/>
          </a:prstGeom>
          <a:noFill/>
        </p:spPr>
        <p:txBody>
          <a:bodyPr wrap="square" lIns="0" rIns="0" tIns="0" bIns="0" anchor="t">
            <a:spAutoFit/>
          </a:bodyPr>
          <a:lstStyle/>
          <a:p>
            <a:pPr algn="l">
              <a:lnSpc>
                <a:spcPct val="108000"/>
              </a:lnSpc>
              <a:spcBef>
                <a:spcPts val="0"/>
              </a:spcBef>
              <a:spcAft>
                <a:spcPts val="0"/>
              </a:spcAft>
            </a:pPr>
            <a:r>
              <a:rPr sz="940" b="1">
                <a:solidFill>
                  <a:srgbClr val="B87722"/>
                </a:solidFill>
                <a:latin typeface="Arial"/>
              </a:rPr>
              <a:t>MVP 1: CONTRACT  →  MVP 2: READ-ONLY INTEGRATION</a:t>
            </a:r>
          </a:p>
        </p:txBody>
      </p:sp>
      <p:sp>
        <p:nvSpPr>
          <p:cNvPr id="16" name="Rectangle 15"/>
          <p:cNvSpPr/>
          <p:nvPr/>
        </p:nvSpPr>
        <p:spPr>
          <a:xfrm>
            <a:off x="594360" y="2688336"/>
            <a:ext cx="2414016" cy="1179576"/>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71216"/>
            <a:ext cx="2139696" cy="274320"/>
          </a:xfrm>
          <a:prstGeom prst="rect">
            <a:avLst/>
          </a:prstGeom>
          <a:noFill/>
        </p:spPr>
        <p:txBody>
          <a:bodyPr wrap="square" lIns="0" rIns="0" tIns="0" bIns="0" anchor="t">
            <a:spAutoFit/>
          </a:bodyPr>
          <a:lstStyle/>
          <a:p>
            <a:pPr algn="ctr">
              <a:lnSpc>
                <a:spcPct val="108000"/>
              </a:lnSpc>
              <a:spcBef>
                <a:spcPts val="0"/>
              </a:spcBef>
              <a:spcAft>
                <a:spcPts val="0"/>
              </a:spcAft>
            </a:pPr>
            <a:r>
              <a:rPr sz="1750" b="1">
                <a:solidFill>
                  <a:srgbClr val="005238"/>
                </a:solidFill>
                <a:latin typeface="Arial"/>
              </a:rPr>
              <a:t>Collibra</a:t>
            </a:r>
          </a:p>
        </p:txBody>
      </p:sp>
      <p:sp>
        <p:nvSpPr>
          <p:cNvPr id="18" name="TextBox 17"/>
          <p:cNvSpPr txBox="1"/>
          <p:nvPr/>
        </p:nvSpPr>
        <p:spPr>
          <a:xfrm>
            <a:off x="740664" y="3328416"/>
            <a:ext cx="2121408" cy="429768"/>
          </a:xfrm>
          <a:prstGeom prst="rect">
            <a:avLst/>
          </a:prstGeom>
          <a:noFill/>
        </p:spPr>
        <p:txBody>
          <a:bodyPr wrap="square" lIns="0" rIns="0" tIns="0" bIns="0" anchor="t">
            <a:spAutoFit/>
          </a:bodyPr>
          <a:lstStyle/>
          <a:p>
            <a:pPr algn="ctr">
              <a:lnSpc>
                <a:spcPct val="108000"/>
              </a:lnSpc>
              <a:spcBef>
                <a:spcPts val="0"/>
              </a:spcBef>
              <a:spcAft>
                <a:spcPts val="0"/>
              </a:spcAft>
            </a:pPr>
            <a:r>
              <a:rPr sz="1420" b="0">
                <a:solidFill>
                  <a:srgbClr val="52635E"/>
                </a:solidFill>
                <a:latin typeface="Arial"/>
              </a:rPr>
              <a:t>Approved metadata</a:t>
            </a:r>
          </a:p>
          <a:p>
            <a:pPr algn="ctr">
              <a:lnSpc>
                <a:spcPct val="108000"/>
              </a:lnSpc>
              <a:spcBef>
                <a:spcPts val="0"/>
              </a:spcBef>
              <a:spcAft>
                <a:spcPts val="0"/>
              </a:spcAft>
            </a:pPr>
            <a:r>
              <a:rPr sz="1420" b="0">
                <a:solidFill>
                  <a:srgbClr val="52635E"/>
                </a:solidFill>
                <a:latin typeface="Arial"/>
              </a:rPr>
              <a:t>and named owners</a:t>
            </a:r>
          </a:p>
        </p:txBody>
      </p:sp>
      <p:sp>
        <p:nvSpPr>
          <p:cNvPr id="19" name="Chevron 18"/>
          <p:cNvSpPr/>
          <p:nvPr/>
        </p:nvSpPr>
        <p:spPr>
          <a:xfrm>
            <a:off x="3163824" y="3200400"/>
            <a:ext cx="146304" cy="228600"/>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65576" y="2688336"/>
            <a:ext cx="2414016" cy="1179576"/>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2736" y="2871216"/>
            <a:ext cx="2139696" cy="274320"/>
          </a:xfrm>
          <a:prstGeom prst="rect">
            <a:avLst/>
          </a:prstGeom>
          <a:noFill/>
        </p:spPr>
        <p:txBody>
          <a:bodyPr wrap="square" lIns="0" rIns="0" tIns="0" bIns="0" anchor="t">
            <a:spAutoFit/>
          </a:bodyPr>
          <a:lstStyle/>
          <a:p>
            <a:pPr algn="ctr">
              <a:lnSpc>
                <a:spcPct val="108000"/>
              </a:lnSpc>
              <a:spcBef>
                <a:spcPts val="0"/>
              </a:spcBef>
              <a:spcAft>
                <a:spcPts val="0"/>
              </a:spcAft>
            </a:pPr>
            <a:r>
              <a:rPr sz="1750" b="1">
                <a:solidFill>
                  <a:srgbClr val="005238"/>
                </a:solidFill>
                <a:latin typeface="Arial"/>
              </a:rPr>
              <a:t>Validate &amp; map</a:t>
            </a:r>
          </a:p>
        </p:txBody>
      </p:sp>
      <p:sp>
        <p:nvSpPr>
          <p:cNvPr id="22" name="TextBox 21"/>
          <p:cNvSpPr txBox="1"/>
          <p:nvPr/>
        </p:nvSpPr>
        <p:spPr>
          <a:xfrm>
            <a:off x="3611880" y="3328416"/>
            <a:ext cx="2121408" cy="429768"/>
          </a:xfrm>
          <a:prstGeom prst="rect">
            <a:avLst/>
          </a:prstGeom>
          <a:noFill/>
        </p:spPr>
        <p:txBody>
          <a:bodyPr wrap="square" lIns="0" rIns="0" tIns="0" bIns="0" anchor="t">
            <a:spAutoFit/>
          </a:bodyPr>
          <a:lstStyle/>
          <a:p>
            <a:pPr algn="ctr">
              <a:lnSpc>
                <a:spcPct val="108000"/>
              </a:lnSpc>
              <a:spcBef>
                <a:spcPts val="0"/>
              </a:spcBef>
              <a:spcAft>
                <a:spcPts val="0"/>
              </a:spcAft>
            </a:pPr>
            <a:r>
              <a:rPr sz="1420" b="0">
                <a:solidFill>
                  <a:srgbClr val="52635E"/>
                </a:solidFill>
                <a:latin typeface="Arial"/>
              </a:rPr>
              <a:t>Check evidence;</a:t>
            </a:r>
          </a:p>
          <a:p>
            <a:pPr algn="ctr">
              <a:lnSpc>
                <a:spcPct val="108000"/>
              </a:lnSpc>
              <a:spcBef>
                <a:spcPts val="0"/>
              </a:spcBef>
              <a:spcAft>
                <a:spcPts val="0"/>
              </a:spcAft>
            </a:pPr>
            <a:r>
              <a:rPr sz="1420" b="0">
                <a:solidFill>
                  <a:srgbClr val="52635E"/>
                </a:solidFill>
                <a:latin typeface="Arial"/>
              </a:rPr>
              <a:t>publish under review</a:t>
            </a:r>
          </a:p>
        </p:txBody>
      </p:sp>
      <p:sp>
        <p:nvSpPr>
          <p:cNvPr id="23" name="Chevron 22"/>
          <p:cNvSpPr/>
          <p:nvPr/>
        </p:nvSpPr>
        <p:spPr>
          <a:xfrm>
            <a:off x="6035040" y="3200400"/>
            <a:ext cx="146304" cy="228600"/>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36792" y="2688336"/>
            <a:ext cx="2414016" cy="1179576"/>
          </a:xfrm>
          <a:prstGeom prst="rect">
            <a:avLst/>
          </a:prstGeom>
          <a:solidFill>
            <a:srgbClr val="E9F3ED"/>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3952" y="2871216"/>
            <a:ext cx="2139696" cy="274320"/>
          </a:xfrm>
          <a:prstGeom prst="rect">
            <a:avLst/>
          </a:prstGeom>
          <a:noFill/>
        </p:spPr>
        <p:txBody>
          <a:bodyPr wrap="square" lIns="0" rIns="0" tIns="0" bIns="0" anchor="t">
            <a:spAutoFit/>
          </a:bodyPr>
          <a:lstStyle/>
          <a:p>
            <a:pPr algn="ctr">
              <a:lnSpc>
                <a:spcPct val="108000"/>
              </a:lnSpc>
              <a:spcBef>
                <a:spcPts val="0"/>
              </a:spcBef>
              <a:spcAft>
                <a:spcPts val="0"/>
              </a:spcAft>
            </a:pPr>
            <a:r>
              <a:rPr sz="1750" b="1">
                <a:solidFill>
                  <a:srgbClr val="005238"/>
                </a:solidFill>
                <a:latin typeface="Arial"/>
              </a:rPr>
              <a:t>Semantic Registry</a:t>
            </a:r>
          </a:p>
        </p:txBody>
      </p:sp>
      <p:sp>
        <p:nvSpPr>
          <p:cNvPr id="26" name="TextBox 25"/>
          <p:cNvSpPr txBox="1"/>
          <p:nvPr/>
        </p:nvSpPr>
        <p:spPr>
          <a:xfrm>
            <a:off x="6483096" y="3328416"/>
            <a:ext cx="2121408" cy="429768"/>
          </a:xfrm>
          <a:prstGeom prst="rect">
            <a:avLst/>
          </a:prstGeom>
          <a:noFill/>
        </p:spPr>
        <p:txBody>
          <a:bodyPr wrap="square" lIns="0" rIns="0" tIns="0" bIns="0" anchor="t">
            <a:spAutoFit/>
          </a:bodyPr>
          <a:lstStyle/>
          <a:p>
            <a:pPr algn="ctr">
              <a:lnSpc>
                <a:spcPct val="108000"/>
              </a:lnSpc>
              <a:spcBef>
                <a:spcPts val="0"/>
              </a:spcBef>
              <a:spcAft>
                <a:spcPts val="0"/>
              </a:spcAft>
            </a:pPr>
            <a:r>
              <a:rPr sz="1420" b="0">
                <a:solidFill>
                  <a:srgbClr val="52635E"/>
                </a:solidFill>
                <a:latin typeface="Arial"/>
              </a:rPr>
              <a:t>Versioned runtime</a:t>
            </a:r>
          </a:p>
          <a:p>
            <a:pPr algn="ctr">
              <a:lnSpc>
                <a:spcPct val="108000"/>
              </a:lnSpc>
              <a:spcBef>
                <a:spcPts val="0"/>
              </a:spcBef>
              <a:spcAft>
                <a:spcPts val="0"/>
              </a:spcAft>
            </a:pPr>
            <a:r>
              <a:rPr sz="1420" b="0">
                <a:solidFill>
                  <a:srgbClr val="52635E"/>
                </a:solidFill>
                <a:latin typeface="Arial"/>
              </a:rPr>
              <a:t>semantic snapshot</a:t>
            </a:r>
          </a:p>
        </p:txBody>
      </p:sp>
      <p:sp>
        <p:nvSpPr>
          <p:cNvPr id="27" name="Chevron 26"/>
          <p:cNvSpPr/>
          <p:nvPr/>
        </p:nvSpPr>
        <p:spPr>
          <a:xfrm>
            <a:off x="8906256" y="3200400"/>
            <a:ext cx="146304" cy="228600"/>
          </a:xfrm>
          <a:prstGeom prst="chevron">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08008" y="2688336"/>
            <a:ext cx="2386584" cy="1179576"/>
          </a:xfrm>
          <a:prstGeom prst="rect">
            <a:avLst/>
          </a:prstGeom>
          <a:solidFill>
            <a:srgbClr val="F4F8F5"/>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45168" y="2871216"/>
            <a:ext cx="2112264" cy="274320"/>
          </a:xfrm>
          <a:prstGeom prst="rect">
            <a:avLst/>
          </a:prstGeom>
          <a:noFill/>
        </p:spPr>
        <p:txBody>
          <a:bodyPr wrap="square" lIns="0" rIns="0" tIns="0" bIns="0" anchor="t">
            <a:spAutoFit/>
          </a:bodyPr>
          <a:lstStyle/>
          <a:p>
            <a:pPr algn="ctr">
              <a:lnSpc>
                <a:spcPct val="108000"/>
              </a:lnSpc>
              <a:spcBef>
                <a:spcPts val="0"/>
              </a:spcBef>
              <a:spcAft>
                <a:spcPts val="0"/>
              </a:spcAft>
            </a:pPr>
            <a:r>
              <a:rPr sz="1750" b="1">
                <a:solidFill>
                  <a:srgbClr val="005238"/>
                </a:solidFill>
                <a:latin typeface="Arial"/>
              </a:rPr>
              <a:t>Plans &amp; templates</a:t>
            </a:r>
          </a:p>
        </p:txBody>
      </p:sp>
      <p:sp>
        <p:nvSpPr>
          <p:cNvPr id="30" name="TextBox 29"/>
          <p:cNvSpPr txBox="1"/>
          <p:nvPr/>
        </p:nvSpPr>
        <p:spPr>
          <a:xfrm>
            <a:off x="9354312" y="3328416"/>
            <a:ext cx="2093976" cy="429768"/>
          </a:xfrm>
          <a:prstGeom prst="rect">
            <a:avLst/>
          </a:prstGeom>
          <a:noFill/>
        </p:spPr>
        <p:txBody>
          <a:bodyPr wrap="square" lIns="0" rIns="0" tIns="0" bIns="0" anchor="t">
            <a:spAutoFit/>
          </a:bodyPr>
          <a:lstStyle/>
          <a:p>
            <a:pPr algn="ctr">
              <a:lnSpc>
                <a:spcPct val="108000"/>
              </a:lnSpc>
              <a:spcBef>
                <a:spcPts val="0"/>
              </a:spcBef>
              <a:spcAft>
                <a:spcPts val="0"/>
              </a:spcAft>
            </a:pPr>
            <a:r>
              <a:rPr sz="1420" b="0">
                <a:solidFill>
                  <a:srgbClr val="52635E"/>
                </a:solidFill>
                <a:latin typeface="Arial"/>
              </a:rPr>
              <a:t>Reference approved</a:t>
            </a:r>
          </a:p>
          <a:p>
            <a:pPr algn="ctr">
              <a:lnSpc>
                <a:spcPct val="108000"/>
              </a:lnSpc>
              <a:spcBef>
                <a:spcPts val="0"/>
              </a:spcBef>
              <a:spcAft>
                <a:spcPts val="0"/>
              </a:spcAft>
            </a:pPr>
            <a:r>
              <a:rPr sz="1420" b="0">
                <a:solidFill>
                  <a:srgbClr val="52635E"/>
                </a:solidFill>
                <a:latin typeface="Arial"/>
              </a:rPr>
              <a:t>IDs and versions</a:t>
            </a:r>
          </a:p>
        </p:txBody>
      </p:sp>
      <p:sp>
        <p:nvSpPr>
          <p:cNvPr id="31" name="TextBox 30"/>
          <p:cNvSpPr txBox="1"/>
          <p:nvPr/>
        </p:nvSpPr>
        <p:spPr>
          <a:xfrm>
            <a:off x="713232" y="4014215"/>
            <a:ext cx="10789920" cy="210312"/>
          </a:xfrm>
          <a:prstGeom prst="rect">
            <a:avLst/>
          </a:prstGeom>
          <a:noFill/>
        </p:spPr>
        <p:txBody>
          <a:bodyPr wrap="square" lIns="0" rIns="0" tIns="0" bIns="0" anchor="t">
            <a:spAutoFit/>
          </a:bodyPr>
          <a:lstStyle/>
          <a:p>
            <a:pPr algn="l">
              <a:lnSpc>
                <a:spcPct val="108000"/>
              </a:lnSpc>
              <a:spcBef>
                <a:spcPts val="0"/>
              </a:spcBef>
              <a:spcAft>
                <a:spcPts val="0"/>
              </a:spcAft>
            </a:pPr>
            <a:r>
              <a:rPr sz="1240" b="1">
                <a:solidFill>
                  <a:srgbClr val="005238"/>
                </a:solidFill>
                <a:latin typeface="Arial"/>
              </a:rPr>
              <a:t>Read-only metadata intake; not analytical-data movement and not a per-question API dependency.</a:t>
            </a:r>
          </a:p>
        </p:txBody>
      </p:sp>
      <p:sp>
        <p:nvSpPr>
          <p:cNvPr id="32" name="Rectangle 31"/>
          <p:cNvSpPr/>
          <p:nvPr/>
        </p:nvSpPr>
        <p:spPr>
          <a:xfrm>
            <a:off x="594360" y="4443984"/>
            <a:ext cx="3520440" cy="1252728"/>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952" y="4599432"/>
            <a:ext cx="3191256" cy="164592"/>
          </a:xfrm>
          <a:prstGeom prst="rect">
            <a:avLst/>
          </a:prstGeom>
          <a:noFill/>
        </p:spPr>
        <p:txBody>
          <a:bodyPr wrap="square" lIns="0" rIns="0" tIns="0" bIns="0" anchor="t">
            <a:spAutoFit/>
          </a:bodyPr>
          <a:lstStyle/>
          <a:p>
            <a:pPr algn="l">
              <a:lnSpc>
                <a:spcPct val="108000"/>
              </a:lnSpc>
              <a:spcBef>
                <a:spcPts val="0"/>
              </a:spcBef>
              <a:spcAft>
                <a:spcPts val="0"/>
              </a:spcAft>
            </a:pPr>
            <a:r>
              <a:rPr sz="950" b="1">
                <a:solidFill>
                  <a:srgbClr val="005238"/>
                </a:solidFill>
                <a:latin typeface="Arial"/>
              </a:rPr>
              <a:t>AGREE IN MVP 1</a:t>
            </a:r>
          </a:p>
        </p:txBody>
      </p:sp>
      <p:sp>
        <p:nvSpPr>
          <p:cNvPr id="34" name="TextBox 33"/>
          <p:cNvSpPr txBox="1"/>
          <p:nvPr/>
        </p:nvSpPr>
        <p:spPr>
          <a:xfrm>
            <a:off x="758952" y="4846320"/>
            <a:ext cx="3191256" cy="228600"/>
          </a:xfrm>
          <a:prstGeom prst="rect">
            <a:avLst/>
          </a:prstGeom>
          <a:noFill/>
        </p:spPr>
        <p:txBody>
          <a:bodyPr wrap="square" lIns="0" rIns="0" tIns="0" bIns="0" anchor="t">
            <a:spAutoFit/>
          </a:bodyPr>
          <a:lstStyle/>
          <a:p>
            <a:pPr algn="l">
              <a:lnSpc>
                <a:spcPct val="108000"/>
              </a:lnSpc>
              <a:spcBef>
                <a:spcPts val="0"/>
              </a:spcBef>
              <a:spcAft>
                <a:spcPts val="0"/>
              </a:spcAft>
            </a:pPr>
            <a:r>
              <a:rPr sz="1430" b="1">
                <a:solidFill>
                  <a:srgbClr val="182425"/>
                </a:solidFill>
                <a:latin typeface="Arial"/>
              </a:rPr>
              <a:t>Owners and approved scope</a:t>
            </a:r>
          </a:p>
        </p:txBody>
      </p:sp>
      <p:sp>
        <p:nvSpPr>
          <p:cNvPr id="35" name="TextBox 34"/>
          <p:cNvSpPr txBox="1"/>
          <p:nvPr/>
        </p:nvSpPr>
        <p:spPr>
          <a:xfrm>
            <a:off x="758952" y="5166360"/>
            <a:ext cx="3182112" cy="411480"/>
          </a:xfrm>
          <a:prstGeom prst="rect">
            <a:avLst/>
          </a:prstGeom>
          <a:noFill/>
        </p:spPr>
        <p:txBody>
          <a:bodyPr wrap="square" lIns="0" rIns="0" tIns="0" bIns="0" anchor="t">
            <a:spAutoFit/>
          </a:bodyPr>
          <a:lstStyle/>
          <a:p>
            <a:pPr algn="l">
              <a:lnSpc>
                <a:spcPct val="108000"/>
              </a:lnSpc>
              <a:spcBef>
                <a:spcPts val="0"/>
              </a:spcBef>
              <a:spcAft>
                <a:spcPts val="0"/>
              </a:spcAft>
            </a:pPr>
            <a:r>
              <a:rPr sz="1350" b="0">
                <a:solidFill>
                  <a:srgbClr val="52635E"/>
                </a:solidFill>
                <a:latin typeface="Arial"/>
              </a:rPr>
              <a:t>Assign definition owners;</a:t>
            </a:r>
          </a:p>
          <a:p>
            <a:pPr algn="l">
              <a:lnSpc>
                <a:spcPct val="108000"/>
              </a:lnSpc>
              <a:spcBef>
                <a:spcPts val="0"/>
              </a:spcBef>
              <a:spcAft>
                <a:spcPts val="0"/>
              </a:spcAft>
            </a:pPr>
            <a:r>
              <a:rPr sz="1350" b="0">
                <a:solidFill>
                  <a:srgbClr val="52635E"/>
                </a:solidFill>
                <a:latin typeface="Arial"/>
              </a:rPr>
              <a:t>agree mapping and freshness.</a:t>
            </a:r>
          </a:p>
        </p:txBody>
      </p:sp>
      <p:sp>
        <p:nvSpPr>
          <p:cNvPr id="36" name="Rectangle 35"/>
          <p:cNvSpPr/>
          <p:nvPr/>
        </p:nvSpPr>
        <p:spPr>
          <a:xfrm>
            <a:off x="4334256" y="4443984"/>
            <a:ext cx="3520440" cy="1252728"/>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4599432"/>
            <a:ext cx="3191256" cy="164592"/>
          </a:xfrm>
          <a:prstGeom prst="rect">
            <a:avLst/>
          </a:prstGeom>
          <a:noFill/>
        </p:spPr>
        <p:txBody>
          <a:bodyPr wrap="square" lIns="0" rIns="0" tIns="0" bIns="0" anchor="t">
            <a:spAutoFit/>
          </a:bodyPr>
          <a:lstStyle/>
          <a:p>
            <a:pPr algn="l">
              <a:lnSpc>
                <a:spcPct val="108000"/>
              </a:lnSpc>
              <a:spcBef>
                <a:spcPts val="0"/>
              </a:spcBef>
              <a:spcAft>
                <a:spcPts val="0"/>
              </a:spcAft>
            </a:pPr>
            <a:r>
              <a:rPr sz="950" b="1">
                <a:solidFill>
                  <a:srgbClr val="005238"/>
                </a:solidFill>
                <a:latin typeface="Arial"/>
              </a:rPr>
              <a:t>DELIVER IN MVP 2</a:t>
            </a:r>
          </a:p>
        </p:txBody>
      </p:sp>
      <p:sp>
        <p:nvSpPr>
          <p:cNvPr id="38" name="TextBox 37"/>
          <p:cNvSpPr txBox="1"/>
          <p:nvPr/>
        </p:nvSpPr>
        <p:spPr>
          <a:xfrm>
            <a:off x="4498848" y="4846320"/>
            <a:ext cx="3191256" cy="228600"/>
          </a:xfrm>
          <a:prstGeom prst="rect">
            <a:avLst/>
          </a:prstGeom>
          <a:noFill/>
        </p:spPr>
        <p:txBody>
          <a:bodyPr wrap="square" lIns="0" rIns="0" tIns="0" bIns="0" anchor="t">
            <a:spAutoFit/>
          </a:bodyPr>
          <a:lstStyle/>
          <a:p>
            <a:pPr algn="l">
              <a:lnSpc>
                <a:spcPct val="108000"/>
              </a:lnSpc>
              <a:spcBef>
                <a:spcPts val="0"/>
              </a:spcBef>
              <a:spcAft>
                <a:spcPts val="0"/>
              </a:spcAft>
            </a:pPr>
            <a:r>
              <a:rPr sz="1430" b="1">
                <a:solidFill>
                  <a:srgbClr val="182425"/>
                </a:solidFill>
                <a:latin typeface="Arial"/>
              </a:rPr>
              <a:t>Read-only metadata intake</a:t>
            </a:r>
          </a:p>
        </p:txBody>
      </p:sp>
      <p:sp>
        <p:nvSpPr>
          <p:cNvPr id="39" name="TextBox 38"/>
          <p:cNvSpPr txBox="1"/>
          <p:nvPr/>
        </p:nvSpPr>
        <p:spPr>
          <a:xfrm>
            <a:off x="4498848" y="5166360"/>
            <a:ext cx="3182112" cy="411480"/>
          </a:xfrm>
          <a:prstGeom prst="rect">
            <a:avLst/>
          </a:prstGeom>
          <a:noFill/>
        </p:spPr>
        <p:txBody>
          <a:bodyPr wrap="square" lIns="0" rIns="0" tIns="0" bIns="0" anchor="t">
            <a:spAutoFit/>
          </a:bodyPr>
          <a:lstStyle/>
          <a:p>
            <a:pPr algn="l">
              <a:lnSpc>
                <a:spcPct val="108000"/>
              </a:lnSpc>
              <a:spcBef>
                <a:spcPts val="0"/>
              </a:spcBef>
              <a:spcAft>
                <a:spcPts val="0"/>
              </a:spcAft>
            </a:pPr>
            <a:r>
              <a:rPr sz="1350" b="0">
                <a:solidFill>
                  <a:srgbClr val="52635E"/>
                </a:solidFill>
                <a:latin typeface="Arial"/>
              </a:rPr>
              <a:t>Validate and publish snapshots;</a:t>
            </a:r>
          </a:p>
          <a:p>
            <a:pPr algn="l">
              <a:lnSpc>
                <a:spcPct val="108000"/>
              </a:lnSpc>
              <a:spcBef>
                <a:spcPts val="0"/>
              </a:spcBef>
              <a:spcAft>
                <a:spcPts val="0"/>
              </a:spcAft>
            </a:pPr>
            <a:r>
              <a:rPr sz="1350" b="0">
                <a:solidFill>
                  <a:srgbClr val="52635E"/>
                </a:solidFill>
                <a:latin typeface="Arial"/>
              </a:rPr>
              <a:t>monitor refresh failures.</a:t>
            </a:r>
          </a:p>
        </p:txBody>
      </p:sp>
      <p:sp>
        <p:nvSpPr>
          <p:cNvPr id="40" name="Rectangle 39"/>
          <p:cNvSpPr/>
          <p:nvPr/>
        </p:nvSpPr>
        <p:spPr>
          <a:xfrm>
            <a:off x="8074152" y="4443984"/>
            <a:ext cx="3520440" cy="1252728"/>
          </a:xfrm>
          <a:prstGeom prst="rect">
            <a:avLst/>
          </a:prstGeom>
          <a:solidFill>
            <a:srgbClr val="FFFFFF"/>
          </a:solidFill>
          <a:ln w="10160">
            <a:solidFill>
              <a:srgbClr val="D9E4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38744" y="4599432"/>
            <a:ext cx="3191256" cy="164592"/>
          </a:xfrm>
          <a:prstGeom prst="rect">
            <a:avLst/>
          </a:prstGeom>
          <a:noFill/>
        </p:spPr>
        <p:txBody>
          <a:bodyPr wrap="square" lIns="0" rIns="0" tIns="0" bIns="0" anchor="t">
            <a:spAutoFit/>
          </a:bodyPr>
          <a:lstStyle/>
          <a:p>
            <a:pPr algn="l">
              <a:lnSpc>
                <a:spcPct val="108000"/>
              </a:lnSpc>
              <a:spcBef>
                <a:spcPts val="0"/>
              </a:spcBef>
              <a:spcAft>
                <a:spcPts val="0"/>
              </a:spcAft>
            </a:pPr>
            <a:r>
              <a:rPr sz="950" b="1">
                <a:solidFill>
                  <a:srgbClr val="005238"/>
                </a:solidFill>
                <a:latin typeface="Arial"/>
              </a:rPr>
              <a:t>KEEP OWNERSHIP CLEAR</a:t>
            </a:r>
          </a:p>
        </p:txBody>
      </p:sp>
      <p:sp>
        <p:nvSpPr>
          <p:cNvPr id="42" name="TextBox 41"/>
          <p:cNvSpPr txBox="1"/>
          <p:nvPr/>
        </p:nvSpPr>
        <p:spPr>
          <a:xfrm>
            <a:off x="8238744" y="4846320"/>
            <a:ext cx="3191256" cy="228600"/>
          </a:xfrm>
          <a:prstGeom prst="rect">
            <a:avLst/>
          </a:prstGeom>
          <a:noFill/>
        </p:spPr>
        <p:txBody>
          <a:bodyPr wrap="square" lIns="0" rIns="0" tIns="0" bIns="0" anchor="t">
            <a:spAutoFit/>
          </a:bodyPr>
          <a:lstStyle/>
          <a:p>
            <a:pPr algn="l">
              <a:lnSpc>
                <a:spcPct val="108000"/>
              </a:lnSpc>
              <a:spcBef>
                <a:spcPts val="0"/>
              </a:spcBef>
              <a:spcAft>
                <a:spcPts val="0"/>
              </a:spcAft>
            </a:pPr>
            <a:r>
              <a:rPr sz="1430" b="1">
                <a:solidFill>
                  <a:srgbClr val="182425"/>
                </a:solidFill>
                <a:latin typeface="Arial"/>
              </a:rPr>
              <a:t>One runtime semantic contract</a:t>
            </a:r>
          </a:p>
        </p:txBody>
      </p:sp>
      <p:sp>
        <p:nvSpPr>
          <p:cNvPr id="43" name="TextBox 42"/>
          <p:cNvSpPr txBox="1"/>
          <p:nvPr/>
        </p:nvSpPr>
        <p:spPr>
          <a:xfrm>
            <a:off x="8238744" y="5166360"/>
            <a:ext cx="3182112" cy="411480"/>
          </a:xfrm>
          <a:prstGeom prst="rect">
            <a:avLst/>
          </a:prstGeom>
          <a:noFill/>
        </p:spPr>
        <p:txBody>
          <a:bodyPr wrap="square" lIns="0" rIns="0" tIns="0" bIns="0" anchor="t">
            <a:spAutoFit/>
          </a:bodyPr>
          <a:lstStyle/>
          <a:p>
            <a:pPr algn="l">
              <a:lnSpc>
                <a:spcPct val="108000"/>
              </a:lnSpc>
              <a:spcBef>
                <a:spcPts val="0"/>
              </a:spcBef>
              <a:spcAft>
                <a:spcPts val="0"/>
              </a:spcAft>
            </a:pPr>
            <a:r>
              <a:rPr sz="1350" b="0">
                <a:solidFill>
                  <a:srgbClr val="52635E"/>
                </a:solidFill>
                <a:latin typeface="Arial"/>
              </a:rPr>
              <a:t>Preserve source and version;</a:t>
            </a:r>
          </a:p>
          <a:p>
            <a:pPr algn="l">
              <a:lnSpc>
                <a:spcPct val="108000"/>
              </a:lnSpc>
              <a:spcBef>
                <a:spcPts val="0"/>
              </a:spcBef>
              <a:spcAft>
                <a:spcPts val="0"/>
              </a:spcAft>
            </a:pPr>
            <a:r>
              <a:rPr sz="1350" b="0">
                <a:solidFill>
                  <a:srgbClr val="52635E"/>
                </a:solidFill>
                <a:latin typeface="Arial"/>
              </a:rPr>
              <a:t>templates only reference them.</a:t>
            </a:r>
          </a:p>
        </p:txBody>
      </p:sp>
      <p:sp>
        <p:nvSpPr>
          <p:cNvPr id="44" name="Rectangle 43"/>
          <p:cNvSpPr/>
          <p:nvPr/>
        </p:nvSpPr>
        <p:spPr>
          <a:xfrm>
            <a:off x="594360" y="5852160"/>
            <a:ext cx="11000232" cy="475488"/>
          </a:xfrm>
          <a:prstGeom prst="rect">
            <a:avLst/>
          </a:prstGeom>
          <a:solidFill>
            <a:srgbClr val="11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94360" y="5852160"/>
            <a:ext cx="54864" cy="475488"/>
          </a:xfrm>
          <a:prstGeom prst="rect">
            <a:avLst/>
          </a:prstGeom>
          <a:solidFill>
            <a:srgbClr val="008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971032"/>
            <a:ext cx="1828800" cy="182880"/>
          </a:xfrm>
          <a:prstGeom prst="rect">
            <a:avLst/>
          </a:prstGeom>
          <a:noFill/>
        </p:spPr>
        <p:txBody>
          <a:bodyPr wrap="square" lIns="0" rIns="0" tIns="0" bIns="0" anchor="t">
            <a:spAutoFit/>
          </a:bodyPr>
          <a:lstStyle/>
          <a:p>
            <a:pPr algn="l">
              <a:lnSpc>
                <a:spcPct val="108000"/>
              </a:lnSpc>
              <a:spcBef>
                <a:spcPts val="0"/>
              </a:spcBef>
              <a:spcAft>
                <a:spcPts val="0"/>
              </a:spcAft>
            </a:pPr>
            <a:r>
              <a:rPr sz="910" b="1">
                <a:solidFill>
                  <a:srgbClr val="FFFFFF"/>
                </a:solidFill>
                <a:latin typeface="Arial"/>
              </a:rPr>
              <a:t>LEADERSHIP ASK</a:t>
            </a:r>
          </a:p>
        </p:txBody>
      </p:sp>
      <p:sp>
        <p:nvSpPr>
          <p:cNvPr id="47" name="TextBox 46"/>
          <p:cNvSpPr txBox="1"/>
          <p:nvPr/>
        </p:nvSpPr>
        <p:spPr>
          <a:xfrm>
            <a:off x="2596896" y="5907024"/>
            <a:ext cx="8750808" cy="356616"/>
          </a:xfrm>
          <a:prstGeom prst="rect">
            <a:avLst/>
          </a:prstGeom>
          <a:noFill/>
        </p:spPr>
        <p:txBody>
          <a:bodyPr wrap="square" lIns="0" rIns="0" tIns="0" bIns="0" anchor="ctr">
            <a:spAutoFit/>
          </a:bodyPr>
          <a:lstStyle/>
          <a:p>
            <a:pPr algn="l">
              <a:lnSpc>
                <a:spcPct val="108000"/>
              </a:lnSpc>
              <a:spcBef>
                <a:spcPts val="0"/>
              </a:spcBef>
              <a:spcAft>
                <a:spcPts val="0"/>
              </a:spcAft>
            </a:pPr>
            <a:r>
              <a:rPr sz="1400" b="1">
                <a:solidFill>
                  <a:srgbClr val="FFFFFF"/>
                </a:solidFill>
                <a:latin typeface="Arial"/>
              </a:rPr>
              <a:t>Confirm metadata and API owners. Metadata integration is not user-permission synchronization.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askalpha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askalpha | Executive Progress, Strategic Integrations and Roadmap</dc:title>
  <dc:subject>Revised executive roadmap: Genie, on-premises databases and Collibra</dc:subject>
  <dc:creator>askalpha</dc:creator>
  <cp:lastModifiedBy>Hesam Hakimi</cp:lastModifiedBy>
  <cp:revision>1</cp:revision>
  <dcterms:created xsi:type="dcterms:W3CDTF">2026-09-09T11:23:31Z</dcterms:created>
  <dcterms:modified xsi:type="dcterms:W3CDTF">2026-09-09T11:23:31Z</dcterms:modified>
  <cp:keywords>askalpha, executive update, roadmap, strategic integrations, Databricks Genie, on-premises, Collibra</cp:keywords>
  <dc:description>Revised integration priorities. Delivery claims unchanged; references and limitations are in speaker notes.</dc:description>
</cp:coreProperties>
</file>